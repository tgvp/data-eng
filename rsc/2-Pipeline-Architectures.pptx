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308" r:id="rId6"/>
    <p:sldId id="262" r:id="rId7"/>
    <p:sldId id="374" r:id="rId8"/>
    <p:sldId id="375" r:id="rId9"/>
    <p:sldId id="376" r:id="rId10"/>
    <p:sldId id="378" r:id="rId11"/>
    <p:sldId id="380" r:id="rId12"/>
    <p:sldId id="379" r:id="rId13"/>
    <p:sldId id="377" r:id="rId14"/>
    <p:sldId id="381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581FDF-451A-4BAD-AA50-236150ED791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1F2002-CE16-4C50-A707-69712D11D463}">
      <dgm:prSet/>
      <dgm:spPr/>
      <dgm:t>
        <a:bodyPr/>
        <a:lstStyle/>
        <a:p>
          <a:r>
            <a:rPr lang="pt-PT" b="1" u="sng" dirty="0" err="1"/>
            <a:t>E</a:t>
          </a:r>
          <a:r>
            <a:rPr lang="pt-PT" b="1" dirty="0" err="1"/>
            <a:t>xtract</a:t>
          </a:r>
          <a:r>
            <a:rPr lang="pt-PT" dirty="0"/>
            <a:t>: </a:t>
          </a:r>
          <a:r>
            <a:rPr lang="pt-PT" dirty="0" err="1"/>
            <a:t>Collect</a:t>
          </a:r>
          <a:r>
            <a:rPr lang="pt-PT" dirty="0"/>
            <a:t> </a:t>
          </a:r>
          <a:r>
            <a:rPr lang="pt-PT" dirty="0" err="1"/>
            <a:t>raw</a:t>
          </a:r>
          <a:r>
            <a:rPr lang="pt-PT" dirty="0"/>
            <a:t> data </a:t>
          </a:r>
          <a:r>
            <a:rPr lang="pt-PT" dirty="0" err="1"/>
            <a:t>usually</a:t>
          </a:r>
          <a:r>
            <a:rPr lang="pt-PT" dirty="0"/>
            <a:t> </a:t>
          </a:r>
          <a:r>
            <a:rPr lang="pt-PT" dirty="0" err="1"/>
            <a:t>from</a:t>
          </a:r>
          <a:r>
            <a:rPr lang="pt-PT" dirty="0"/>
            <a:t> </a:t>
          </a:r>
          <a:r>
            <a:rPr lang="pt-PT" dirty="0" err="1"/>
            <a:t>multiple</a:t>
          </a:r>
          <a:r>
            <a:rPr lang="pt-PT" dirty="0"/>
            <a:t> </a:t>
          </a:r>
          <a:r>
            <a:rPr lang="pt-PT" dirty="0" err="1"/>
            <a:t>sources</a:t>
          </a:r>
          <a:r>
            <a:rPr lang="pt-PT" dirty="0"/>
            <a:t> - </a:t>
          </a:r>
          <a:r>
            <a:rPr lang="pt-PT" dirty="0" err="1"/>
            <a:t>Example</a:t>
          </a:r>
          <a:r>
            <a:rPr lang="pt-PT" dirty="0"/>
            <a:t>: </a:t>
          </a:r>
          <a:r>
            <a:rPr lang="pt-PT" dirty="0" err="1"/>
            <a:t>transactions</a:t>
          </a:r>
          <a:r>
            <a:rPr lang="pt-PT" dirty="0"/>
            <a:t>, </a:t>
          </a:r>
          <a:r>
            <a:rPr lang="pt-PT" dirty="0" err="1"/>
            <a:t>sensors</a:t>
          </a:r>
          <a:r>
            <a:rPr lang="pt-PT" dirty="0"/>
            <a:t>, </a:t>
          </a:r>
          <a:r>
            <a:rPr lang="pt-PT" dirty="0" err="1"/>
            <a:t>logs</a:t>
          </a:r>
          <a:r>
            <a:rPr lang="pt-PT" dirty="0"/>
            <a:t>, </a:t>
          </a:r>
          <a:r>
            <a:rPr lang="pt-PT" dirty="0" err="1"/>
            <a:t>user</a:t>
          </a:r>
          <a:r>
            <a:rPr lang="pt-PT" dirty="0"/>
            <a:t> </a:t>
          </a:r>
          <a:r>
            <a:rPr lang="pt-PT" dirty="0" err="1"/>
            <a:t>activity</a:t>
          </a:r>
          <a:r>
            <a:rPr lang="pt-PT" dirty="0"/>
            <a:t>, </a:t>
          </a:r>
          <a:r>
            <a:rPr lang="pt-PT" dirty="0" err="1"/>
            <a:t>databases</a:t>
          </a:r>
          <a:r>
            <a:rPr lang="pt-PT" dirty="0"/>
            <a:t>, API </a:t>
          </a:r>
          <a:r>
            <a:rPr lang="pt-PT" dirty="0" err="1"/>
            <a:t>streams</a:t>
          </a:r>
          <a:r>
            <a:rPr lang="pt-PT" dirty="0"/>
            <a:t>, </a:t>
          </a:r>
          <a:r>
            <a:rPr lang="pt-PT" dirty="0" err="1"/>
            <a:t>etc</a:t>
          </a:r>
          <a:endParaRPr lang="en-US" dirty="0"/>
        </a:p>
      </dgm:t>
    </dgm:pt>
    <dgm:pt modelId="{3DE759E0-B4C3-43F3-BAAA-5679F8029C75}" type="parTrans" cxnId="{09F3C379-AA27-4920-8CA0-AB92E4C33ECC}">
      <dgm:prSet/>
      <dgm:spPr/>
      <dgm:t>
        <a:bodyPr/>
        <a:lstStyle/>
        <a:p>
          <a:endParaRPr lang="en-US"/>
        </a:p>
      </dgm:t>
    </dgm:pt>
    <dgm:pt modelId="{A40E0671-85BC-4316-9E1B-E7B4433B5CD5}" type="sibTrans" cxnId="{09F3C379-AA27-4920-8CA0-AB92E4C33ECC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6FD72094-2B47-4514-8A74-43D4A2735C35}">
      <dgm:prSet/>
      <dgm:spPr/>
      <dgm:t>
        <a:bodyPr/>
        <a:lstStyle/>
        <a:p>
          <a:r>
            <a:rPr lang="pt-PT" b="1" u="sng" dirty="0" err="1"/>
            <a:t>T</a:t>
          </a:r>
          <a:r>
            <a:rPr lang="pt-PT" b="1" dirty="0" err="1"/>
            <a:t>ransform</a:t>
          </a:r>
          <a:r>
            <a:rPr lang="pt-PT" dirty="0"/>
            <a:t>: </a:t>
          </a:r>
          <a:r>
            <a:rPr lang="en-US" dirty="0"/>
            <a:t>Clean, validate, and convert data into standardized formats and schemas according to business rules.</a:t>
          </a:r>
        </a:p>
      </dgm:t>
    </dgm:pt>
    <dgm:pt modelId="{298752BA-3AD2-43C4-A77E-8D9E49901C22}" type="parTrans" cxnId="{3138A495-E624-4059-A514-E1AE7DD45D27}">
      <dgm:prSet/>
      <dgm:spPr/>
      <dgm:t>
        <a:bodyPr/>
        <a:lstStyle/>
        <a:p>
          <a:endParaRPr lang="en-US"/>
        </a:p>
      </dgm:t>
    </dgm:pt>
    <dgm:pt modelId="{ED28AB8D-EF4F-4D1A-A800-28A277580852}" type="sibTrans" cxnId="{3138A495-E624-4059-A514-E1AE7DD45D27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86FEBC1-EBD9-42AD-B0DD-FF453363019B}">
      <dgm:prSet/>
      <dgm:spPr/>
      <dgm:t>
        <a:bodyPr/>
        <a:lstStyle/>
        <a:p>
          <a:r>
            <a:rPr lang="pt-PT" b="1" u="sng" dirty="0" err="1"/>
            <a:t>L</a:t>
          </a:r>
          <a:r>
            <a:rPr lang="pt-PT" b="1" dirty="0" err="1"/>
            <a:t>oad</a:t>
          </a:r>
          <a:r>
            <a:rPr lang="pt-PT" dirty="0"/>
            <a:t>: </a:t>
          </a:r>
          <a:r>
            <a:rPr lang="en-US" dirty="0"/>
            <a:t>Store the processed data into target systems such as data warehouses, databases, or analytics platforms.</a:t>
          </a:r>
        </a:p>
      </dgm:t>
    </dgm:pt>
    <dgm:pt modelId="{BCCD26FB-0218-46E6-8340-322DA1882FBA}" type="parTrans" cxnId="{FCE915E4-B569-4F79-AEC5-638D2246DB51}">
      <dgm:prSet/>
      <dgm:spPr/>
      <dgm:t>
        <a:bodyPr/>
        <a:lstStyle/>
        <a:p>
          <a:endParaRPr lang="en-US"/>
        </a:p>
      </dgm:t>
    </dgm:pt>
    <dgm:pt modelId="{31A7A0FD-E3A8-4380-A4AC-862A05861121}" type="sibTrans" cxnId="{FCE915E4-B569-4F79-AEC5-638D2246DB5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779B50C9-A262-4525-8622-B403521DB011}" type="pres">
      <dgm:prSet presAssocID="{FF581FDF-451A-4BAD-AA50-236150ED791E}" presName="Name0" presStyleCnt="0">
        <dgm:presLayoutVars>
          <dgm:animLvl val="lvl"/>
          <dgm:resizeHandles val="exact"/>
        </dgm:presLayoutVars>
      </dgm:prSet>
      <dgm:spPr/>
    </dgm:pt>
    <dgm:pt modelId="{557E0257-24E2-49EF-B19B-33C6626B14C6}" type="pres">
      <dgm:prSet presAssocID="{4D1F2002-CE16-4C50-A707-69712D11D463}" presName="compositeNode" presStyleCnt="0">
        <dgm:presLayoutVars>
          <dgm:bulletEnabled val="1"/>
        </dgm:presLayoutVars>
      </dgm:prSet>
      <dgm:spPr/>
    </dgm:pt>
    <dgm:pt modelId="{DC46B9D0-C61B-49A5-AE21-9C4B25E85D58}" type="pres">
      <dgm:prSet presAssocID="{4D1F2002-CE16-4C50-A707-69712D11D463}" presName="bgRect" presStyleLbl="alignNode1" presStyleIdx="0" presStyleCnt="3"/>
      <dgm:spPr/>
    </dgm:pt>
    <dgm:pt modelId="{04B8FE8C-7AAD-4105-A7EE-4BB21B2267BD}" type="pres">
      <dgm:prSet presAssocID="{A40E0671-85BC-4316-9E1B-E7B4433B5CD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94737235-8C0C-4517-AE13-9635A97CB57A}" type="pres">
      <dgm:prSet presAssocID="{4D1F2002-CE16-4C50-A707-69712D11D463}" presName="nodeRect" presStyleLbl="alignNode1" presStyleIdx="0" presStyleCnt="3">
        <dgm:presLayoutVars>
          <dgm:bulletEnabled val="1"/>
        </dgm:presLayoutVars>
      </dgm:prSet>
      <dgm:spPr/>
    </dgm:pt>
    <dgm:pt modelId="{3AF081DD-5BCD-4E3E-9D38-DE441B9B17DA}" type="pres">
      <dgm:prSet presAssocID="{A40E0671-85BC-4316-9E1B-E7B4433B5CD5}" presName="sibTrans" presStyleCnt="0"/>
      <dgm:spPr/>
    </dgm:pt>
    <dgm:pt modelId="{1AA0FBD5-E997-4AEC-B9B6-4151FEBB1E5F}" type="pres">
      <dgm:prSet presAssocID="{6FD72094-2B47-4514-8A74-43D4A2735C35}" presName="compositeNode" presStyleCnt="0">
        <dgm:presLayoutVars>
          <dgm:bulletEnabled val="1"/>
        </dgm:presLayoutVars>
      </dgm:prSet>
      <dgm:spPr/>
    </dgm:pt>
    <dgm:pt modelId="{A5E45AAA-74EF-47F2-95D2-65C95DB5410F}" type="pres">
      <dgm:prSet presAssocID="{6FD72094-2B47-4514-8A74-43D4A2735C35}" presName="bgRect" presStyleLbl="alignNode1" presStyleIdx="1" presStyleCnt="3"/>
      <dgm:spPr/>
    </dgm:pt>
    <dgm:pt modelId="{21CE87B9-6FF9-410A-A6D1-E40FEC71AD5B}" type="pres">
      <dgm:prSet presAssocID="{ED28AB8D-EF4F-4D1A-A800-28A277580852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D99BFD51-5BA4-44BA-9A98-0C7D9268EF80}" type="pres">
      <dgm:prSet presAssocID="{6FD72094-2B47-4514-8A74-43D4A2735C35}" presName="nodeRect" presStyleLbl="alignNode1" presStyleIdx="1" presStyleCnt="3">
        <dgm:presLayoutVars>
          <dgm:bulletEnabled val="1"/>
        </dgm:presLayoutVars>
      </dgm:prSet>
      <dgm:spPr/>
    </dgm:pt>
    <dgm:pt modelId="{6BA6438A-A4A0-4B11-9634-051FA99BFE29}" type="pres">
      <dgm:prSet presAssocID="{ED28AB8D-EF4F-4D1A-A800-28A277580852}" presName="sibTrans" presStyleCnt="0"/>
      <dgm:spPr/>
    </dgm:pt>
    <dgm:pt modelId="{4E3CC9B9-D3CD-4225-B706-F31B0622A8D5}" type="pres">
      <dgm:prSet presAssocID="{386FEBC1-EBD9-42AD-B0DD-FF453363019B}" presName="compositeNode" presStyleCnt="0">
        <dgm:presLayoutVars>
          <dgm:bulletEnabled val="1"/>
        </dgm:presLayoutVars>
      </dgm:prSet>
      <dgm:spPr/>
    </dgm:pt>
    <dgm:pt modelId="{CE03CEBD-7E53-4422-9892-EE6E51F77B74}" type="pres">
      <dgm:prSet presAssocID="{386FEBC1-EBD9-42AD-B0DD-FF453363019B}" presName="bgRect" presStyleLbl="alignNode1" presStyleIdx="2" presStyleCnt="3"/>
      <dgm:spPr/>
    </dgm:pt>
    <dgm:pt modelId="{23682D8A-BBC1-4649-908A-935B76599BED}" type="pres">
      <dgm:prSet presAssocID="{31A7A0FD-E3A8-4380-A4AC-862A05861121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15D361A-7CF1-4B1E-8016-7EA637151DEB}" type="pres">
      <dgm:prSet presAssocID="{386FEBC1-EBD9-42AD-B0DD-FF453363019B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EE69A16-99DF-4F7D-99B9-10A30D6BA5D7}" type="presOf" srcId="{A40E0671-85BC-4316-9E1B-E7B4433B5CD5}" destId="{04B8FE8C-7AAD-4105-A7EE-4BB21B2267BD}" srcOrd="0" destOrd="0" presId="urn:microsoft.com/office/officeart/2016/7/layout/LinearBlockProcessNumbered"/>
    <dgm:cxn modelId="{BBD8215E-2C7B-4D00-BC3F-75B6B8274B7C}" type="presOf" srcId="{4D1F2002-CE16-4C50-A707-69712D11D463}" destId="{94737235-8C0C-4517-AE13-9635A97CB57A}" srcOrd="1" destOrd="0" presId="urn:microsoft.com/office/officeart/2016/7/layout/LinearBlockProcessNumbered"/>
    <dgm:cxn modelId="{7D022159-BCA1-4A77-AB8B-08DEB976263C}" type="presOf" srcId="{6FD72094-2B47-4514-8A74-43D4A2735C35}" destId="{A5E45AAA-74EF-47F2-95D2-65C95DB5410F}" srcOrd="0" destOrd="0" presId="urn:microsoft.com/office/officeart/2016/7/layout/LinearBlockProcessNumbered"/>
    <dgm:cxn modelId="{09F3C379-AA27-4920-8CA0-AB92E4C33ECC}" srcId="{FF581FDF-451A-4BAD-AA50-236150ED791E}" destId="{4D1F2002-CE16-4C50-A707-69712D11D463}" srcOrd="0" destOrd="0" parTransId="{3DE759E0-B4C3-43F3-BAAA-5679F8029C75}" sibTransId="{A40E0671-85BC-4316-9E1B-E7B4433B5CD5}"/>
    <dgm:cxn modelId="{B2AABB88-5ACC-4C1A-ABDB-F595E0BF3678}" type="presOf" srcId="{FF581FDF-451A-4BAD-AA50-236150ED791E}" destId="{779B50C9-A262-4525-8622-B403521DB011}" srcOrd="0" destOrd="0" presId="urn:microsoft.com/office/officeart/2016/7/layout/LinearBlockProcessNumbered"/>
    <dgm:cxn modelId="{910D1C91-D465-4262-86B4-701316827F5A}" type="presOf" srcId="{4D1F2002-CE16-4C50-A707-69712D11D463}" destId="{DC46B9D0-C61B-49A5-AE21-9C4B25E85D58}" srcOrd="0" destOrd="0" presId="urn:microsoft.com/office/officeart/2016/7/layout/LinearBlockProcessNumbered"/>
    <dgm:cxn modelId="{6F87CC94-9D37-4A8A-A817-428A09E45099}" type="presOf" srcId="{31A7A0FD-E3A8-4380-A4AC-862A05861121}" destId="{23682D8A-BBC1-4649-908A-935B76599BED}" srcOrd="0" destOrd="0" presId="urn:microsoft.com/office/officeart/2016/7/layout/LinearBlockProcessNumbered"/>
    <dgm:cxn modelId="{F8D90395-FDAD-4B68-B64C-E7736494E909}" type="presOf" srcId="{386FEBC1-EBD9-42AD-B0DD-FF453363019B}" destId="{B15D361A-7CF1-4B1E-8016-7EA637151DEB}" srcOrd="1" destOrd="0" presId="urn:microsoft.com/office/officeart/2016/7/layout/LinearBlockProcessNumbered"/>
    <dgm:cxn modelId="{3138A495-E624-4059-A514-E1AE7DD45D27}" srcId="{FF581FDF-451A-4BAD-AA50-236150ED791E}" destId="{6FD72094-2B47-4514-8A74-43D4A2735C35}" srcOrd="1" destOrd="0" parTransId="{298752BA-3AD2-43C4-A77E-8D9E49901C22}" sibTransId="{ED28AB8D-EF4F-4D1A-A800-28A277580852}"/>
    <dgm:cxn modelId="{7E4A5CB6-191E-449D-992A-28912BAB0899}" type="presOf" srcId="{386FEBC1-EBD9-42AD-B0DD-FF453363019B}" destId="{CE03CEBD-7E53-4422-9892-EE6E51F77B74}" srcOrd="0" destOrd="0" presId="urn:microsoft.com/office/officeart/2016/7/layout/LinearBlockProcessNumbered"/>
    <dgm:cxn modelId="{CA0C24DA-B026-4FFB-BC7A-BABD2A0ACD63}" type="presOf" srcId="{ED28AB8D-EF4F-4D1A-A800-28A277580852}" destId="{21CE87B9-6FF9-410A-A6D1-E40FEC71AD5B}" srcOrd="0" destOrd="0" presId="urn:microsoft.com/office/officeart/2016/7/layout/LinearBlockProcessNumbered"/>
    <dgm:cxn modelId="{FCE915E4-B569-4F79-AEC5-638D2246DB51}" srcId="{FF581FDF-451A-4BAD-AA50-236150ED791E}" destId="{386FEBC1-EBD9-42AD-B0DD-FF453363019B}" srcOrd="2" destOrd="0" parTransId="{BCCD26FB-0218-46E6-8340-322DA1882FBA}" sibTransId="{31A7A0FD-E3A8-4380-A4AC-862A05861121}"/>
    <dgm:cxn modelId="{726705FC-E5B6-4D20-BC03-D4E7A6E442B7}" type="presOf" srcId="{6FD72094-2B47-4514-8A74-43D4A2735C35}" destId="{D99BFD51-5BA4-44BA-9A98-0C7D9268EF80}" srcOrd="1" destOrd="0" presId="urn:microsoft.com/office/officeart/2016/7/layout/LinearBlockProcessNumbered"/>
    <dgm:cxn modelId="{427C3E9F-6C0F-4054-9761-CDB2A8406D6B}" type="presParOf" srcId="{779B50C9-A262-4525-8622-B403521DB011}" destId="{557E0257-24E2-49EF-B19B-33C6626B14C6}" srcOrd="0" destOrd="0" presId="urn:microsoft.com/office/officeart/2016/7/layout/LinearBlockProcessNumbered"/>
    <dgm:cxn modelId="{DF8ECFE0-437B-4D7A-8B88-63808822BA98}" type="presParOf" srcId="{557E0257-24E2-49EF-B19B-33C6626B14C6}" destId="{DC46B9D0-C61B-49A5-AE21-9C4B25E85D58}" srcOrd="0" destOrd="0" presId="urn:microsoft.com/office/officeart/2016/7/layout/LinearBlockProcessNumbered"/>
    <dgm:cxn modelId="{0B5830DB-3DC8-448B-A002-C84E95BA5068}" type="presParOf" srcId="{557E0257-24E2-49EF-B19B-33C6626B14C6}" destId="{04B8FE8C-7AAD-4105-A7EE-4BB21B2267BD}" srcOrd="1" destOrd="0" presId="urn:microsoft.com/office/officeart/2016/7/layout/LinearBlockProcessNumbered"/>
    <dgm:cxn modelId="{9012AD02-5003-4E21-9A2F-D79881174F0D}" type="presParOf" srcId="{557E0257-24E2-49EF-B19B-33C6626B14C6}" destId="{94737235-8C0C-4517-AE13-9635A97CB57A}" srcOrd="2" destOrd="0" presId="urn:microsoft.com/office/officeart/2016/7/layout/LinearBlockProcessNumbered"/>
    <dgm:cxn modelId="{E2A23151-5BD3-4A4D-AF1A-DCABDE93533C}" type="presParOf" srcId="{779B50C9-A262-4525-8622-B403521DB011}" destId="{3AF081DD-5BCD-4E3E-9D38-DE441B9B17DA}" srcOrd="1" destOrd="0" presId="urn:microsoft.com/office/officeart/2016/7/layout/LinearBlockProcessNumbered"/>
    <dgm:cxn modelId="{1B5B06B5-3818-4B61-9A66-E91CF20B7F35}" type="presParOf" srcId="{779B50C9-A262-4525-8622-B403521DB011}" destId="{1AA0FBD5-E997-4AEC-B9B6-4151FEBB1E5F}" srcOrd="2" destOrd="0" presId="urn:microsoft.com/office/officeart/2016/7/layout/LinearBlockProcessNumbered"/>
    <dgm:cxn modelId="{6E78439C-B21F-4E70-AAA4-FDE78B44BFD4}" type="presParOf" srcId="{1AA0FBD5-E997-4AEC-B9B6-4151FEBB1E5F}" destId="{A5E45AAA-74EF-47F2-95D2-65C95DB5410F}" srcOrd="0" destOrd="0" presId="urn:microsoft.com/office/officeart/2016/7/layout/LinearBlockProcessNumbered"/>
    <dgm:cxn modelId="{05A89CB5-C5C9-40E8-B0A1-D5DFFCE93497}" type="presParOf" srcId="{1AA0FBD5-E997-4AEC-B9B6-4151FEBB1E5F}" destId="{21CE87B9-6FF9-410A-A6D1-E40FEC71AD5B}" srcOrd="1" destOrd="0" presId="urn:microsoft.com/office/officeart/2016/7/layout/LinearBlockProcessNumbered"/>
    <dgm:cxn modelId="{11D22942-FF5F-4703-8026-9505145AD1AB}" type="presParOf" srcId="{1AA0FBD5-E997-4AEC-B9B6-4151FEBB1E5F}" destId="{D99BFD51-5BA4-44BA-9A98-0C7D9268EF80}" srcOrd="2" destOrd="0" presId="urn:microsoft.com/office/officeart/2016/7/layout/LinearBlockProcessNumbered"/>
    <dgm:cxn modelId="{FD6A2FE1-BB11-45A6-9294-63FCB7FEC5E8}" type="presParOf" srcId="{779B50C9-A262-4525-8622-B403521DB011}" destId="{6BA6438A-A4A0-4B11-9634-051FA99BFE29}" srcOrd="3" destOrd="0" presId="urn:microsoft.com/office/officeart/2016/7/layout/LinearBlockProcessNumbered"/>
    <dgm:cxn modelId="{1ACF1AFC-D1FA-4FD5-A8F8-F7219C53FD6C}" type="presParOf" srcId="{779B50C9-A262-4525-8622-B403521DB011}" destId="{4E3CC9B9-D3CD-4225-B706-F31B0622A8D5}" srcOrd="4" destOrd="0" presId="urn:microsoft.com/office/officeart/2016/7/layout/LinearBlockProcessNumbered"/>
    <dgm:cxn modelId="{FB40285E-A268-4DC1-A3F3-4EC5815D43E1}" type="presParOf" srcId="{4E3CC9B9-D3CD-4225-B706-F31B0622A8D5}" destId="{CE03CEBD-7E53-4422-9892-EE6E51F77B74}" srcOrd="0" destOrd="0" presId="urn:microsoft.com/office/officeart/2016/7/layout/LinearBlockProcessNumbered"/>
    <dgm:cxn modelId="{65F8B972-7AEA-4582-A986-6E7AC8884E15}" type="presParOf" srcId="{4E3CC9B9-D3CD-4225-B706-F31B0622A8D5}" destId="{23682D8A-BBC1-4649-908A-935B76599BED}" srcOrd="1" destOrd="0" presId="urn:microsoft.com/office/officeart/2016/7/layout/LinearBlockProcessNumbered"/>
    <dgm:cxn modelId="{ED60827B-EBA0-4056-9DD8-0673EC00AB5C}" type="presParOf" srcId="{4E3CC9B9-D3CD-4225-B706-F31B0622A8D5}" destId="{B15D361A-7CF1-4B1E-8016-7EA637151DE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6B9D0-C61B-49A5-AE21-9C4B25E85D58}">
      <dsp:nvSpPr>
        <dsp:cNvPr id="0" name=""/>
        <dsp:cNvSpPr/>
      </dsp:nvSpPr>
      <dsp:spPr>
        <a:xfrm>
          <a:off x="887" y="120823"/>
          <a:ext cx="3594628" cy="4313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069" tIns="0" rIns="35506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u="sng" kern="1200" dirty="0" err="1"/>
            <a:t>E</a:t>
          </a:r>
          <a:r>
            <a:rPr lang="pt-PT" sz="2200" b="1" kern="1200" dirty="0" err="1"/>
            <a:t>xtract</a:t>
          </a:r>
          <a:r>
            <a:rPr lang="pt-PT" sz="2200" kern="1200" dirty="0"/>
            <a:t>: </a:t>
          </a:r>
          <a:r>
            <a:rPr lang="pt-PT" sz="2200" kern="1200" dirty="0" err="1"/>
            <a:t>Collect</a:t>
          </a:r>
          <a:r>
            <a:rPr lang="pt-PT" sz="2200" kern="1200" dirty="0"/>
            <a:t> </a:t>
          </a:r>
          <a:r>
            <a:rPr lang="pt-PT" sz="2200" kern="1200" dirty="0" err="1"/>
            <a:t>raw</a:t>
          </a:r>
          <a:r>
            <a:rPr lang="pt-PT" sz="2200" kern="1200" dirty="0"/>
            <a:t> data </a:t>
          </a:r>
          <a:r>
            <a:rPr lang="pt-PT" sz="2200" kern="1200" dirty="0" err="1"/>
            <a:t>usually</a:t>
          </a:r>
          <a:r>
            <a:rPr lang="pt-PT" sz="2200" kern="1200" dirty="0"/>
            <a:t> </a:t>
          </a:r>
          <a:r>
            <a:rPr lang="pt-PT" sz="2200" kern="1200" dirty="0" err="1"/>
            <a:t>from</a:t>
          </a:r>
          <a:r>
            <a:rPr lang="pt-PT" sz="2200" kern="1200" dirty="0"/>
            <a:t> </a:t>
          </a:r>
          <a:r>
            <a:rPr lang="pt-PT" sz="2200" kern="1200" dirty="0" err="1"/>
            <a:t>multiple</a:t>
          </a:r>
          <a:r>
            <a:rPr lang="pt-PT" sz="2200" kern="1200" dirty="0"/>
            <a:t> </a:t>
          </a:r>
          <a:r>
            <a:rPr lang="pt-PT" sz="2200" kern="1200" dirty="0" err="1"/>
            <a:t>sources</a:t>
          </a:r>
          <a:r>
            <a:rPr lang="pt-PT" sz="2200" kern="1200" dirty="0"/>
            <a:t> - </a:t>
          </a:r>
          <a:r>
            <a:rPr lang="pt-PT" sz="2200" kern="1200" dirty="0" err="1"/>
            <a:t>Example</a:t>
          </a:r>
          <a:r>
            <a:rPr lang="pt-PT" sz="2200" kern="1200" dirty="0"/>
            <a:t>: </a:t>
          </a:r>
          <a:r>
            <a:rPr lang="pt-PT" sz="2200" kern="1200" dirty="0" err="1"/>
            <a:t>transactions</a:t>
          </a:r>
          <a:r>
            <a:rPr lang="pt-PT" sz="2200" kern="1200" dirty="0"/>
            <a:t>, </a:t>
          </a:r>
          <a:r>
            <a:rPr lang="pt-PT" sz="2200" kern="1200" dirty="0" err="1"/>
            <a:t>sensors</a:t>
          </a:r>
          <a:r>
            <a:rPr lang="pt-PT" sz="2200" kern="1200" dirty="0"/>
            <a:t>, </a:t>
          </a:r>
          <a:r>
            <a:rPr lang="pt-PT" sz="2200" kern="1200" dirty="0" err="1"/>
            <a:t>logs</a:t>
          </a:r>
          <a:r>
            <a:rPr lang="pt-PT" sz="2200" kern="1200" dirty="0"/>
            <a:t>, </a:t>
          </a:r>
          <a:r>
            <a:rPr lang="pt-PT" sz="2200" kern="1200" dirty="0" err="1"/>
            <a:t>user</a:t>
          </a:r>
          <a:r>
            <a:rPr lang="pt-PT" sz="2200" kern="1200" dirty="0"/>
            <a:t> </a:t>
          </a:r>
          <a:r>
            <a:rPr lang="pt-PT" sz="2200" kern="1200" dirty="0" err="1"/>
            <a:t>activity</a:t>
          </a:r>
          <a:r>
            <a:rPr lang="pt-PT" sz="2200" kern="1200" dirty="0"/>
            <a:t>, </a:t>
          </a:r>
          <a:r>
            <a:rPr lang="pt-PT" sz="2200" kern="1200" dirty="0" err="1"/>
            <a:t>databases</a:t>
          </a:r>
          <a:r>
            <a:rPr lang="pt-PT" sz="2200" kern="1200" dirty="0"/>
            <a:t>, API </a:t>
          </a:r>
          <a:r>
            <a:rPr lang="pt-PT" sz="2200" kern="1200" dirty="0" err="1"/>
            <a:t>streams</a:t>
          </a:r>
          <a:r>
            <a:rPr lang="pt-PT" sz="2200" kern="1200" dirty="0"/>
            <a:t>, </a:t>
          </a:r>
          <a:r>
            <a:rPr lang="pt-PT" sz="2200" kern="1200" dirty="0" err="1"/>
            <a:t>etc</a:t>
          </a:r>
          <a:endParaRPr lang="en-US" sz="2200" kern="1200" dirty="0"/>
        </a:p>
      </dsp:txBody>
      <dsp:txXfrm>
        <a:off x="887" y="1846244"/>
        <a:ext cx="3594628" cy="2588132"/>
      </dsp:txXfrm>
    </dsp:sp>
    <dsp:sp modelId="{04B8FE8C-7AAD-4105-A7EE-4BB21B2267BD}">
      <dsp:nvSpPr>
        <dsp:cNvPr id="0" name=""/>
        <dsp:cNvSpPr/>
      </dsp:nvSpPr>
      <dsp:spPr>
        <a:xfrm>
          <a:off x="887" y="120823"/>
          <a:ext cx="3594628" cy="172542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069" tIns="165100" rIns="35506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87" y="120823"/>
        <a:ext cx="3594628" cy="1725421"/>
      </dsp:txXfrm>
    </dsp:sp>
    <dsp:sp modelId="{A5E45AAA-74EF-47F2-95D2-65C95DB5410F}">
      <dsp:nvSpPr>
        <dsp:cNvPr id="0" name=""/>
        <dsp:cNvSpPr/>
      </dsp:nvSpPr>
      <dsp:spPr>
        <a:xfrm>
          <a:off x="3883085" y="120823"/>
          <a:ext cx="3594628" cy="4313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069" tIns="0" rIns="35506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u="sng" kern="1200" dirty="0" err="1"/>
            <a:t>T</a:t>
          </a:r>
          <a:r>
            <a:rPr lang="pt-PT" sz="2200" b="1" kern="1200" dirty="0" err="1"/>
            <a:t>ransform</a:t>
          </a:r>
          <a:r>
            <a:rPr lang="pt-PT" sz="2200" kern="1200" dirty="0"/>
            <a:t>: </a:t>
          </a:r>
          <a:r>
            <a:rPr lang="en-US" sz="2200" kern="1200" dirty="0"/>
            <a:t>Clean, validate, and convert data into standardized formats and schemas according to business rules.</a:t>
          </a:r>
        </a:p>
      </dsp:txBody>
      <dsp:txXfrm>
        <a:off x="3883085" y="1846244"/>
        <a:ext cx="3594628" cy="2588132"/>
      </dsp:txXfrm>
    </dsp:sp>
    <dsp:sp modelId="{21CE87B9-6FF9-410A-A6D1-E40FEC71AD5B}">
      <dsp:nvSpPr>
        <dsp:cNvPr id="0" name=""/>
        <dsp:cNvSpPr/>
      </dsp:nvSpPr>
      <dsp:spPr>
        <a:xfrm>
          <a:off x="3883085" y="120823"/>
          <a:ext cx="3594628" cy="172542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069" tIns="165100" rIns="35506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883085" y="120823"/>
        <a:ext cx="3594628" cy="1725421"/>
      </dsp:txXfrm>
    </dsp:sp>
    <dsp:sp modelId="{CE03CEBD-7E53-4422-9892-EE6E51F77B74}">
      <dsp:nvSpPr>
        <dsp:cNvPr id="0" name=""/>
        <dsp:cNvSpPr/>
      </dsp:nvSpPr>
      <dsp:spPr>
        <a:xfrm>
          <a:off x="7765284" y="120823"/>
          <a:ext cx="3594628" cy="43135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069" tIns="0" rIns="35506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u="sng" kern="1200" dirty="0" err="1"/>
            <a:t>L</a:t>
          </a:r>
          <a:r>
            <a:rPr lang="pt-PT" sz="2200" b="1" kern="1200" dirty="0" err="1"/>
            <a:t>oad</a:t>
          </a:r>
          <a:r>
            <a:rPr lang="pt-PT" sz="2200" kern="1200" dirty="0"/>
            <a:t>: </a:t>
          </a:r>
          <a:r>
            <a:rPr lang="en-US" sz="2200" kern="1200" dirty="0"/>
            <a:t>Store the processed data into target systems such as data warehouses, databases, or analytics platforms.</a:t>
          </a:r>
        </a:p>
      </dsp:txBody>
      <dsp:txXfrm>
        <a:off x="7765284" y="1846244"/>
        <a:ext cx="3594628" cy="2588132"/>
      </dsp:txXfrm>
    </dsp:sp>
    <dsp:sp modelId="{23682D8A-BBC1-4649-908A-935B76599BED}">
      <dsp:nvSpPr>
        <dsp:cNvPr id="0" name=""/>
        <dsp:cNvSpPr/>
      </dsp:nvSpPr>
      <dsp:spPr>
        <a:xfrm>
          <a:off x="7765284" y="120823"/>
          <a:ext cx="3594628" cy="172542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069" tIns="165100" rIns="35506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765284" y="120823"/>
        <a:ext cx="3594628" cy="17254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16D7B-54CF-4812-845D-09768C29A0BE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7FC7F-256D-4317-A2FC-481547F286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76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0bdb5a29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0bdb5a29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0bdb5a297_0_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PT"/>
              <a:t>“quem está procurando respostas para questões específicas. A ideia é que as pessoas que estão mais próximas dos dados, e então entendem melhor, devem ser as pessoas extraindo e analizando” </a:t>
            </a:r>
            <a:endParaRPr/>
          </a:p>
        </p:txBody>
      </p:sp>
      <p:sp>
        <p:nvSpPr>
          <p:cNvPr id="76" name="Google Shape;76;g300bdb5a29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0bdb5a297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“A key distinctive of ETL procedures and tools is that they are designed as elements of a formal workflow intended for use by IT professionals”</a:t>
            </a:r>
            <a:endParaRPr/>
          </a:p>
        </p:txBody>
      </p:sp>
      <p:sp>
        <p:nvSpPr>
          <p:cNvPr id="96" name="Google Shape;96;g300bdb5a29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0bdb5a29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0bdb5a29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4ADD4071-CA88-7F4E-7DAE-1FFAC3C41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C6D84A41-4E98-5A59-E11E-0C13466B2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4CB68D72-3A80-949B-936C-6137E0C89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177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CE1F4A2B-9B69-C596-0B7C-1867611A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BC1FB759-3736-A5ED-6777-99A4D26DA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9AEA77F6-3318-7453-8675-DFB85FC5F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5799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C878AB68-E36A-58CC-6631-9FD95DE2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54ADACB9-8D0B-D720-2353-B529BDB9B5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926F0C88-43B0-21F1-E933-646E891BA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89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CB4BA057-583C-16A2-1ED8-AF244C11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F96ACB10-850F-4065-BCC4-F3F678021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8986EB24-2870-793C-D463-3213EEAE4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7491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CC2EC033-333C-BD42-1577-57C4A9DF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FA9CF936-F96B-88EC-5D7B-451F77C67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A1E29FE1-C081-4C6D-C6C7-0FA4EDAA5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059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F9E551D1-0898-537E-830D-CBF6D0A2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F1EEFF1D-CD53-BEA8-0F04-A38C9C6D65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5F5AA38D-665F-8762-D8EF-DB7E993BC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011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57055796-5408-5D57-44E3-19ED470D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DE7D1579-1F36-4FBA-EF58-592D0725D9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49708353-5D5B-897E-60EE-A3CEEC7CB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5541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E832C737-1692-86DB-BBF4-CAA1549D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406EDDF1-6571-7977-C398-E71C2D4A1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EF168C89-85C1-2423-A6AD-92060B699A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8824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028AE-0DB3-66CE-DF16-73DF71005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923D49-C0A4-B8E6-DFAA-9F905EF8A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D7BC9-CC8A-6725-9627-84D02BB6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A442D-398F-784C-F252-AC255DD4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04B840-75C1-75C4-89FD-46A8E604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98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82BF2-A6D8-E6A8-A37F-24A0265E3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E7D48D-B71E-EA40-5B3C-417E9C973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F3485E-EE68-88F2-B44E-51A7B371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16399-D15E-A059-851D-6EB28FCF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A96B44-0191-477D-8953-9DF58313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23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4E137-C57E-F4F7-A7EA-18219BDF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6CBA8A-DA7F-3940-43F9-6D9931282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DE6972-4658-BE68-0E6E-CF042195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A2C4A4-7191-F5A8-2BD3-8D3F08443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20AD8B-7D5C-BBA0-37A1-65E70F34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636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13438-2F97-E4CF-686C-F658192B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931C4B-9A3F-DC3F-52B6-08A9DB773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EED4C6-2AEC-5835-DAA3-87FDC3940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505ACB-D6B4-A2D2-C580-90AC4774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9B081A-8F5E-1F53-7970-49A2E0D4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019F78-A310-FC03-5527-286E4095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16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373FE-18B0-691B-E1B6-35F5A1241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29AEBF-4475-442E-62A9-F17309BA0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C2E9B7-8292-F35A-C70E-0D636FDF8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86D6F3-5730-49D6-38DF-EFA170F72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AD4672-33C7-13CE-EEB4-36FD3303C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4A35B8-BC49-CA85-16B8-5A45757E8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42A3BF-F82C-6ED9-0D79-9AFBA60F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E697E4-066C-1242-3F2A-B6EA39A8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17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3535B-FCE2-B931-0D38-C6DCB8CB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0E2556-6603-6A0C-9EE0-49570379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89D9BD-7EA4-CF25-B558-45336CD7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7CB84B-D10B-8F5C-FBB0-D6D5B8C6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38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EF4BEF-C636-2EE8-5667-7D3A980B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B9D9B2-9E0F-6007-2884-AB8A8AC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369717-D498-1FB4-1A5A-90486BA0A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21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FFCF1-C692-CBE5-9FC5-754DDC6D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D7CAF7-6CC6-4F26-9A2C-DAD965B0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767752-5F88-EE7E-037C-831028A8A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9934A7-DB6F-E3B3-5DB8-7C2F007F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A4C703-93E7-5302-3B99-76AB762D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E8E732-2B69-7C27-2C83-A1BE7270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69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62078-439F-5EB5-FBD9-74F592C9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87E242-4D86-ECA8-2689-DC9EB2728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7955BD-1BC5-EED6-0935-BF3D4BEC2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3B3217-CF56-4DAD-24B4-334791FD7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324943-9D60-1979-B169-AD2AA401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4BD482-1B55-FBE4-2026-839804B5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59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0BD81-1480-A618-1C2E-E68EBFD3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98F0DF-210A-C569-BFB6-3C5978EEC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BCAB4-9B0A-B182-6083-B49912C9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89D7A0-7482-1706-4CA0-CA5A013A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80911C-AF63-C350-2207-EF7D6B92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89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FDAE28-EE86-20AB-89B6-048E32024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C616F1-E0BA-D246-E90D-BD42FADE6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4F128A-2BCB-A4D0-A06C-AEC7F555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75037C-FDAD-6292-2BD2-DFFCEED3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CD1454-DF11-9D5D-1249-1135B082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411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>
  <p:cSld name="Title and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348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3480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1219170" lvl="1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10912879" y="6323618"/>
            <a:ext cx="273600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6407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348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10912879" y="6323618"/>
            <a:ext cx="273600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3" name="Google Shape;53;p13"/>
          <p:cNvSpPr txBox="1"/>
          <p:nvPr/>
        </p:nvSpPr>
        <p:spPr>
          <a:xfrm>
            <a:off x="5550477" y="2843529"/>
            <a:ext cx="1091200" cy="7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None/>
            </a:pPr>
            <a:endParaRPr sz="4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90324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55E05D-BC2F-ADF3-3673-0EC51297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E16C7D-8FE5-9C70-1E17-4D3B3301A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574834-AABD-9CEF-2046-8DECC2BE7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C0C29-10F8-4A19-B61C-215C941D79AB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FDE86-C7F0-702E-C9AA-AA22BADEC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D6A16C-3707-09A5-C1D9-0A4118AA8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21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vp" TargetMode="External"/><Relationship Id="rId2" Type="http://schemas.openxmlformats.org/officeDocument/2006/relationships/hyperlink" Target="mailto:p7392@ulusofona.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14EC-3866-C16D-AABF-509E855E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393290"/>
            <a:ext cx="11887200" cy="3270286"/>
          </a:xfrm>
        </p:spPr>
        <p:txBody>
          <a:bodyPr anchor="b">
            <a:normAutofit/>
          </a:bodyPr>
          <a:lstStyle/>
          <a:p>
            <a:r>
              <a:rPr lang="pt-PT" sz="4800" dirty="0">
                <a:solidFill>
                  <a:srgbClr val="FFFFFF"/>
                </a:solidFill>
              </a:rPr>
              <a:t>Fundamentals in Data </a:t>
            </a:r>
            <a:r>
              <a:rPr lang="pt-PT" sz="4800" dirty="0" err="1">
                <a:solidFill>
                  <a:srgbClr val="FFFFFF"/>
                </a:solidFill>
              </a:rPr>
              <a:t>Engineering</a:t>
            </a:r>
            <a:endParaRPr lang="pt-BR" sz="48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68529-A030-BD38-C8C9-50A22C8AE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Autofit/>
          </a:bodyPr>
          <a:lstStyle/>
          <a:p>
            <a:pPr algn="l"/>
            <a:r>
              <a:rPr lang="pt-PT" sz="3200" b="1" dirty="0"/>
              <a:t>Thiago de Paiva</a:t>
            </a:r>
          </a:p>
          <a:p>
            <a:pPr algn="l"/>
            <a:r>
              <a:rPr lang="pt-PT" sz="3200" b="1" dirty="0">
                <a:hlinkClick r:id="rId2"/>
              </a:rPr>
              <a:t>p7392@ulusofona.pt</a:t>
            </a:r>
            <a:endParaRPr lang="pt-PT" sz="3200" b="1" dirty="0"/>
          </a:p>
          <a:p>
            <a:pPr algn="l"/>
            <a:r>
              <a:rPr lang="pt-PT" sz="3200" b="1" dirty="0">
                <a:hlinkClick r:id="rId3"/>
              </a:rPr>
              <a:t>https://github.com/tgvp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278631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067" y="792700"/>
            <a:ext cx="7065135" cy="418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2053139" y="1"/>
            <a:ext cx="6433600" cy="6858000"/>
          </a:xfrm>
          <a:prstGeom prst="rect">
            <a:avLst/>
          </a:prstGeom>
          <a:solidFill>
            <a:srgbClr val="DCDCDC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18"/>
          <p:cNvSpPr txBox="1"/>
          <p:nvPr/>
        </p:nvSpPr>
        <p:spPr>
          <a:xfrm>
            <a:off x="191963" y="3099928"/>
            <a:ext cx="14696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92500" lnSpcReduction="10000"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pt-PT" sz="1600" u="sng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Raw Data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Transactions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Sensors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Log Files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Experiments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8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4256" y="742095"/>
            <a:ext cx="1741712" cy="174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49303" y="1815143"/>
            <a:ext cx="1741712" cy="17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/>
          <p:nvPr/>
        </p:nvSpPr>
        <p:spPr>
          <a:xfrm>
            <a:off x="2747675" y="2611419"/>
            <a:ext cx="1635536" cy="1267892"/>
          </a:xfrm>
          <a:custGeom>
            <a:avLst/>
            <a:gdLst/>
            <a:ahLst/>
            <a:cxnLst/>
            <a:rect l="l" t="t" r="r" b="b"/>
            <a:pathLst>
              <a:path w="1635536" h="1267892" extrusionOk="0">
                <a:moveTo>
                  <a:pt x="0" y="0"/>
                </a:moveTo>
                <a:lnTo>
                  <a:pt x="1635536" y="0"/>
                </a:lnTo>
                <a:lnTo>
                  <a:pt x="1635536" y="1267892"/>
                </a:lnTo>
                <a:lnTo>
                  <a:pt x="0" y="126789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6700" tIns="0" rIns="0" bIns="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4000"/>
            </a:pPr>
            <a:endParaRPr sz="5333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4432349" y="1492691"/>
            <a:ext cx="1684673" cy="2386620"/>
          </a:xfrm>
          <a:custGeom>
            <a:avLst/>
            <a:gdLst/>
            <a:ahLst/>
            <a:cxnLst/>
            <a:rect l="l" t="t" r="r" b="b"/>
            <a:pathLst>
              <a:path w="1684673" h="2386620" extrusionOk="0">
                <a:moveTo>
                  <a:pt x="0" y="0"/>
                </a:moveTo>
                <a:lnTo>
                  <a:pt x="1684673" y="0"/>
                </a:lnTo>
                <a:lnTo>
                  <a:pt x="1684673" y="2386620"/>
                </a:lnTo>
                <a:lnTo>
                  <a:pt x="0" y="23866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74800" tIns="0" rIns="0" bIns="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3900"/>
            </a:pPr>
            <a:endParaRPr sz="5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6432898" y="830227"/>
            <a:ext cx="1684673" cy="3049083"/>
          </a:xfrm>
          <a:custGeom>
            <a:avLst/>
            <a:gdLst/>
            <a:ahLst/>
            <a:cxnLst/>
            <a:rect l="l" t="t" r="r" b="b"/>
            <a:pathLst>
              <a:path w="1684673" h="3049083" extrusionOk="0">
                <a:moveTo>
                  <a:pt x="0" y="0"/>
                </a:moveTo>
                <a:lnTo>
                  <a:pt x="1684673" y="0"/>
                </a:lnTo>
                <a:lnTo>
                  <a:pt x="1684673" y="3049083"/>
                </a:lnTo>
                <a:lnTo>
                  <a:pt x="0" y="304908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241767" tIns="0" rIns="0" bIns="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3800"/>
            </a:pPr>
            <a:endParaRPr sz="5067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18"/>
          <p:cNvSpPr/>
          <p:nvPr/>
        </p:nvSpPr>
        <p:spPr>
          <a:xfrm rot="8734589" flipH="1">
            <a:off x="2396484" y="918477"/>
            <a:ext cx="6179312" cy="438703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quadBezTo>
                  <a:pt x="20000" y="40000"/>
                  <a:pt x="99601" y="15000"/>
                </a:quadBezTo>
                <a:lnTo>
                  <a:pt x="98401" y="0"/>
                </a:lnTo>
                <a:lnTo>
                  <a:pt x="120000" y="16279"/>
                </a:lnTo>
                <a:lnTo>
                  <a:pt x="101965" y="44557"/>
                </a:lnTo>
                <a:lnTo>
                  <a:pt x="100765" y="29557"/>
                </a:lnTo>
                <a:quadBezTo>
                  <a:pt x="30000" y="39557"/>
                  <a:pt x="0" y="120000"/>
                </a:quadBezTo>
                <a:close/>
              </a:path>
            </a:pathLst>
          </a:custGeom>
          <a:solidFill>
            <a:srgbClr val="CCD3EA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8" descr="Meat Grind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1613" y="2024945"/>
            <a:ext cx="1428751" cy="14287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8988476" y="2135163"/>
            <a:ext cx="18032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pt-PT" sz="1600" u="sng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Use-Case-Specific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Fit for purpose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B050"/>
              </a:buClr>
              <a:buSzPts val="1200"/>
            </a:pPr>
            <a:r>
              <a:rPr lang="pt-PT" sz="1600">
                <a:solidFill>
                  <a:srgbClr val="00B050"/>
                </a:solidFill>
                <a:latin typeface="Radley"/>
                <a:ea typeface="Radley"/>
                <a:cs typeface="Radley"/>
                <a:sym typeface="Radley"/>
              </a:rPr>
              <a:t>Self-Service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7479005" y="2819495"/>
            <a:ext cx="1684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C00000"/>
              </a:buClr>
              <a:buSzPts val="1500"/>
            </a:pPr>
            <a:r>
              <a:rPr lang="pt-PT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8"/>
          <p:cNvGrpSpPr/>
          <p:nvPr/>
        </p:nvGrpSpPr>
        <p:grpSpPr>
          <a:xfrm>
            <a:off x="6965019" y="2135165"/>
            <a:ext cx="778247" cy="794832"/>
            <a:chOff x="9254592" y="4478854"/>
            <a:chExt cx="2151436" cy="2197286"/>
          </a:xfrm>
        </p:grpSpPr>
        <p:pic>
          <p:nvPicPr>
            <p:cNvPr id="90" name="Google Shape;90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488328" y="4567941"/>
              <a:ext cx="1917700" cy="2108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8" descr="Shape&#10;&#10;Description automatically generated with low confidenc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254592" y="4478854"/>
              <a:ext cx="2151436" cy="21514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18"/>
          <p:cNvSpPr txBox="1"/>
          <p:nvPr/>
        </p:nvSpPr>
        <p:spPr>
          <a:xfrm>
            <a:off x="4262993" y="5418781"/>
            <a:ext cx="2170000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pt-PT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you mostly learn at University</a:t>
            </a:r>
            <a:endParaRPr sz="1467"/>
          </a:p>
        </p:txBody>
      </p:sp>
      <p:sp>
        <p:nvSpPr>
          <p:cNvPr id="93" name="Google Shape;93;p18"/>
          <p:cNvSpPr txBox="1"/>
          <p:nvPr/>
        </p:nvSpPr>
        <p:spPr>
          <a:xfrm>
            <a:off x="2797391" y="404481"/>
            <a:ext cx="4528441" cy="72067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1333"/>
              </a:spcBef>
            </a:pPr>
            <a:r>
              <a:rPr lang="pt-PT" sz="2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</a:t>
            </a:r>
            <a:r>
              <a:rPr lang="pt-PT" sz="2000" b="1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preparation</a:t>
            </a:r>
            <a:r>
              <a:rPr lang="pt-PT" sz="2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PT" sz="2000" dirty="0" err="1">
                <a:latin typeface="Roboto Light"/>
                <a:ea typeface="Roboto Light"/>
                <a:cs typeface="Roboto Light"/>
                <a:sym typeface="Roboto Light"/>
              </a:rPr>
              <a:t>example</a:t>
            </a:r>
            <a:r>
              <a:rPr lang="pt-PT" sz="20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lang="pt-PT" sz="20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reseach</a:t>
            </a:r>
            <a:endParaRPr sz="2000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2053139" y="1"/>
            <a:ext cx="6433600" cy="6858000"/>
          </a:xfrm>
          <a:prstGeom prst="rect">
            <a:avLst/>
          </a:prstGeom>
          <a:solidFill>
            <a:srgbClr val="DCDCDC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191963" y="3099928"/>
            <a:ext cx="14696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92500" lnSpcReduction="10000"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pt-PT" sz="1600" u="sng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Raw Data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Transactions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Sensors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Log Files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Experiments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9118799" y="4065397"/>
            <a:ext cx="1752000" cy="14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algn="ctr"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pt-PT" sz="1600" u="sng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Source of Truth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Governed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Secure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Audited</a:t>
            </a:r>
            <a:br>
              <a:rPr lang="pt-PT" sz="16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</a:br>
            <a:r>
              <a:rPr lang="pt-PT" sz="1600">
                <a:solidFill>
                  <a:srgbClr val="00B050"/>
                </a:solidFill>
                <a:latin typeface="Radley"/>
                <a:ea typeface="Radley"/>
                <a:cs typeface="Radley"/>
                <a:sym typeface="Radley"/>
              </a:rPr>
              <a:t>Managed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9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5920" y="3663496"/>
            <a:ext cx="2191432" cy="219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2747675" y="2611419"/>
            <a:ext cx="1635536" cy="1267892"/>
          </a:xfrm>
          <a:custGeom>
            <a:avLst/>
            <a:gdLst/>
            <a:ahLst/>
            <a:cxnLst/>
            <a:rect l="l" t="t" r="r" b="b"/>
            <a:pathLst>
              <a:path w="1635536" h="1267892" extrusionOk="0">
                <a:moveTo>
                  <a:pt x="0" y="0"/>
                </a:moveTo>
                <a:lnTo>
                  <a:pt x="1635536" y="0"/>
                </a:lnTo>
                <a:lnTo>
                  <a:pt x="1635536" y="1267892"/>
                </a:lnTo>
                <a:lnTo>
                  <a:pt x="0" y="126789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6700" tIns="0" rIns="0" bIns="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4000"/>
            </a:pPr>
            <a:endParaRPr sz="5333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4432349" y="1492691"/>
            <a:ext cx="1684673" cy="2386620"/>
          </a:xfrm>
          <a:custGeom>
            <a:avLst/>
            <a:gdLst/>
            <a:ahLst/>
            <a:cxnLst/>
            <a:rect l="l" t="t" r="r" b="b"/>
            <a:pathLst>
              <a:path w="1684673" h="2386620" extrusionOk="0">
                <a:moveTo>
                  <a:pt x="0" y="0"/>
                </a:moveTo>
                <a:lnTo>
                  <a:pt x="1684673" y="0"/>
                </a:lnTo>
                <a:lnTo>
                  <a:pt x="1684673" y="2386620"/>
                </a:lnTo>
                <a:lnTo>
                  <a:pt x="0" y="23866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74800" tIns="0" rIns="0" bIns="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3900"/>
            </a:pPr>
            <a:endParaRPr sz="5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6432898" y="830227"/>
            <a:ext cx="1684673" cy="3049083"/>
          </a:xfrm>
          <a:custGeom>
            <a:avLst/>
            <a:gdLst/>
            <a:ahLst/>
            <a:cxnLst/>
            <a:rect l="l" t="t" r="r" b="b"/>
            <a:pathLst>
              <a:path w="1684673" h="3049083" extrusionOk="0">
                <a:moveTo>
                  <a:pt x="0" y="0"/>
                </a:moveTo>
                <a:lnTo>
                  <a:pt x="1684673" y="0"/>
                </a:lnTo>
                <a:lnTo>
                  <a:pt x="1684673" y="3049083"/>
                </a:lnTo>
                <a:lnTo>
                  <a:pt x="0" y="304908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241767" tIns="0" rIns="0" bIns="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3800"/>
            </a:pPr>
            <a:endParaRPr sz="5067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19"/>
          <p:cNvSpPr/>
          <p:nvPr/>
        </p:nvSpPr>
        <p:spPr>
          <a:xfrm rot="2046339">
            <a:off x="2369232" y="2136955"/>
            <a:ext cx="6179189" cy="438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quadBezTo>
                  <a:pt x="20000" y="40000"/>
                  <a:pt x="99601" y="15000"/>
                </a:quadBezTo>
                <a:lnTo>
                  <a:pt x="98401" y="0"/>
                </a:lnTo>
                <a:lnTo>
                  <a:pt x="120000" y="16279"/>
                </a:lnTo>
                <a:lnTo>
                  <a:pt x="101965" y="44557"/>
                </a:lnTo>
                <a:lnTo>
                  <a:pt x="100765" y="29557"/>
                </a:lnTo>
                <a:quadBezTo>
                  <a:pt x="30000" y="39557"/>
                  <a:pt x="0" y="120000"/>
                </a:quadBezTo>
                <a:close/>
              </a:path>
            </a:pathLst>
          </a:custGeom>
          <a:solidFill>
            <a:srgbClr val="CCD3EA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9" descr="Meat Grind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1613" y="2024945"/>
            <a:ext cx="1428751" cy="142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7445865" y="4130687"/>
            <a:ext cx="1684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C00000"/>
              </a:buClr>
              <a:buSzPts val="1500"/>
            </a:pPr>
            <a:r>
              <a:rPr lang="pt-PT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Data Integration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9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4183" y="2057681"/>
            <a:ext cx="1059544" cy="1059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6438343" y="2057681"/>
            <a:ext cx="1059544" cy="105954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3403599" y="4622800"/>
            <a:ext cx="4094400" cy="152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picture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more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</a:t>
            </a:r>
            <a:endParaRPr sz="1467" dirty="0"/>
          </a:p>
          <a:p>
            <a:endParaRPr sz="18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must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checked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correctness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verified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audited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pt-PT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managed</a:t>
            </a:r>
            <a:endParaRPr sz="1467" dirty="0"/>
          </a:p>
        </p:txBody>
      </p:sp>
      <p:sp>
        <p:nvSpPr>
          <p:cNvPr id="111" name="Google Shape;111;p19"/>
          <p:cNvSpPr txBox="1"/>
          <p:nvPr/>
        </p:nvSpPr>
        <p:spPr>
          <a:xfrm>
            <a:off x="8869109" y="1341121"/>
            <a:ext cx="2337200" cy="9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pt-PT" sz="14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University data (contracts, student info, grants, etc…) – must be centrally managed</a:t>
            </a:r>
            <a:endParaRPr sz="1467"/>
          </a:p>
        </p:txBody>
      </p:sp>
      <p:sp>
        <p:nvSpPr>
          <p:cNvPr id="112" name="Google Shape;112;p19"/>
          <p:cNvSpPr txBox="1"/>
          <p:nvPr/>
        </p:nvSpPr>
        <p:spPr>
          <a:xfrm>
            <a:off x="2232838" y="415508"/>
            <a:ext cx="6134986" cy="1028446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1333"/>
              </a:spcBef>
            </a:pPr>
            <a:r>
              <a:rPr lang="pt-PT" sz="2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</a:t>
            </a:r>
            <a:r>
              <a:rPr lang="pt-PT" sz="2000" b="1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Integration</a:t>
            </a:r>
            <a:r>
              <a:rPr lang="pt-PT" sz="20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PT" sz="2000" dirty="0" err="1">
                <a:latin typeface="Roboto Light"/>
                <a:ea typeface="Roboto Light"/>
                <a:cs typeface="Roboto Light"/>
                <a:sym typeface="Roboto Light"/>
              </a:rPr>
              <a:t>from</a:t>
            </a:r>
            <a:r>
              <a:rPr lang="pt-PT" sz="2000" dirty="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PT" sz="2000" dirty="0" err="1">
                <a:latin typeface="Roboto Light"/>
                <a:ea typeface="Roboto Light"/>
                <a:cs typeface="Roboto Light"/>
                <a:sym typeface="Roboto Light"/>
              </a:rPr>
              <a:t>different</a:t>
            </a:r>
            <a:r>
              <a:rPr lang="pt-PT" sz="2000" dirty="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PT" sz="2000" dirty="0" err="1">
                <a:latin typeface="Roboto Light"/>
                <a:ea typeface="Roboto Light"/>
                <a:cs typeface="Roboto Light"/>
                <a:sym typeface="Roboto Light"/>
              </a:rPr>
              <a:t>sources</a:t>
            </a:r>
            <a:r>
              <a:rPr lang="pt-PT" sz="2000" dirty="0">
                <a:latin typeface="Roboto Light"/>
                <a:ea typeface="Roboto Light"/>
                <a:cs typeface="Roboto Light"/>
                <a:sym typeface="Roboto Light"/>
              </a:rPr>
              <a:t> must </a:t>
            </a:r>
            <a:r>
              <a:rPr lang="pt-PT" sz="2000" dirty="0" err="1">
                <a:latin typeface="Roboto Light"/>
                <a:ea typeface="Roboto Light"/>
                <a:cs typeface="Roboto Light"/>
                <a:sym typeface="Roboto Light"/>
              </a:rPr>
              <a:t>be</a:t>
            </a:r>
            <a:r>
              <a:rPr lang="pt-PT" sz="2000" dirty="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PT" sz="2000" dirty="0" err="1">
                <a:latin typeface="Roboto Light"/>
                <a:ea typeface="Roboto Light"/>
                <a:cs typeface="Roboto Light"/>
                <a:sym typeface="Roboto Light"/>
              </a:rPr>
              <a:t>centralized</a:t>
            </a:r>
            <a:endParaRPr sz="2000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ETL</a:t>
            </a:r>
          </a:p>
        </p:txBody>
      </p:sp>
      <p:graphicFrame>
        <p:nvGraphicFramePr>
          <p:cNvPr id="5" name="Google Shape;118;p20">
            <a:extLst>
              <a:ext uri="{FF2B5EF4-FFF2-40B4-BE49-F238E27FC236}">
                <a16:creationId xmlns:a16="http://schemas.microsoft.com/office/drawing/2014/main" id="{9AD74D31-86F5-8081-7A5B-EC3C0A0784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1529538"/>
              </p:ext>
            </p:extLst>
          </p:nvPr>
        </p:nvGraphicFramePr>
        <p:xfrm>
          <a:off x="415600" y="1813080"/>
          <a:ext cx="11360800" cy="455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pt-PT" dirty="0" err="1"/>
              <a:t>What</a:t>
            </a:r>
            <a:r>
              <a:rPr lang="pt-PT" dirty="0"/>
              <a:t> </a:t>
            </a:r>
            <a:r>
              <a:rPr lang="pt-PT" dirty="0" err="1"/>
              <a:t>kind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solutions</a:t>
            </a:r>
            <a:r>
              <a:rPr lang="pt-PT" dirty="0"/>
              <a:t>?</a:t>
            </a:r>
            <a:endParaRPr dirty="0"/>
          </a:p>
        </p:txBody>
      </p:sp>
      <p:sp>
        <p:nvSpPr>
          <p:cNvPr id="126" name="Google Shape;126;p21"/>
          <p:cNvSpPr txBox="1"/>
          <p:nvPr/>
        </p:nvSpPr>
        <p:spPr>
          <a:xfrm>
            <a:off x="271367" y="1132415"/>
            <a:ext cx="5766400" cy="408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800"/>
              </a:spcBef>
            </a:pPr>
            <a:r>
              <a:rPr lang="pt-PT" sz="2133" b="1" dirty="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Data </a:t>
            </a:r>
            <a:r>
              <a:rPr lang="pt-PT" sz="2133" b="1" dirty="0" err="1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Warehouse</a:t>
            </a:r>
            <a:r>
              <a:rPr lang="pt-PT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pt-BR" sz="2400" dirty="0"/>
              <a:t>(~1990s)</a:t>
            </a:r>
          </a:p>
          <a:p>
            <a:pPr>
              <a:spcBef>
                <a:spcPts val="800"/>
              </a:spcBef>
            </a:pPr>
            <a:r>
              <a:rPr lang="en-US" sz="2133" b="1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-  “Single source of truth”: A centralized, structured repository for enterprise analytics </a:t>
            </a: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en-US" sz="2133" b="1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Schema is designed upfront (schema-on-write)</a:t>
            </a: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en-US" sz="2133" b="1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Data comes from trusted, curated sources</a:t>
            </a: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en-US" sz="2133" b="1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Data is transformed before loading to fit the warehouse schema</a:t>
            </a: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en-US" sz="2133" b="1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Optimized for reporting, BI, and structured queries</a:t>
            </a:r>
            <a:endParaRPr sz="2133" b="1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5303" y="5098864"/>
            <a:ext cx="2191432" cy="1643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 descr="Shape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 l="20518" t="12372" r="16961" b="12372"/>
          <a:stretch/>
        </p:blipFill>
        <p:spPr>
          <a:xfrm>
            <a:off x="1315234" y="5096067"/>
            <a:ext cx="1370068" cy="1649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21"/>
          <p:cNvCxnSpPr/>
          <p:nvPr/>
        </p:nvCxnSpPr>
        <p:spPr>
          <a:xfrm>
            <a:off x="6037767" y="1277433"/>
            <a:ext cx="0" cy="520520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21"/>
          <p:cNvSpPr txBox="1"/>
          <p:nvPr/>
        </p:nvSpPr>
        <p:spPr>
          <a:xfrm>
            <a:off x="6126333" y="1141767"/>
            <a:ext cx="5902000" cy="2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800"/>
              </a:spcBef>
            </a:pPr>
            <a:r>
              <a:rPr lang="pt-PT" sz="2133" b="1" dirty="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Data </a:t>
            </a:r>
            <a:r>
              <a:rPr lang="pt-PT" sz="2133" b="1" dirty="0" err="1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Lake</a:t>
            </a:r>
            <a:r>
              <a:rPr lang="pt-PT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pt-BR" sz="2400" dirty="0"/>
              <a:t>(~2010s)</a:t>
            </a:r>
            <a:endParaRPr lang="pt-PT" sz="2133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“Landing zone”: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Scalable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storage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for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raw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data in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any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format</a:t>
            </a:r>
            <a:endParaRPr lang="pt-BR" sz="2133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Schema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applied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on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demand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(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schema-on-read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)Stores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structured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semi-structured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and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unstructured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data</a:t>
            </a: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Extract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→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Load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→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Transform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(ELT)</a:t>
            </a: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Transformations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happen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when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data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is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needed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for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analysis</a:t>
            </a:r>
            <a:endParaRPr lang="pt-BR" sz="2133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342900" indent="-342900">
              <a:spcBef>
                <a:spcPts val="800"/>
              </a:spcBef>
              <a:buFontTx/>
              <a:buChar char="-"/>
            </a:pP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Data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catalog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evolves as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datasets</a:t>
            </a:r>
            <a:r>
              <a:rPr lang="pt-BR" sz="21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are </a:t>
            </a:r>
            <a:r>
              <a:rPr lang="pt-BR" sz="2133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reused</a:t>
            </a:r>
            <a:endParaRPr sz="2133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1" name="Google Shape;131;p21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4567" y="5218428"/>
            <a:ext cx="1741712" cy="174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 rotWithShape="1">
          <a:blip r:embed="rId6">
            <a:alphaModFix/>
          </a:blip>
          <a:srcRect r="37047"/>
          <a:stretch/>
        </p:blipFill>
        <p:spPr>
          <a:xfrm>
            <a:off x="9391003" y="5130801"/>
            <a:ext cx="2191435" cy="1649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1FC5F6A7-FC33-5BDB-C691-05B609B36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4422F0E5-CDC0-2343-7F03-F8DB6B9CA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6CEF7DE-1F61-A57E-AD4F-798B9820F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F1F8EC51-BB9D-2DA3-093D-CBBDA9B2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E57DA842-0EFF-379E-78A4-F1A4DCC30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B40CFC17-8379-BF45-13CF-00A236A82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Pipeline Architectures</a:t>
            </a:r>
          </a:p>
        </p:txBody>
      </p:sp>
      <p:pic>
        <p:nvPicPr>
          <p:cNvPr id="25" name="Imagem 24" descr="Diagrama&#10;&#10;O conteúdo gerado por IA pode estar incorreto.">
            <a:extLst>
              <a:ext uri="{FF2B5EF4-FFF2-40B4-BE49-F238E27FC236}">
                <a16:creationId xmlns:a16="http://schemas.microsoft.com/office/drawing/2014/main" id="{6B1F82AD-416B-87DE-6B6C-19811D2F6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29" y="1575459"/>
            <a:ext cx="10369025" cy="51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1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25C36456-CDF5-6C10-4BC4-6B8520AA6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961F4C5C-DE66-8B08-9CA5-A57E5B872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56859179-89CE-77AB-5561-EE559509D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3DE58901-3DB7-171E-4A63-634AD3022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4F80009-0F80-8C4B-AD57-E2821609E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54582F08-7EE0-D051-43D8-ABEDB56625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Pipeline Architectures</a:t>
            </a: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6D099F3B-0A6E-6E80-F9AE-3440F51E1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153" y="1575458"/>
            <a:ext cx="9839179" cy="518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9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F34073C9-4065-E2DB-209C-36DF189D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3D91AC3B-8F0F-7C9F-E4DA-FE95827B8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76D7F96B-B5B3-84D0-748C-2153E3658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FC987EA9-D462-5B47-1174-A443B9ABF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DC409CD3-9BD4-754C-2D16-7952D3A4C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13B2905B-EFE9-7C61-4FB0-9A0E8FC75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Pipeline Architectures</a:t>
            </a:r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E5C937A3-5144-64F2-CEBF-CC01F83CB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03" y="1575955"/>
            <a:ext cx="10345594" cy="520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6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C7346AFD-4C1B-DABA-6EEA-16835FD2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2388E8AB-C9E1-BEA0-6D9B-BD9703F5A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C12D99BF-5A93-582C-E1F1-6F8E5C197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04D512CD-38E0-E930-B709-C4563C7A8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5B5654EF-853C-A925-4EB4-7E76523E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5C5811B3-1340-6285-2EE1-8A69F90E9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</a:rPr>
              <a:t>How Do We Understand Our Data?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6" name="Google Shape;306;p29">
            <a:extLst>
              <a:ext uri="{FF2B5EF4-FFF2-40B4-BE49-F238E27FC236}">
                <a16:creationId xmlns:a16="http://schemas.microsoft.com/office/drawing/2014/main" id="{32F755DC-F24A-A6C2-505B-BCEE5A311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1575458"/>
            <a:ext cx="12192000" cy="52825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45700" tIns="45700" rIns="45700" bIns="45700" rtlCol="0" anchor="t" anchorCtr="0">
            <a:normAutofit/>
          </a:bodyPr>
          <a:lstStyle/>
          <a:p>
            <a:r>
              <a:rPr lang="pt-BR" sz="3600" b="1" dirty="0"/>
              <a:t>Data Discovery &amp; Data Assessment</a:t>
            </a:r>
          </a:p>
          <a:p>
            <a:pPr lvl="1"/>
            <a:r>
              <a:rPr lang="pt-BR" sz="3200" b="1" dirty="0"/>
              <a:t>Ad hoc </a:t>
            </a:r>
            <a:r>
              <a:rPr lang="pt-BR" sz="3200" b="1" dirty="0" err="1"/>
              <a:t>exploration</a:t>
            </a:r>
            <a:r>
              <a:rPr lang="pt-BR" sz="3200" dirty="0"/>
              <a:t>: </a:t>
            </a:r>
            <a:r>
              <a:rPr lang="pt-BR" sz="3200" dirty="0" err="1"/>
              <a:t>End</a:t>
            </a:r>
            <a:r>
              <a:rPr lang="pt-BR" sz="3200" dirty="0"/>
              <a:t> </a:t>
            </a:r>
            <a:r>
              <a:rPr lang="pt-BR" sz="3200" dirty="0" err="1"/>
              <a:t>users</a:t>
            </a:r>
            <a:r>
              <a:rPr lang="pt-BR" sz="3200" dirty="0"/>
              <a:t> </a:t>
            </a:r>
            <a:r>
              <a:rPr lang="pt-BR" sz="3200" dirty="0" err="1"/>
              <a:t>retrieve</a:t>
            </a:r>
            <a:r>
              <a:rPr lang="pt-BR" sz="3200" dirty="0"/>
              <a:t>, explore, </a:t>
            </a:r>
            <a:r>
              <a:rPr lang="pt-BR" sz="3200" dirty="0" err="1"/>
              <a:t>and</a:t>
            </a:r>
            <a:r>
              <a:rPr lang="pt-BR" sz="3200" dirty="0"/>
              <a:t> </a:t>
            </a:r>
            <a:r>
              <a:rPr lang="pt-BR" sz="3200" dirty="0" err="1"/>
              <a:t>label</a:t>
            </a:r>
            <a:r>
              <a:rPr lang="pt-BR" sz="3200" dirty="0"/>
              <a:t> data</a:t>
            </a:r>
          </a:p>
          <a:p>
            <a:pPr lvl="1"/>
            <a:r>
              <a:rPr lang="pt-BR" sz="3200" b="1" dirty="0" err="1"/>
              <a:t>Systematic</a:t>
            </a:r>
            <a:r>
              <a:rPr lang="pt-BR" sz="3200" b="1" dirty="0"/>
              <a:t> </a:t>
            </a:r>
            <a:r>
              <a:rPr lang="pt-BR" sz="3200" b="1" dirty="0" err="1"/>
              <a:t>discovery</a:t>
            </a:r>
            <a:r>
              <a:rPr lang="pt-BR" sz="3200" dirty="0"/>
              <a:t>: </a:t>
            </a:r>
            <a:r>
              <a:rPr lang="pt-BR" sz="3200" dirty="0" err="1"/>
              <a:t>Scanning</a:t>
            </a:r>
            <a:r>
              <a:rPr lang="pt-BR" sz="3200" dirty="0"/>
              <a:t> </a:t>
            </a:r>
            <a:r>
              <a:rPr lang="pt-BR" sz="3200" dirty="0" err="1"/>
              <a:t>and</a:t>
            </a:r>
            <a:r>
              <a:rPr lang="pt-BR" sz="3200" dirty="0"/>
              <a:t> </a:t>
            </a:r>
            <a:r>
              <a:rPr lang="pt-BR" sz="3200" dirty="0" err="1"/>
              <a:t>profiling</a:t>
            </a:r>
            <a:r>
              <a:rPr lang="pt-BR" sz="3200" dirty="0"/>
              <a:t> </a:t>
            </a:r>
            <a:r>
              <a:rPr lang="pt-BR" sz="3200" dirty="0" err="1"/>
              <a:t>datasets</a:t>
            </a:r>
            <a:r>
              <a:rPr lang="pt-BR" sz="3200" dirty="0"/>
              <a:t> in </a:t>
            </a:r>
            <a:r>
              <a:rPr lang="pt-BR" sz="3200" dirty="0" err="1"/>
              <a:t>the</a:t>
            </a:r>
            <a:r>
              <a:rPr lang="pt-BR" sz="3200" dirty="0"/>
              <a:t> data </a:t>
            </a:r>
            <a:r>
              <a:rPr lang="pt-BR" sz="3200" dirty="0" err="1"/>
              <a:t>lake</a:t>
            </a:r>
            <a:endParaRPr lang="pt-BR" sz="3200" dirty="0"/>
          </a:p>
          <a:p>
            <a:pPr lvl="1"/>
            <a:r>
              <a:rPr lang="pt-BR" sz="3200" b="1" dirty="0" err="1"/>
              <a:t>Content-focused</a:t>
            </a:r>
            <a:r>
              <a:rPr lang="pt-BR" sz="3200" b="1" dirty="0"/>
              <a:t> </a:t>
            </a:r>
            <a:r>
              <a:rPr lang="pt-BR" sz="3200" b="1" dirty="0" err="1"/>
              <a:t>analysis</a:t>
            </a:r>
            <a:r>
              <a:rPr lang="pt-BR" sz="3200" dirty="0"/>
              <a:t>: </a:t>
            </a:r>
            <a:r>
              <a:rPr lang="pt-BR" sz="3200" dirty="0" err="1"/>
              <a:t>Identifying</a:t>
            </a:r>
            <a:r>
              <a:rPr lang="pt-BR" sz="3200" dirty="0"/>
              <a:t> data </a:t>
            </a:r>
            <a:r>
              <a:rPr lang="pt-BR" sz="3200" dirty="0" err="1"/>
              <a:t>types</a:t>
            </a:r>
            <a:r>
              <a:rPr lang="pt-BR" sz="3200" dirty="0"/>
              <a:t> </a:t>
            </a:r>
            <a:r>
              <a:rPr lang="pt-BR" sz="3200" dirty="0" err="1"/>
              <a:t>and</a:t>
            </a:r>
            <a:r>
              <a:rPr lang="pt-BR" sz="3200" dirty="0"/>
              <a:t> </a:t>
            </a:r>
            <a:r>
              <a:rPr lang="pt-BR" sz="3200" dirty="0" err="1"/>
              <a:t>potential</a:t>
            </a:r>
            <a:r>
              <a:rPr lang="pt-BR" sz="3200" dirty="0"/>
              <a:t> </a:t>
            </a:r>
            <a:r>
              <a:rPr lang="pt-BR" sz="3200" dirty="0" err="1"/>
              <a:t>analytical</a:t>
            </a:r>
            <a:r>
              <a:rPr lang="pt-BR" sz="3200" dirty="0"/>
              <a:t> </a:t>
            </a:r>
            <a:r>
              <a:rPr lang="pt-BR" sz="3200" dirty="0" err="1"/>
              <a:t>value</a:t>
            </a:r>
            <a:endParaRPr lang="pt-BR" sz="3200" dirty="0"/>
          </a:p>
          <a:p>
            <a:pPr lvl="1"/>
            <a:r>
              <a:rPr lang="pt-BR" sz="3200" b="1" dirty="0" err="1"/>
              <a:t>Human</a:t>
            </a:r>
            <a:r>
              <a:rPr lang="pt-BR" sz="3200" b="1" dirty="0"/>
              <a:t> expertise + AI-</a:t>
            </a:r>
            <a:r>
              <a:rPr lang="pt-BR" sz="3200" b="1" dirty="0" err="1"/>
              <a:t>assisted</a:t>
            </a:r>
            <a:r>
              <a:rPr lang="pt-BR" sz="3200" b="1" dirty="0"/>
              <a:t> </a:t>
            </a:r>
            <a:r>
              <a:rPr lang="pt-BR" sz="3200" b="1" dirty="0" err="1"/>
              <a:t>analysis</a:t>
            </a:r>
            <a:endParaRPr lang="pt-BR" sz="3200" b="1" dirty="0"/>
          </a:p>
          <a:p>
            <a:pPr marL="186262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6986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9DDD2DE2-91B6-4A1E-90C2-3D49362C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AC1228ED-B9D1-DA82-A752-E40EAB530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5F878426-4CAF-F170-E413-04EAFDD1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8FA0A0C-70CD-F2F0-362F-C4CD0DA1D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A399D0F8-287D-F9EE-9F0A-254E97FB5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B861877B-1DD5-5E2C-5779-A61F2E3354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</a:rPr>
              <a:t>How Do We Understand Our Data?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097E4E-7D28-A471-35F4-FD727C108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841794"/>
            <a:ext cx="1219199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09585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data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lake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data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arrives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609585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profile it.</a:t>
            </a:r>
          </a:p>
          <a:p>
            <a:pPr marL="609585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classify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it.</a:t>
            </a:r>
          </a:p>
          <a:p>
            <a:pPr marL="609585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Sometimes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manual.</a:t>
            </a:r>
          </a:p>
          <a:p>
            <a:pPr marL="609585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Increasingly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AI helps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609585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pt-BR" altLang="pt-BR" sz="3200" dirty="0">
              <a:latin typeface="Arial" panose="020B0604020202020204" pitchFamily="34" charset="0"/>
            </a:endParaRPr>
          </a:p>
          <a:p>
            <a:pPr marL="609585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dirty="0"/>
              <a:t>Discovery turns unknown data into usable assets.</a:t>
            </a: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809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30043D22-EB48-8BB1-BB15-05427552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F05264DE-20AD-A02C-A1A1-5C6FD075C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DE9AAC70-5182-1C6F-ADE6-98AE3F2B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FFC2A1FB-973E-6AA8-C5C8-ECC2B2C8F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2A85CA74-66BA-A9C6-49FE-538EA16B0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E1C1B7B8-5E71-2C10-7F51-DD7B1AC561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</a:rPr>
              <a:t>How Do We Understand Our Data?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6" name="Google Shape;306;p29">
            <a:extLst>
              <a:ext uri="{FF2B5EF4-FFF2-40B4-BE49-F238E27FC236}">
                <a16:creationId xmlns:a16="http://schemas.microsoft.com/office/drawing/2014/main" id="{0D418F1B-CB4C-61F0-9B39-06C4B86F9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1575458"/>
            <a:ext cx="12192000" cy="52825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45700" tIns="45700" rIns="45700" bIns="45700" rtlCol="0" anchor="t" anchorCtr="0">
            <a:normAutofit/>
          </a:bodyPr>
          <a:lstStyle/>
          <a:p>
            <a:r>
              <a:rPr lang="en-US" b="1" dirty="0"/>
              <a:t>Data Quality &amp; Integrity</a:t>
            </a:r>
          </a:p>
          <a:p>
            <a:pPr lvl="1"/>
            <a:r>
              <a:rPr lang="en-US" dirty="0"/>
              <a:t>Integrity checks (e.g., uniqueness, null constraints, referential integrity)</a:t>
            </a:r>
          </a:p>
          <a:p>
            <a:pPr lvl="1"/>
            <a:r>
              <a:rPr lang="en-US" dirty="0"/>
              <a:t>Business rules defined by humans, increasingly supported by AI</a:t>
            </a:r>
          </a:p>
          <a:p>
            <a:pPr lvl="1"/>
            <a:r>
              <a:rPr lang="en-US" dirty="0"/>
              <a:t>Data is dynamic and constantly evolving</a:t>
            </a:r>
          </a:p>
          <a:p>
            <a:pPr lvl="1"/>
            <a:r>
              <a:rPr lang="en-US" dirty="0"/>
              <a:t>Validation mechanisms can reject or quarantine invalid data</a:t>
            </a:r>
          </a:p>
          <a:p>
            <a:pPr lvl="2"/>
            <a:r>
              <a:rPr lang="en-US" dirty="0"/>
              <a:t>Example: No two products should share the same product ID</a:t>
            </a:r>
          </a:p>
          <a:p>
            <a:pPr marL="1405431" lvl="2" indent="0">
              <a:buNone/>
            </a:pPr>
            <a:endParaRPr lang="en-US" dirty="0"/>
          </a:p>
          <a:p>
            <a:pPr marL="1405431" lvl="2" indent="0">
              <a:buNone/>
            </a:pPr>
            <a:r>
              <a:rPr lang="en-US" sz="2800" b="1" dirty="0"/>
              <a:t>Data quality is not a one-time task — it is an ongoing process</a:t>
            </a:r>
          </a:p>
        </p:txBody>
      </p:sp>
    </p:spTree>
    <p:extLst>
      <p:ext uri="{BB962C8B-B14F-4D97-AF65-F5344CB8AC3E}">
        <p14:creationId xmlns:p14="http://schemas.microsoft.com/office/powerpoint/2010/main" val="259617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331507DD-8CC7-2D86-581C-69DE27BC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ADBD585E-3AB9-0A30-F952-D7A6F4704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E371FE7-4670-73C1-5094-CEDB8A11A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09AACF69-2CCC-19DE-C831-A63F9ADB7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336831C1-648A-E2EA-AB4F-E1C5E4A6B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76230C3B-425D-F4A0-1A25-D525FE907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Metadata</a:t>
            </a:r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1"/>
          </p:nvPr>
        </p:nvSpPr>
        <p:spPr>
          <a:xfrm>
            <a:off x="1" y="1575458"/>
            <a:ext cx="12192000" cy="52825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45700" tIns="45700" rIns="45700" bIns="45700" rtlCol="0" anchor="t" anchorCtr="0">
            <a:normAutofit fontScale="62500" lnSpcReduction="20000"/>
          </a:bodyPr>
          <a:lstStyle/>
          <a:p>
            <a:pPr marL="186262" indent="0">
              <a:buNone/>
            </a:pPr>
            <a:r>
              <a:rPr lang="en-US" sz="3600" b="1" dirty="0"/>
              <a:t>Application Metadata: </a:t>
            </a:r>
            <a:r>
              <a:rPr lang="en-US" sz="3600" dirty="0"/>
              <a:t>describes what the data means</a:t>
            </a:r>
          </a:p>
          <a:p>
            <a:r>
              <a:rPr lang="en-US" sz="3600" dirty="0"/>
              <a:t>Entities (e.g., students, courses, employees)</a:t>
            </a:r>
          </a:p>
          <a:p>
            <a:r>
              <a:rPr lang="en-US" sz="3600" dirty="0"/>
              <a:t>Relationships between entities</a:t>
            </a:r>
          </a:p>
          <a:p>
            <a:r>
              <a:rPr lang="en-US" sz="3600" dirty="0"/>
              <a:t>Constraints and business rules</a:t>
            </a:r>
            <a:br>
              <a:rPr lang="en-US" sz="3600" dirty="0"/>
            </a:br>
            <a:endParaRPr lang="en-US" sz="3600" dirty="0"/>
          </a:p>
          <a:p>
            <a:pPr marL="186262" indent="0">
              <a:buNone/>
            </a:pPr>
            <a:r>
              <a:rPr lang="en-US" sz="3600" b="1" dirty="0"/>
              <a:t>Behavioral Metadata: </a:t>
            </a:r>
            <a:r>
              <a:rPr lang="en-US" sz="3600" dirty="0"/>
              <a:t>what happened to the data</a:t>
            </a:r>
            <a:endParaRPr lang="en-US" sz="3600" b="1" dirty="0"/>
          </a:p>
          <a:p>
            <a:r>
              <a:rPr lang="en-US" sz="3600" b="1" dirty="0"/>
              <a:t>Data lineage</a:t>
            </a:r>
            <a:r>
              <a:rPr lang="en-US" sz="3600" dirty="0"/>
              <a:t> — Where did the data originate?</a:t>
            </a:r>
          </a:p>
          <a:p>
            <a:r>
              <a:rPr lang="en-US" sz="3600" b="1" dirty="0"/>
              <a:t>Audit trails</a:t>
            </a:r>
            <a:r>
              <a:rPr lang="en-US" sz="3600" dirty="0"/>
              <a:t> — Who accessed or modified the data?</a:t>
            </a:r>
          </a:p>
          <a:p>
            <a:r>
              <a:rPr lang="en-US" sz="3600" dirty="0"/>
              <a:t>Job execution history</a:t>
            </a:r>
            <a:br>
              <a:rPr lang="en-US" sz="3600" dirty="0"/>
            </a:br>
            <a:endParaRPr lang="en-US" sz="3600" dirty="0"/>
          </a:p>
          <a:p>
            <a:pPr marL="186262" indent="0">
              <a:buNone/>
            </a:pPr>
            <a:r>
              <a:rPr lang="en-US" sz="3600" b="1" dirty="0"/>
              <a:t>Change Metadata: </a:t>
            </a:r>
            <a:r>
              <a:rPr lang="pt-BR" sz="3600" dirty="0" err="1"/>
              <a:t>how</a:t>
            </a:r>
            <a:r>
              <a:rPr lang="pt-BR" sz="3600" dirty="0"/>
              <a:t> </a:t>
            </a:r>
            <a:r>
              <a:rPr lang="pt-BR" sz="3600" dirty="0" err="1"/>
              <a:t>the</a:t>
            </a:r>
            <a:r>
              <a:rPr lang="pt-BR" sz="3600" dirty="0"/>
              <a:t> system </a:t>
            </a:r>
            <a:r>
              <a:rPr lang="pt-BR" sz="3600" dirty="0" err="1"/>
              <a:t>evolved</a:t>
            </a:r>
            <a:endParaRPr lang="en-US" sz="3600" dirty="0"/>
          </a:p>
          <a:p>
            <a:r>
              <a:rPr lang="en-US" sz="3600" dirty="0"/>
              <a:t>Versioning information</a:t>
            </a:r>
          </a:p>
          <a:p>
            <a:r>
              <a:rPr lang="en-US" sz="3600" dirty="0"/>
              <a:t>Schema evolution</a:t>
            </a:r>
          </a:p>
          <a:p>
            <a:r>
              <a:rPr lang="en-US" sz="3600" dirty="0"/>
              <a:t>Historical tracking of structural changes</a:t>
            </a:r>
          </a:p>
        </p:txBody>
      </p:sp>
    </p:spTree>
    <p:extLst>
      <p:ext uri="{BB962C8B-B14F-4D97-AF65-F5344CB8AC3E}">
        <p14:creationId xmlns:p14="http://schemas.microsoft.com/office/powerpoint/2010/main" val="24237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E004EDDC-FAB4-5ECA-3E71-44367EAD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DEB9C9DF-F093-C541-EF0B-76863722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0762A850-952D-D92B-6AE2-B6F251ECF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A49DA4A-8C30-6CC7-758F-798C75275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8705AFB9-5C05-E425-C110-1D11D0A22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B50CB4FF-327D-D6F4-30F3-E31171EE4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Pipeline Architectures</a:t>
            </a: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C956514A-A7D6-E383-3BAF-42D8F58A1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5458"/>
            <a:ext cx="12191998" cy="528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71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627</Words>
  <Application>Microsoft Office PowerPoint</Application>
  <PresentationFormat>Widescreen</PresentationFormat>
  <Paragraphs>92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Gill Sans</vt:lpstr>
      <vt:lpstr>Radley</vt:lpstr>
      <vt:lpstr>Roboto</vt:lpstr>
      <vt:lpstr>Roboto Light</vt:lpstr>
      <vt:lpstr>Tema do Office</vt:lpstr>
      <vt:lpstr>Fundamentals in Data Engineering</vt:lpstr>
      <vt:lpstr>Apresentação do PowerPoint</vt:lpstr>
      <vt:lpstr>Apresentação do PowerPoint</vt:lpstr>
      <vt:lpstr>Apresentação do PowerPoint</vt:lpstr>
      <vt:lpstr>ETL</vt:lpstr>
      <vt:lpstr>What kind of solutions?</vt:lpstr>
      <vt:lpstr>Data Pipeline Architectures</vt:lpstr>
      <vt:lpstr>Data Pipeline Architectures</vt:lpstr>
      <vt:lpstr>Data Pipeline Architectures</vt:lpstr>
      <vt:lpstr>How Do We Understand Our Data?</vt:lpstr>
      <vt:lpstr>How Do We Understand Our Data?</vt:lpstr>
      <vt:lpstr>How Do We Understand Our Data?</vt:lpstr>
      <vt:lpstr>Metadata</vt:lpstr>
      <vt:lpstr>Data Pipeline Architectures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Paiva</dc:creator>
  <cp:lastModifiedBy>Thiago Paiva</cp:lastModifiedBy>
  <cp:revision>93</cp:revision>
  <dcterms:created xsi:type="dcterms:W3CDTF">2026-02-09T19:20:09Z</dcterms:created>
  <dcterms:modified xsi:type="dcterms:W3CDTF">2026-02-24T06:21:11Z</dcterms:modified>
</cp:coreProperties>
</file>