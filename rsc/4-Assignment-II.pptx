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6" r:id="rId3"/>
    <p:sldId id="309" r:id="rId4"/>
    <p:sldId id="312" r:id="rId5"/>
    <p:sldId id="313" r:id="rId6"/>
    <p:sldId id="314" r:id="rId7"/>
    <p:sldId id="315" r:id="rId8"/>
    <p:sldId id="318" r:id="rId9"/>
    <p:sldId id="319" r:id="rId10"/>
    <p:sldId id="316" r:id="rId11"/>
    <p:sldId id="317" r:id="rId12"/>
    <p:sldId id="311" r:id="rId13"/>
    <p:sldId id="320" r:id="rId14"/>
    <p:sldId id="321" r:id="rId15"/>
    <p:sldId id="308" r:id="rId16"/>
    <p:sldId id="322" r:id="rId17"/>
    <p:sldId id="323" r:id="rId18"/>
    <p:sldId id="324" r:id="rId19"/>
    <p:sldId id="325" r:id="rId20"/>
    <p:sldId id="329" r:id="rId21"/>
    <p:sldId id="326" r:id="rId22"/>
    <p:sldId id="327" r:id="rId23"/>
    <p:sldId id="32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384A6D-99FF-40C6-B33E-ABF8C0A5357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7B295FA-A15F-4F8C-BC46-4842BCFDCF9A}">
      <dgm:prSet/>
      <dgm:spPr/>
      <dgm:t>
        <a:bodyPr/>
        <a:lstStyle/>
        <a:p>
          <a:r>
            <a:rPr lang="en-US"/>
            <a:t>Goal: package a small Python service + database as a reproducible multi-service environment.</a:t>
          </a:r>
        </a:p>
      </dgm:t>
    </dgm:pt>
    <dgm:pt modelId="{CDECB385-85BE-4687-A124-87C7D33F6DB7}" type="parTrans" cxnId="{0013132A-3F6F-451E-B525-7A5ED3006954}">
      <dgm:prSet/>
      <dgm:spPr/>
      <dgm:t>
        <a:bodyPr/>
        <a:lstStyle/>
        <a:p>
          <a:endParaRPr lang="en-US"/>
        </a:p>
      </dgm:t>
    </dgm:pt>
    <dgm:pt modelId="{B10D7939-5735-41A9-B597-C113D2E366F7}" type="sibTrans" cxnId="{0013132A-3F6F-451E-B525-7A5ED3006954}">
      <dgm:prSet/>
      <dgm:spPr/>
      <dgm:t>
        <a:bodyPr/>
        <a:lstStyle/>
        <a:p>
          <a:endParaRPr lang="en-US"/>
        </a:p>
      </dgm:t>
    </dgm:pt>
    <dgm:pt modelId="{050CCAEB-91D4-4CC9-ACD3-B8241DA95AB0}">
      <dgm:prSet/>
      <dgm:spPr/>
      <dgm:t>
        <a:bodyPr/>
        <a:lstStyle/>
        <a:p>
          <a:r>
            <a:rPr lang="en-US"/>
            <a:t>Create a Git repository (you may reuse the one from Assignment 1)</a:t>
          </a:r>
        </a:p>
      </dgm:t>
    </dgm:pt>
    <dgm:pt modelId="{86C5862B-917B-46C4-87C6-A54CA5D77432}" type="parTrans" cxnId="{6B7A1831-6D43-4FDF-88C9-105E4ACDE21C}">
      <dgm:prSet/>
      <dgm:spPr/>
      <dgm:t>
        <a:bodyPr/>
        <a:lstStyle/>
        <a:p>
          <a:endParaRPr lang="en-US"/>
        </a:p>
      </dgm:t>
    </dgm:pt>
    <dgm:pt modelId="{0D6B12D4-6C99-493B-992F-3A77683583D4}" type="sibTrans" cxnId="{6B7A1831-6D43-4FDF-88C9-105E4ACDE21C}">
      <dgm:prSet/>
      <dgm:spPr/>
      <dgm:t>
        <a:bodyPr/>
        <a:lstStyle/>
        <a:p>
          <a:endParaRPr lang="en-US"/>
        </a:p>
      </dgm:t>
    </dgm:pt>
    <dgm:pt modelId="{147FFDCC-C449-4CA9-B774-A48C9D160D09}">
      <dgm:prSet/>
      <dgm:spPr/>
      <dgm:t>
        <a:bodyPr/>
        <a:lstStyle/>
        <a:p>
          <a:r>
            <a:rPr lang="en-US"/>
            <a:t>Build a Python container (Dockerfile)</a:t>
          </a:r>
        </a:p>
      </dgm:t>
    </dgm:pt>
    <dgm:pt modelId="{18614BFB-F26B-4D55-A191-D7F9CEB3AA8C}" type="parTrans" cxnId="{0891836F-5F08-4D29-861F-AED9DA3311DB}">
      <dgm:prSet/>
      <dgm:spPr/>
      <dgm:t>
        <a:bodyPr/>
        <a:lstStyle/>
        <a:p>
          <a:endParaRPr lang="en-US"/>
        </a:p>
      </dgm:t>
    </dgm:pt>
    <dgm:pt modelId="{68E645F6-41F1-40EC-851E-084E0D9DEFA5}" type="sibTrans" cxnId="{0891836F-5F08-4D29-861F-AED9DA3311DB}">
      <dgm:prSet/>
      <dgm:spPr/>
      <dgm:t>
        <a:bodyPr/>
        <a:lstStyle/>
        <a:p>
          <a:endParaRPr lang="en-US"/>
        </a:p>
      </dgm:t>
    </dgm:pt>
    <dgm:pt modelId="{5A5EB512-6055-485C-98D3-A3D1DF9B8910}">
      <dgm:prSet/>
      <dgm:spPr/>
      <dgm:t>
        <a:bodyPr/>
        <a:lstStyle/>
        <a:p>
          <a:r>
            <a:rPr lang="en-US"/>
            <a:t>Configure a PostgreSQL container</a:t>
          </a:r>
        </a:p>
      </dgm:t>
    </dgm:pt>
    <dgm:pt modelId="{C02A3E2F-2065-4F8A-AFAE-A009D2E47B8B}" type="parTrans" cxnId="{99E93346-0F48-4F5E-A3A5-1215FA61DB0D}">
      <dgm:prSet/>
      <dgm:spPr/>
      <dgm:t>
        <a:bodyPr/>
        <a:lstStyle/>
        <a:p>
          <a:endParaRPr lang="en-US"/>
        </a:p>
      </dgm:t>
    </dgm:pt>
    <dgm:pt modelId="{C4B4D5DB-7CA1-41CC-BEA5-32A804976A52}" type="sibTrans" cxnId="{99E93346-0F48-4F5E-A3A5-1215FA61DB0D}">
      <dgm:prSet/>
      <dgm:spPr/>
      <dgm:t>
        <a:bodyPr/>
        <a:lstStyle/>
        <a:p>
          <a:endParaRPr lang="en-US"/>
        </a:p>
      </dgm:t>
    </dgm:pt>
    <dgm:pt modelId="{A86B5596-7AFA-4ABC-B4F6-48554BCA0FD5}">
      <dgm:prSet/>
      <dgm:spPr/>
      <dgm:t>
        <a:bodyPr/>
        <a:lstStyle/>
        <a:p>
          <a:r>
            <a:rPr lang="en-US"/>
            <a:t>Connect both services with Docker Compose</a:t>
          </a:r>
        </a:p>
      </dgm:t>
    </dgm:pt>
    <dgm:pt modelId="{FEB0BAD8-BA7B-4214-8EE2-3DB73C2B60D3}" type="parTrans" cxnId="{53406D26-F7CC-45AE-9575-2E1E4BA2A1A1}">
      <dgm:prSet/>
      <dgm:spPr/>
      <dgm:t>
        <a:bodyPr/>
        <a:lstStyle/>
        <a:p>
          <a:endParaRPr lang="en-US"/>
        </a:p>
      </dgm:t>
    </dgm:pt>
    <dgm:pt modelId="{4A75CD2F-A28E-4603-A729-9F1E715A34D1}" type="sibTrans" cxnId="{53406D26-F7CC-45AE-9575-2E1E4BA2A1A1}">
      <dgm:prSet/>
      <dgm:spPr/>
      <dgm:t>
        <a:bodyPr/>
        <a:lstStyle/>
        <a:p>
          <a:endParaRPr lang="en-US"/>
        </a:p>
      </dgm:t>
    </dgm:pt>
    <dgm:pt modelId="{7D15815B-5907-453B-8D69-9B407F16E16F}">
      <dgm:prSet/>
      <dgm:spPr/>
      <dgm:t>
        <a:bodyPr/>
        <a:lstStyle/>
        <a:p>
          <a:r>
            <a:rPr lang="en-US"/>
            <a:t>Persist data using volumes</a:t>
          </a:r>
        </a:p>
      </dgm:t>
    </dgm:pt>
    <dgm:pt modelId="{0F4B001A-81D2-447C-BBF1-F17192526036}" type="parTrans" cxnId="{7BD987A9-56EB-49CD-863A-DB120473E3F5}">
      <dgm:prSet/>
      <dgm:spPr/>
      <dgm:t>
        <a:bodyPr/>
        <a:lstStyle/>
        <a:p>
          <a:endParaRPr lang="en-US"/>
        </a:p>
      </dgm:t>
    </dgm:pt>
    <dgm:pt modelId="{3595D8EE-7C74-431C-9CC8-90304206F2E2}" type="sibTrans" cxnId="{7BD987A9-56EB-49CD-863A-DB120473E3F5}">
      <dgm:prSet/>
      <dgm:spPr/>
      <dgm:t>
        <a:bodyPr/>
        <a:lstStyle/>
        <a:p>
          <a:endParaRPr lang="en-US"/>
        </a:p>
      </dgm:t>
    </dgm:pt>
    <dgm:pt modelId="{2B6F76AE-802B-415C-B7DE-F47A8444A9BC}">
      <dgm:prSet/>
      <dgm:spPr/>
      <dgm:t>
        <a:bodyPr/>
        <a:lstStyle/>
        <a:p>
          <a:r>
            <a:rPr lang="en-US" dirty="0"/>
            <a:t>Migrating Data thus populating the Database</a:t>
          </a:r>
        </a:p>
      </dgm:t>
    </dgm:pt>
    <dgm:pt modelId="{46ACC68E-3EB6-4013-BBD8-B687981523F3}" type="parTrans" cxnId="{CE09651B-6F2D-444E-931D-0104202B2DE1}">
      <dgm:prSet/>
      <dgm:spPr/>
      <dgm:t>
        <a:bodyPr/>
        <a:lstStyle/>
        <a:p>
          <a:endParaRPr lang="en-US"/>
        </a:p>
      </dgm:t>
    </dgm:pt>
    <dgm:pt modelId="{148D81AF-3D53-481B-BB26-91B2F8CD60F0}" type="sibTrans" cxnId="{CE09651B-6F2D-444E-931D-0104202B2DE1}">
      <dgm:prSet/>
      <dgm:spPr/>
      <dgm:t>
        <a:bodyPr/>
        <a:lstStyle/>
        <a:p>
          <a:endParaRPr lang="en-US"/>
        </a:p>
      </dgm:t>
    </dgm:pt>
    <dgm:pt modelId="{B1E6687A-3961-4B21-A2DD-99C33A655E3E}" type="pres">
      <dgm:prSet presAssocID="{A6384A6D-99FF-40C6-B33E-ABF8C0A5357A}" presName="diagram" presStyleCnt="0">
        <dgm:presLayoutVars>
          <dgm:dir/>
          <dgm:resizeHandles val="exact"/>
        </dgm:presLayoutVars>
      </dgm:prSet>
      <dgm:spPr/>
    </dgm:pt>
    <dgm:pt modelId="{3E90AC71-0391-4A4C-B326-8DA85CD7371F}" type="pres">
      <dgm:prSet presAssocID="{87B295FA-A15F-4F8C-BC46-4842BCFDCF9A}" presName="node" presStyleLbl="node1" presStyleIdx="0" presStyleCnt="7">
        <dgm:presLayoutVars>
          <dgm:bulletEnabled val="1"/>
        </dgm:presLayoutVars>
      </dgm:prSet>
      <dgm:spPr/>
    </dgm:pt>
    <dgm:pt modelId="{37567053-9561-40BF-B87B-8505106992BA}" type="pres">
      <dgm:prSet presAssocID="{B10D7939-5735-41A9-B597-C113D2E366F7}" presName="sibTrans" presStyleCnt="0"/>
      <dgm:spPr/>
    </dgm:pt>
    <dgm:pt modelId="{D3149311-6112-45D4-A712-E74E32A6411A}" type="pres">
      <dgm:prSet presAssocID="{050CCAEB-91D4-4CC9-ACD3-B8241DA95AB0}" presName="node" presStyleLbl="node1" presStyleIdx="1" presStyleCnt="7">
        <dgm:presLayoutVars>
          <dgm:bulletEnabled val="1"/>
        </dgm:presLayoutVars>
      </dgm:prSet>
      <dgm:spPr/>
    </dgm:pt>
    <dgm:pt modelId="{33F90084-0B52-403E-BE4A-3778D322E7B6}" type="pres">
      <dgm:prSet presAssocID="{0D6B12D4-6C99-493B-992F-3A77683583D4}" presName="sibTrans" presStyleCnt="0"/>
      <dgm:spPr/>
    </dgm:pt>
    <dgm:pt modelId="{5E131E0C-D70A-428B-B962-EAFAB1439643}" type="pres">
      <dgm:prSet presAssocID="{147FFDCC-C449-4CA9-B774-A48C9D160D09}" presName="node" presStyleLbl="node1" presStyleIdx="2" presStyleCnt="7">
        <dgm:presLayoutVars>
          <dgm:bulletEnabled val="1"/>
        </dgm:presLayoutVars>
      </dgm:prSet>
      <dgm:spPr/>
    </dgm:pt>
    <dgm:pt modelId="{1BBB7A21-FD28-4653-AF4E-86F2FA825109}" type="pres">
      <dgm:prSet presAssocID="{68E645F6-41F1-40EC-851E-084E0D9DEFA5}" presName="sibTrans" presStyleCnt="0"/>
      <dgm:spPr/>
    </dgm:pt>
    <dgm:pt modelId="{33CBDEEF-A91D-45E4-9E51-39DDE09F77D0}" type="pres">
      <dgm:prSet presAssocID="{5A5EB512-6055-485C-98D3-A3D1DF9B8910}" presName="node" presStyleLbl="node1" presStyleIdx="3" presStyleCnt="7">
        <dgm:presLayoutVars>
          <dgm:bulletEnabled val="1"/>
        </dgm:presLayoutVars>
      </dgm:prSet>
      <dgm:spPr/>
    </dgm:pt>
    <dgm:pt modelId="{01CE185E-BDC1-4505-A070-9C8AA892AA4D}" type="pres">
      <dgm:prSet presAssocID="{C4B4D5DB-7CA1-41CC-BEA5-32A804976A52}" presName="sibTrans" presStyleCnt="0"/>
      <dgm:spPr/>
    </dgm:pt>
    <dgm:pt modelId="{DF9DA040-7D4F-4659-A522-27AF7613A15B}" type="pres">
      <dgm:prSet presAssocID="{A86B5596-7AFA-4ABC-B4F6-48554BCA0FD5}" presName="node" presStyleLbl="node1" presStyleIdx="4" presStyleCnt="7">
        <dgm:presLayoutVars>
          <dgm:bulletEnabled val="1"/>
        </dgm:presLayoutVars>
      </dgm:prSet>
      <dgm:spPr/>
    </dgm:pt>
    <dgm:pt modelId="{700B0154-1566-49EB-A5EE-E171A8D5841B}" type="pres">
      <dgm:prSet presAssocID="{4A75CD2F-A28E-4603-A729-9F1E715A34D1}" presName="sibTrans" presStyleCnt="0"/>
      <dgm:spPr/>
    </dgm:pt>
    <dgm:pt modelId="{3FEB2CF3-4E0D-4242-9138-34B8CC22E2AF}" type="pres">
      <dgm:prSet presAssocID="{7D15815B-5907-453B-8D69-9B407F16E16F}" presName="node" presStyleLbl="node1" presStyleIdx="5" presStyleCnt="7">
        <dgm:presLayoutVars>
          <dgm:bulletEnabled val="1"/>
        </dgm:presLayoutVars>
      </dgm:prSet>
      <dgm:spPr/>
    </dgm:pt>
    <dgm:pt modelId="{A45E9D59-960C-4D22-9199-D539C93898E0}" type="pres">
      <dgm:prSet presAssocID="{3595D8EE-7C74-431C-9CC8-90304206F2E2}" presName="sibTrans" presStyleCnt="0"/>
      <dgm:spPr/>
    </dgm:pt>
    <dgm:pt modelId="{E2AC1983-9AA8-4672-8EF6-48B7FC02E126}" type="pres">
      <dgm:prSet presAssocID="{2B6F76AE-802B-415C-B7DE-F47A8444A9BC}" presName="node" presStyleLbl="node1" presStyleIdx="6" presStyleCnt="7">
        <dgm:presLayoutVars>
          <dgm:bulletEnabled val="1"/>
        </dgm:presLayoutVars>
      </dgm:prSet>
      <dgm:spPr/>
    </dgm:pt>
  </dgm:ptLst>
  <dgm:cxnLst>
    <dgm:cxn modelId="{CE09651B-6F2D-444E-931D-0104202B2DE1}" srcId="{A6384A6D-99FF-40C6-B33E-ABF8C0A5357A}" destId="{2B6F76AE-802B-415C-B7DE-F47A8444A9BC}" srcOrd="6" destOrd="0" parTransId="{46ACC68E-3EB6-4013-BBD8-B687981523F3}" sibTransId="{148D81AF-3D53-481B-BB26-91B2F8CD60F0}"/>
    <dgm:cxn modelId="{72117F20-32F4-46E5-9C96-386E0204C17F}" type="presOf" srcId="{147FFDCC-C449-4CA9-B774-A48C9D160D09}" destId="{5E131E0C-D70A-428B-B962-EAFAB1439643}" srcOrd="0" destOrd="0" presId="urn:microsoft.com/office/officeart/2005/8/layout/default"/>
    <dgm:cxn modelId="{53406D26-F7CC-45AE-9575-2E1E4BA2A1A1}" srcId="{A6384A6D-99FF-40C6-B33E-ABF8C0A5357A}" destId="{A86B5596-7AFA-4ABC-B4F6-48554BCA0FD5}" srcOrd="4" destOrd="0" parTransId="{FEB0BAD8-BA7B-4214-8EE2-3DB73C2B60D3}" sibTransId="{4A75CD2F-A28E-4603-A729-9F1E715A34D1}"/>
    <dgm:cxn modelId="{0013132A-3F6F-451E-B525-7A5ED3006954}" srcId="{A6384A6D-99FF-40C6-B33E-ABF8C0A5357A}" destId="{87B295FA-A15F-4F8C-BC46-4842BCFDCF9A}" srcOrd="0" destOrd="0" parTransId="{CDECB385-85BE-4687-A124-87C7D33F6DB7}" sibTransId="{B10D7939-5735-41A9-B597-C113D2E366F7}"/>
    <dgm:cxn modelId="{470FE82E-6392-436B-9457-B75C0A04601A}" type="presOf" srcId="{7D15815B-5907-453B-8D69-9B407F16E16F}" destId="{3FEB2CF3-4E0D-4242-9138-34B8CC22E2AF}" srcOrd="0" destOrd="0" presId="urn:microsoft.com/office/officeart/2005/8/layout/default"/>
    <dgm:cxn modelId="{6B7A1831-6D43-4FDF-88C9-105E4ACDE21C}" srcId="{A6384A6D-99FF-40C6-B33E-ABF8C0A5357A}" destId="{050CCAEB-91D4-4CC9-ACD3-B8241DA95AB0}" srcOrd="1" destOrd="0" parTransId="{86C5862B-917B-46C4-87C6-A54CA5D77432}" sibTransId="{0D6B12D4-6C99-493B-992F-3A77683583D4}"/>
    <dgm:cxn modelId="{F676C932-9791-42EE-B008-73FE0B6C6C71}" type="presOf" srcId="{A6384A6D-99FF-40C6-B33E-ABF8C0A5357A}" destId="{B1E6687A-3961-4B21-A2DD-99C33A655E3E}" srcOrd="0" destOrd="0" presId="urn:microsoft.com/office/officeart/2005/8/layout/default"/>
    <dgm:cxn modelId="{99E93346-0F48-4F5E-A3A5-1215FA61DB0D}" srcId="{A6384A6D-99FF-40C6-B33E-ABF8C0A5357A}" destId="{5A5EB512-6055-485C-98D3-A3D1DF9B8910}" srcOrd="3" destOrd="0" parTransId="{C02A3E2F-2065-4F8A-AFAE-A009D2E47B8B}" sibTransId="{C4B4D5DB-7CA1-41CC-BEA5-32A804976A52}"/>
    <dgm:cxn modelId="{0891836F-5F08-4D29-861F-AED9DA3311DB}" srcId="{A6384A6D-99FF-40C6-B33E-ABF8C0A5357A}" destId="{147FFDCC-C449-4CA9-B774-A48C9D160D09}" srcOrd="2" destOrd="0" parTransId="{18614BFB-F26B-4D55-A191-D7F9CEB3AA8C}" sibTransId="{68E645F6-41F1-40EC-851E-084E0D9DEFA5}"/>
    <dgm:cxn modelId="{F3EB4451-296A-4DCD-A81D-4FD10F9DB0D8}" type="presOf" srcId="{050CCAEB-91D4-4CC9-ACD3-B8241DA95AB0}" destId="{D3149311-6112-45D4-A712-E74E32A6411A}" srcOrd="0" destOrd="0" presId="urn:microsoft.com/office/officeart/2005/8/layout/default"/>
    <dgm:cxn modelId="{0F393473-DB96-4FB2-8EA0-FE3D3D3B4F23}" type="presOf" srcId="{87B295FA-A15F-4F8C-BC46-4842BCFDCF9A}" destId="{3E90AC71-0391-4A4C-B326-8DA85CD7371F}" srcOrd="0" destOrd="0" presId="urn:microsoft.com/office/officeart/2005/8/layout/default"/>
    <dgm:cxn modelId="{7BD987A9-56EB-49CD-863A-DB120473E3F5}" srcId="{A6384A6D-99FF-40C6-B33E-ABF8C0A5357A}" destId="{7D15815B-5907-453B-8D69-9B407F16E16F}" srcOrd="5" destOrd="0" parTransId="{0F4B001A-81D2-447C-BBF1-F17192526036}" sibTransId="{3595D8EE-7C74-431C-9CC8-90304206F2E2}"/>
    <dgm:cxn modelId="{52679FB3-D13F-4461-95CA-19F48A7AD1BB}" type="presOf" srcId="{A86B5596-7AFA-4ABC-B4F6-48554BCA0FD5}" destId="{DF9DA040-7D4F-4659-A522-27AF7613A15B}" srcOrd="0" destOrd="0" presId="urn:microsoft.com/office/officeart/2005/8/layout/default"/>
    <dgm:cxn modelId="{24D9B2C8-E45A-45E4-9A64-B4A0EEDE1156}" type="presOf" srcId="{2B6F76AE-802B-415C-B7DE-F47A8444A9BC}" destId="{E2AC1983-9AA8-4672-8EF6-48B7FC02E126}" srcOrd="0" destOrd="0" presId="urn:microsoft.com/office/officeart/2005/8/layout/default"/>
    <dgm:cxn modelId="{09BB8AF8-E23F-4D09-9E83-0CDB6A3B5ECD}" type="presOf" srcId="{5A5EB512-6055-485C-98D3-A3D1DF9B8910}" destId="{33CBDEEF-A91D-45E4-9E51-39DDE09F77D0}" srcOrd="0" destOrd="0" presId="urn:microsoft.com/office/officeart/2005/8/layout/default"/>
    <dgm:cxn modelId="{2817D539-7569-41DB-B763-797E591AC700}" type="presParOf" srcId="{B1E6687A-3961-4B21-A2DD-99C33A655E3E}" destId="{3E90AC71-0391-4A4C-B326-8DA85CD7371F}" srcOrd="0" destOrd="0" presId="urn:microsoft.com/office/officeart/2005/8/layout/default"/>
    <dgm:cxn modelId="{73840715-E26E-4E18-B8C3-2B8386A79C59}" type="presParOf" srcId="{B1E6687A-3961-4B21-A2DD-99C33A655E3E}" destId="{37567053-9561-40BF-B87B-8505106992BA}" srcOrd="1" destOrd="0" presId="urn:microsoft.com/office/officeart/2005/8/layout/default"/>
    <dgm:cxn modelId="{A890B71D-32EF-4EDB-9E06-52B9114816E8}" type="presParOf" srcId="{B1E6687A-3961-4B21-A2DD-99C33A655E3E}" destId="{D3149311-6112-45D4-A712-E74E32A6411A}" srcOrd="2" destOrd="0" presId="urn:microsoft.com/office/officeart/2005/8/layout/default"/>
    <dgm:cxn modelId="{EE56C3F3-9BEC-473B-88C9-CB05F12AA066}" type="presParOf" srcId="{B1E6687A-3961-4B21-A2DD-99C33A655E3E}" destId="{33F90084-0B52-403E-BE4A-3778D322E7B6}" srcOrd="3" destOrd="0" presId="urn:microsoft.com/office/officeart/2005/8/layout/default"/>
    <dgm:cxn modelId="{D198CF0F-2A24-4988-8A17-EE26DA28221A}" type="presParOf" srcId="{B1E6687A-3961-4B21-A2DD-99C33A655E3E}" destId="{5E131E0C-D70A-428B-B962-EAFAB1439643}" srcOrd="4" destOrd="0" presId="urn:microsoft.com/office/officeart/2005/8/layout/default"/>
    <dgm:cxn modelId="{AC0A9B13-52DC-410A-9EC0-5E4EBA26C66E}" type="presParOf" srcId="{B1E6687A-3961-4B21-A2DD-99C33A655E3E}" destId="{1BBB7A21-FD28-4653-AF4E-86F2FA825109}" srcOrd="5" destOrd="0" presId="urn:microsoft.com/office/officeart/2005/8/layout/default"/>
    <dgm:cxn modelId="{7364E77C-93AC-4F77-BD45-BE0CA3CC4ACA}" type="presParOf" srcId="{B1E6687A-3961-4B21-A2DD-99C33A655E3E}" destId="{33CBDEEF-A91D-45E4-9E51-39DDE09F77D0}" srcOrd="6" destOrd="0" presId="urn:microsoft.com/office/officeart/2005/8/layout/default"/>
    <dgm:cxn modelId="{9813706D-DDD7-4C0E-A579-E6C2C14A4C31}" type="presParOf" srcId="{B1E6687A-3961-4B21-A2DD-99C33A655E3E}" destId="{01CE185E-BDC1-4505-A070-9C8AA892AA4D}" srcOrd="7" destOrd="0" presId="urn:microsoft.com/office/officeart/2005/8/layout/default"/>
    <dgm:cxn modelId="{46C7EC84-F066-42BE-9BF6-532BB5BC8D83}" type="presParOf" srcId="{B1E6687A-3961-4B21-A2DD-99C33A655E3E}" destId="{DF9DA040-7D4F-4659-A522-27AF7613A15B}" srcOrd="8" destOrd="0" presId="urn:microsoft.com/office/officeart/2005/8/layout/default"/>
    <dgm:cxn modelId="{33C2CF11-22B4-42FC-9CD2-437317CD07CB}" type="presParOf" srcId="{B1E6687A-3961-4B21-A2DD-99C33A655E3E}" destId="{700B0154-1566-49EB-A5EE-E171A8D5841B}" srcOrd="9" destOrd="0" presId="urn:microsoft.com/office/officeart/2005/8/layout/default"/>
    <dgm:cxn modelId="{4FC2AF19-5109-46E5-9029-5D6C860F8E8D}" type="presParOf" srcId="{B1E6687A-3961-4B21-A2DD-99C33A655E3E}" destId="{3FEB2CF3-4E0D-4242-9138-34B8CC22E2AF}" srcOrd="10" destOrd="0" presId="urn:microsoft.com/office/officeart/2005/8/layout/default"/>
    <dgm:cxn modelId="{B5BF07CF-EF9B-4745-96C3-71F4B6B7FA56}" type="presParOf" srcId="{B1E6687A-3961-4B21-A2DD-99C33A655E3E}" destId="{A45E9D59-960C-4D22-9199-D539C93898E0}" srcOrd="11" destOrd="0" presId="urn:microsoft.com/office/officeart/2005/8/layout/default"/>
    <dgm:cxn modelId="{810B2AC5-45C9-4410-B557-77C269D2F52D}" type="presParOf" srcId="{B1E6687A-3961-4B21-A2DD-99C33A655E3E}" destId="{E2AC1983-9AA8-4672-8EF6-48B7FC02E12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90AC71-0391-4A4C-B326-8DA85CD7371F}">
      <dsp:nvSpPr>
        <dsp:cNvPr id="0" name=""/>
        <dsp:cNvSpPr/>
      </dsp:nvSpPr>
      <dsp:spPr>
        <a:xfrm>
          <a:off x="749153" y="3413"/>
          <a:ext cx="2092988" cy="12557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Goal: package a small Python service + database as a reproducible multi-service environment.</a:t>
          </a:r>
        </a:p>
      </dsp:txBody>
      <dsp:txXfrm>
        <a:off x="749153" y="3413"/>
        <a:ext cx="2092988" cy="1255793"/>
      </dsp:txXfrm>
    </dsp:sp>
    <dsp:sp modelId="{D3149311-6112-45D4-A712-E74E32A6411A}">
      <dsp:nvSpPr>
        <dsp:cNvPr id="0" name=""/>
        <dsp:cNvSpPr/>
      </dsp:nvSpPr>
      <dsp:spPr>
        <a:xfrm>
          <a:off x="3051441" y="3413"/>
          <a:ext cx="2092988" cy="1255793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a Git repository (you may reuse the one from Assignment 1)</a:t>
          </a:r>
        </a:p>
      </dsp:txBody>
      <dsp:txXfrm>
        <a:off x="3051441" y="3413"/>
        <a:ext cx="2092988" cy="1255793"/>
      </dsp:txXfrm>
    </dsp:sp>
    <dsp:sp modelId="{5E131E0C-D70A-428B-B962-EAFAB1439643}">
      <dsp:nvSpPr>
        <dsp:cNvPr id="0" name=""/>
        <dsp:cNvSpPr/>
      </dsp:nvSpPr>
      <dsp:spPr>
        <a:xfrm>
          <a:off x="5353728" y="3413"/>
          <a:ext cx="2092988" cy="1255793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a Python container (Dockerfile)</a:t>
          </a:r>
        </a:p>
      </dsp:txBody>
      <dsp:txXfrm>
        <a:off x="5353728" y="3413"/>
        <a:ext cx="2092988" cy="1255793"/>
      </dsp:txXfrm>
    </dsp:sp>
    <dsp:sp modelId="{33CBDEEF-A91D-45E4-9E51-39DDE09F77D0}">
      <dsp:nvSpPr>
        <dsp:cNvPr id="0" name=""/>
        <dsp:cNvSpPr/>
      </dsp:nvSpPr>
      <dsp:spPr>
        <a:xfrm>
          <a:off x="749153" y="1468505"/>
          <a:ext cx="2092988" cy="1255793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Configure a PostgreSQL container</a:t>
          </a:r>
        </a:p>
      </dsp:txBody>
      <dsp:txXfrm>
        <a:off x="749153" y="1468505"/>
        <a:ext cx="2092988" cy="1255793"/>
      </dsp:txXfrm>
    </dsp:sp>
    <dsp:sp modelId="{DF9DA040-7D4F-4659-A522-27AF7613A15B}">
      <dsp:nvSpPr>
        <dsp:cNvPr id="0" name=""/>
        <dsp:cNvSpPr/>
      </dsp:nvSpPr>
      <dsp:spPr>
        <a:xfrm>
          <a:off x="3051441" y="1468505"/>
          <a:ext cx="2092988" cy="125579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Connect both services with Docker Compose</a:t>
          </a:r>
        </a:p>
      </dsp:txBody>
      <dsp:txXfrm>
        <a:off x="3051441" y="1468505"/>
        <a:ext cx="2092988" cy="1255793"/>
      </dsp:txXfrm>
    </dsp:sp>
    <dsp:sp modelId="{3FEB2CF3-4E0D-4242-9138-34B8CC22E2AF}">
      <dsp:nvSpPr>
        <dsp:cNvPr id="0" name=""/>
        <dsp:cNvSpPr/>
      </dsp:nvSpPr>
      <dsp:spPr>
        <a:xfrm>
          <a:off x="5353728" y="1468505"/>
          <a:ext cx="2092988" cy="1255793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Persist data using volumes</a:t>
          </a:r>
        </a:p>
      </dsp:txBody>
      <dsp:txXfrm>
        <a:off x="5353728" y="1468505"/>
        <a:ext cx="2092988" cy="1255793"/>
      </dsp:txXfrm>
    </dsp:sp>
    <dsp:sp modelId="{E2AC1983-9AA8-4672-8EF6-48B7FC02E126}">
      <dsp:nvSpPr>
        <dsp:cNvPr id="0" name=""/>
        <dsp:cNvSpPr/>
      </dsp:nvSpPr>
      <dsp:spPr>
        <a:xfrm>
          <a:off x="3051441" y="2933597"/>
          <a:ext cx="2092988" cy="125579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Migrating Data thus populating the Database</a:t>
          </a:r>
        </a:p>
      </dsp:txBody>
      <dsp:txXfrm>
        <a:off x="3051441" y="2933597"/>
        <a:ext cx="2092988" cy="1255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gvp" TargetMode="External"/><Relationship Id="rId2" Type="http://schemas.openxmlformats.org/officeDocument/2006/relationships/hyperlink" Target="mailto:p7392@ulusofona.p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5314EC-3866-C16D-AABF-509E855EA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pt-PT" sz="4200">
                <a:solidFill>
                  <a:srgbClr val="FFFFFF"/>
                </a:solidFill>
              </a:rPr>
              <a:t>Fundamentals in Data Engineering</a:t>
            </a:r>
            <a:endParaRPr lang="pt-BR" sz="42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368529-A030-BD38-C8C9-50A22C8AE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PT" sz="2700" b="1"/>
              <a:t>Thiago de Paiva</a:t>
            </a:r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2"/>
              </a:rPr>
              <a:t>p7392@ulusofona.pt</a:t>
            </a:r>
            <a:endParaRPr lang="pt-PT" sz="2700" b="1"/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3"/>
              </a:rPr>
              <a:t>https://github.com/tgvp</a:t>
            </a:r>
            <a:endParaRPr lang="pt-BR" sz="2700" b="1"/>
          </a:p>
        </p:txBody>
      </p:sp>
    </p:spTree>
    <p:extLst>
      <p:ext uri="{BB962C8B-B14F-4D97-AF65-F5344CB8AC3E}">
        <p14:creationId xmlns:p14="http://schemas.microsoft.com/office/powerpoint/2010/main" val="278631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r>
              <a:rPr lang="pt-PT" sz="3500" dirty="0" err="1">
                <a:solidFill>
                  <a:srgbClr val="FFFFFF"/>
                </a:solidFill>
              </a:rPr>
              <a:t>Assignment</a:t>
            </a:r>
            <a:endParaRPr lang="pt-PT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5954" y="0"/>
            <a:ext cx="4967472" cy="68478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Foundations for Modern Data Systems with focus on containers and microservices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/>
              <a:t>Second Assignment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1841C-CAAE-C373-F93B-75E7172B3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931ED0-9418-1C59-C2AE-D17165DE2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803F6D-1161-0D46-37B1-9DD2BB01B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66CD3C-AF25-D4F2-439A-9C4E1520F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0D9E36-60CC-C30D-F5EE-AEC166211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107E1-246F-9DD0-A384-2F273B67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Assignment</a:t>
            </a:r>
            <a:r>
              <a:rPr lang="pt-BR" sz="3500" dirty="0">
                <a:solidFill>
                  <a:srgbClr val="FFFFFF"/>
                </a:solidFill>
              </a:rPr>
              <a:t> 2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1377BB-B40A-A1FB-BB6C-1E7E3B49DA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77584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351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828C7-89AF-A8CE-255B-EF4A94D5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188390-8693-2C0B-5D38-08462F8F6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BA773-190E-A221-4C6B-A00E7E0B1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98AB6B-BE0F-6C62-2434-A7BAE1688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27FBC0-B657-A8BF-E4CF-921F7A1D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D90C1-BD3C-8EB5-5103-F684F2CDD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Project </a:t>
            </a:r>
            <a:r>
              <a:rPr lang="pt-BR" sz="3500" dirty="0" err="1">
                <a:solidFill>
                  <a:srgbClr val="FFFFFF"/>
                </a:solidFill>
              </a:rPr>
              <a:t>Structure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89500C-9890-EDDC-7560-98F5A2CBA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PT" dirty="0" err="1"/>
              <a:t>Make</a:t>
            </a:r>
            <a:r>
              <a:rPr lang="pt-PT" dirty="0"/>
              <a:t> </a:t>
            </a:r>
            <a:r>
              <a:rPr lang="pt-PT" dirty="0" err="1"/>
              <a:t>sure</a:t>
            </a:r>
            <a:r>
              <a:rPr lang="pt-PT" dirty="0"/>
              <a:t> </a:t>
            </a:r>
            <a:r>
              <a:rPr lang="pt-PT" dirty="0" err="1"/>
              <a:t>your</a:t>
            </a:r>
            <a:r>
              <a:rPr lang="pt-PT" dirty="0"/>
              <a:t> </a:t>
            </a:r>
            <a:r>
              <a:rPr lang="pt-PT" dirty="0" err="1"/>
              <a:t>project</a:t>
            </a:r>
            <a:r>
              <a:rPr lang="pt-PT" dirty="0"/>
              <a:t> </a:t>
            </a:r>
            <a:r>
              <a:rPr lang="pt-PT" dirty="0" err="1"/>
              <a:t>has</a:t>
            </a:r>
            <a:r>
              <a:rPr lang="pt-PT" dirty="0"/>
              <a:t> </a:t>
            </a: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structure</a:t>
            </a:r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lang="pt-PT" dirty="0" err="1"/>
              <a:t>Remember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.</a:t>
            </a:r>
            <a:r>
              <a:rPr lang="pt-PT" dirty="0" err="1"/>
              <a:t>env</a:t>
            </a:r>
            <a:r>
              <a:rPr lang="pt-PT" dirty="0"/>
              <a:t> in </a:t>
            </a:r>
            <a:r>
              <a:rPr lang="pt-PT" dirty="0" err="1"/>
              <a:t>unix</a:t>
            </a:r>
            <a:r>
              <a:rPr lang="pt-PT" dirty="0"/>
              <a:t> </a:t>
            </a:r>
            <a:r>
              <a:rPr lang="pt-PT" dirty="0" err="1"/>
              <a:t>systems</a:t>
            </a:r>
            <a:r>
              <a:rPr lang="pt-PT" dirty="0"/>
              <a:t> </a:t>
            </a:r>
            <a:r>
              <a:rPr lang="pt-PT" dirty="0" err="1"/>
              <a:t>will</a:t>
            </a:r>
            <a:r>
              <a:rPr lang="pt-PT" dirty="0"/>
              <a:t> </a:t>
            </a:r>
            <a:r>
              <a:rPr lang="pt-PT" dirty="0" err="1"/>
              <a:t>be</a:t>
            </a:r>
            <a:r>
              <a:rPr lang="pt-PT" dirty="0"/>
              <a:t> a </a:t>
            </a:r>
            <a:r>
              <a:rPr lang="pt-PT" dirty="0" err="1"/>
              <a:t>hidden</a:t>
            </a:r>
            <a:r>
              <a:rPr lang="pt-PT" dirty="0"/>
              <a:t> file (</a:t>
            </a:r>
            <a:r>
              <a:rPr lang="pt-PT" dirty="0" err="1"/>
              <a:t>occult</a:t>
            </a:r>
            <a:r>
              <a:rPr lang="pt-PT" dirty="0"/>
              <a:t>)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7CF25F-22AA-2D6F-BF89-F0ED5419FAF4}"/>
              </a:ext>
            </a:extLst>
          </p:cNvPr>
          <p:cNvSpPr txBox="1"/>
          <p:nvPr/>
        </p:nvSpPr>
        <p:spPr>
          <a:xfrm>
            <a:off x="2514600" y="2551837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/>
              <a:t>project</a:t>
            </a:r>
            <a:r>
              <a:rPr lang="pt-BR" b="1" dirty="0"/>
              <a:t>/</a:t>
            </a:r>
          </a:p>
          <a:p>
            <a:r>
              <a:rPr lang="pt-BR" b="1" dirty="0"/>
              <a:t>├─ </a:t>
            </a:r>
            <a:r>
              <a:rPr lang="pt-BR" b="1" dirty="0" err="1"/>
              <a:t>docker-compose.yml</a:t>
            </a:r>
            <a:endParaRPr lang="pt-BR" b="1" dirty="0"/>
          </a:p>
          <a:p>
            <a:r>
              <a:rPr lang="pt-BR" b="1" dirty="0"/>
              <a:t>├─ .</a:t>
            </a:r>
            <a:r>
              <a:rPr lang="pt-BR" b="1" dirty="0" err="1"/>
              <a:t>env</a:t>
            </a:r>
            <a:endParaRPr lang="pt-BR" b="1" dirty="0"/>
          </a:p>
          <a:p>
            <a:r>
              <a:rPr lang="pt-BR" b="1" dirty="0"/>
              <a:t> └─ </a:t>
            </a:r>
            <a:r>
              <a:rPr lang="pt-BR" b="1" dirty="0" err="1"/>
              <a:t>rsc</a:t>
            </a:r>
            <a:r>
              <a:rPr lang="pt-BR" b="1" dirty="0"/>
              <a:t>/</a:t>
            </a:r>
          </a:p>
          <a:p>
            <a:r>
              <a:rPr lang="pt-BR" b="1" dirty="0"/>
              <a:t>    └─ </a:t>
            </a:r>
            <a:r>
              <a:rPr lang="pt-BR" b="1" dirty="0" err="1"/>
              <a:t>sql</a:t>
            </a:r>
            <a:r>
              <a:rPr lang="pt-BR" b="1" dirty="0"/>
              <a:t>/</a:t>
            </a:r>
          </a:p>
          <a:p>
            <a:r>
              <a:rPr lang="pt-BR" b="1" dirty="0"/>
              <a:t>       └─ uni-</a:t>
            </a:r>
            <a:r>
              <a:rPr lang="pt-BR" b="1" dirty="0" err="1"/>
              <a:t>dump.sql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8645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B5604-ECE5-ABAA-F99B-3EF09B71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E93B18E-E82A-3790-84FC-0A6BFC897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D9E4D9-E1EF-969D-F3BF-CB8F24E13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7BA42-FEA2-2059-96FA-2753568F6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A074DF-8F49-CBD2-08BD-5D906A6F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8C30A-234B-5FBC-E8C8-D2AF45D9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Create</a:t>
            </a:r>
            <a:r>
              <a:rPr lang="pt-BR" sz="3500" dirty="0">
                <a:solidFill>
                  <a:srgbClr val="FFFFFF"/>
                </a:solidFill>
              </a:rPr>
              <a:t> .</a:t>
            </a:r>
            <a:r>
              <a:rPr lang="pt-BR" sz="3500" dirty="0" err="1">
                <a:solidFill>
                  <a:srgbClr val="FFFFFF"/>
                </a:solidFill>
              </a:rPr>
              <a:t>env</a:t>
            </a:r>
            <a:r>
              <a:rPr lang="pt-BR" sz="3500" dirty="0">
                <a:solidFill>
                  <a:srgbClr val="FFFFFF"/>
                </a:solidFill>
              </a:rPr>
              <a:t> file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8E656D-CBCF-6EA1-2DC8-47AAFB11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PT" dirty="0"/>
              <a:t>Use </a:t>
            </a:r>
            <a:r>
              <a:rPr lang="pt-PT" dirty="0" err="1"/>
              <a:t>any</a:t>
            </a:r>
            <a:r>
              <a:rPr lang="pt-PT" dirty="0"/>
              <a:t> </a:t>
            </a:r>
            <a:r>
              <a:rPr lang="pt-PT" dirty="0" err="1"/>
              <a:t>text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code</a:t>
            </a:r>
            <a:r>
              <a:rPr lang="pt-PT" dirty="0"/>
              <a:t> editor </a:t>
            </a:r>
            <a:r>
              <a:rPr lang="pt-PT" dirty="0" err="1"/>
              <a:t>you</a:t>
            </a:r>
            <a:r>
              <a:rPr lang="pt-PT" dirty="0"/>
              <a:t> </a:t>
            </a:r>
            <a:r>
              <a:rPr lang="pt-PT" dirty="0" err="1"/>
              <a:t>have</a:t>
            </a:r>
            <a:r>
              <a:rPr lang="pt-PT" dirty="0"/>
              <a:t> </a:t>
            </a:r>
            <a:r>
              <a:rPr lang="pt-PT" dirty="0" err="1"/>
              <a:t>installed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create</a:t>
            </a:r>
            <a:r>
              <a:rPr lang="pt-PT" dirty="0"/>
              <a:t> a file </a:t>
            </a:r>
            <a:r>
              <a:rPr lang="pt-PT" dirty="0" err="1"/>
              <a:t>named</a:t>
            </a:r>
            <a:r>
              <a:rPr lang="pt-PT" dirty="0"/>
              <a:t> </a:t>
            </a:r>
            <a:r>
              <a:rPr lang="pt-PT" b="1" dirty="0">
                <a:solidFill>
                  <a:srgbClr val="92D050"/>
                </a:solidFill>
              </a:rPr>
              <a:t>.</a:t>
            </a:r>
            <a:r>
              <a:rPr lang="pt-PT" b="1" dirty="0" err="1">
                <a:solidFill>
                  <a:srgbClr val="92D050"/>
                </a:solidFill>
              </a:rPr>
              <a:t>env</a:t>
            </a:r>
            <a:endParaRPr lang="pt-PT" b="1" dirty="0">
              <a:solidFill>
                <a:srgbClr val="92D050"/>
              </a:solidFill>
            </a:endParaRPr>
          </a:p>
          <a:p>
            <a:endParaRPr lang="pt-PT" b="1" dirty="0">
              <a:solidFill>
                <a:srgbClr val="92D050"/>
              </a:solidFill>
            </a:endParaRPr>
          </a:p>
          <a:p>
            <a:r>
              <a:rPr lang="pt-PT" dirty="0" err="1"/>
              <a:t>Put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following</a:t>
            </a:r>
            <a:r>
              <a:rPr lang="pt-PT" dirty="0"/>
              <a:t> contente </a:t>
            </a:r>
            <a:r>
              <a:rPr lang="pt-PT" dirty="0" err="1"/>
              <a:t>inside</a:t>
            </a:r>
            <a:r>
              <a:rPr lang="pt-PT" dirty="0"/>
              <a:t>:</a:t>
            </a:r>
          </a:p>
          <a:p>
            <a:endParaRPr lang="pt-PT" dirty="0"/>
          </a:p>
          <a:p>
            <a:pPr marL="0" indent="0">
              <a:buNone/>
            </a:pPr>
            <a:r>
              <a:rPr lang="pt-BR" dirty="0"/>
              <a:t>POSTGRES_DB=</a:t>
            </a:r>
            <a:r>
              <a:rPr lang="pt-BR" dirty="0" err="1"/>
              <a:t>labdb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POSTGRES_USER=</a:t>
            </a:r>
            <a:r>
              <a:rPr lang="pt-BR" dirty="0" err="1"/>
              <a:t>labuser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POSTGRES_PASSWORD=</a:t>
            </a:r>
            <a:r>
              <a:rPr lang="pt-BR" dirty="0" err="1"/>
              <a:t>labpass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POSTGRES_PORT=5432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ADMINER_PORT=8080</a:t>
            </a:r>
          </a:p>
        </p:txBody>
      </p:sp>
    </p:spTree>
    <p:extLst>
      <p:ext uri="{BB962C8B-B14F-4D97-AF65-F5344CB8AC3E}">
        <p14:creationId xmlns:p14="http://schemas.microsoft.com/office/powerpoint/2010/main" val="1125184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DCD77-2C12-6878-80F9-973229C4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66C7A6-AE0C-D248-BFC9-3339FE716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EE4969-36E5-CD64-440B-F7BE597D8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80B17A-5D17-DEFB-1B8B-2DF3095A6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154F76-6F39-A049-2154-351255C78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33DC5-52CB-8B38-9C0D-FBADAEA1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 dirty="0">
                <a:solidFill>
                  <a:srgbClr val="FFFFFF"/>
                </a:solidFill>
              </a:rPr>
              <a:t>C</a:t>
            </a:r>
            <a:r>
              <a:rPr lang="pt-BR" sz="3500" dirty="0">
                <a:solidFill>
                  <a:srgbClr val="FFFFFF"/>
                </a:solidFill>
              </a:rPr>
              <a:t>reate a .</a:t>
            </a:r>
            <a:r>
              <a:rPr lang="pt-BR" sz="3500" dirty="0" err="1">
                <a:solidFill>
                  <a:srgbClr val="FFFFFF"/>
                </a:solidFill>
              </a:rPr>
              <a:t>gitignore</a:t>
            </a:r>
            <a:r>
              <a:rPr lang="pt-BR" sz="3500" dirty="0">
                <a:solidFill>
                  <a:srgbClr val="FFFFFF"/>
                </a:solidFill>
              </a:rPr>
              <a:t> file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50410C-E19C-4E8B-F98C-88D8D4901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b="1" dirty="0"/>
              <a:t>.</a:t>
            </a:r>
            <a:r>
              <a:rPr lang="pt-PT" b="1" dirty="0" err="1"/>
              <a:t>gitignore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a </a:t>
            </a:r>
            <a:r>
              <a:rPr lang="pt-PT" dirty="0" err="1"/>
              <a:t>special</a:t>
            </a:r>
            <a:r>
              <a:rPr lang="pt-PT" dirty="0"/>
              <a:t> file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will</a:t>
            </a:r>
            <a:r>
              <a:rPr lang="pt-PT" dirty="0"/>
              <a:t> </a:t>
            </a:r>
            <a:r>
              <a:rPr lang="pt-PT" dirty="0" err="1"/>
              <a:t>prevent</a:t>
            </a:r>
            <a:r>
              <a:rPr lang="pt-PT" dirty="0"/>
              <a:t> </a:t>
            </a:r>
            <a:r>
              <a:rPr lang="pt-PT" dirty="0" err="1"/>
              <a:t>git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tracking</a:t>
            </a:r>
            <a:r>
              <a:rPr lang="pt-PT" dirty="0"/>
              <a:t> files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don’t</a:t>
            </a:r>
            <a:r>
              <a:rPr lang="pt-PT" dirty="0"/>
              <a:t> </a:t>
            </a:r>
            <a:r>
              <a:rPr lang="pt-PT" dirty="0" err="1"/>
              <a:t>want</a:t>
            </a:r>
            <a:r>
              <a:rPr lang="pt-PT" dirty="0"/>
              <a:t> to </a:t>
            </a:r>
            <a:r>
              <a:rPr lang="pt-PT" dirty="0" err="1"/>
              <a:t>commit</a:t>
            </a:r>
            <a:r>
              <a:rPr lang="pt-PT" dirty="0"/>
              <a:t>.</a:t>
            </a:r>
          </a:p>
          <a:p>
            <a:endParaRPr lang="pt-PT" dirty="0"/>
          </a:p>
          <a:p>
            <a:r>
              <a:rPr lang="pt-PT" dirty="0"/>
              <a:t>Use </a:t>
            </a:r>
            <a:r>
              <a:rPr lang="pt-PT" dirty="0" err="1"/>
              <a:t>any</a:t>
            </a:r>
            <a:r>
              <a:rPr lang="pt-PT" dirty="0"/>
              <a:t> </a:t>
            </a:r>
            <a:r>
              <a:rPr lang="pt-PT" dirty="0" err="1"/>
              <a:t>text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code</a:t>
            </a:r>
            <a:r>
              <a:rPr lang="pt-PT" dirty="0"/>
              <a:t> editor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create</a:t>
            </a:r>
            <a:r>
              <a:rPr lang="pt-PT" dirty="0"/>
              <a:t> a file </a:t>
            </a:r>
            <a:r>
              <a:rPr lang="pt-PT" dirty="0" err="1"/>
              <a:t>named</a:t>
            </a:r>
            <a:r>
              <a:rPr lang="pt-PT" dirty="0"/>
              <a:t> </a:t>
            </a:r>
            <a:r>
              <a:rPr lang="pt-PT" b="1" dirty="0">
                <a:solidFill>
                  <a:srgbClr val="92D050"/>
                </a:solidFill>
              </a:rPr>
              <a:t>.</a:t>
            </a:r>
            <a:r>
              <a:rPr lang="pt-PT" b="1" dirty="0" err="1">
                <a:solidFill>
                  <a:srgbClr val="92D050"/>
                </a:solidFill>
              </a:rPr>
              <a:t>gitignore</a:t>
            </a:r>
            <a:endParaRPr lang="pt-PT" b="1" dirty="0">
              <a:solidFill>
                <a:srgbClr val="92D050"/>
              </a:solidFill>
            </a:endParaRPr>
          </a:p>
          <a:p>
            <a:endParaRPr lang="pt-PT" b="1" dirty="0">
              <a:solidFill>
                <a:srgbClr val="92D050"/>
              </a:solidFill>
            </a:endParaRPr>
          </a:p>
          <a:p>
            <a:r>
              <a:rPr lang="pt-PT" b="1" dirty="0" err="1"/>
              <a:t>Put</a:t>
            </a:r>
            <a:r>
              <a:rPr lang="pt-PT" b="1" dirty="0"/>
              <a:t> </a:t>
            </a:r>
            <a:r>
              <a:rPr lang="pt-PT" b="1" dirty="0">
                <a:solidFill>
                  <a:srgbClr val="92D050"/>
                </a:solidFill>
              </a:rPr>
              <a:t>.</a:t>
            </a:r>
            <a:r>
              <a:rPr lang="pt-PT" b="1" dirty="0" err="1">
                <a:solidFill>
                  <a:srgbClr val="92D050"/>
                </a:solidFill>
              </a:rPr>
              <a:t>env</a:t>
            </a:r>
            <a:r>
              <a:rPr lang="pt-PT" b="1" dirty="0"/>
              <a:t> </a:t>
            </a:r>
            <a:r>
              <a:rPr lang="pt-PT" b="1" dirty="0" err="1"/>
              <a:t>inside</a:t>
            </a:r>
            <a:r>
              <a:rPr lang="pt-PT" b="1" dirty="0"/>
              <a:t> </a:t>
            </a:r>
            <a:r>
              <a:rPr lang="pt-PT" b="1" dirty="0" err="1"/>
              <a:t>it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304937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3D59C-A3C6-6A5A-B431-1A79EE62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D0C725-0434-AB70-F818-7BE0FFAE8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B41342-401A-4F3C-5BFF-E8388468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3417E6-9B91-8DDD-7526-5B15F89D0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96709-6D7B-2242-ACF9-5A0660CF0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FC2EA-D74A-B19C-96E4-FFB4968AF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 fontScale="90000"/>
          </a:bodyPr>
          <a:lstStyle/>
          <a:p>
            <a:r>
              <a:rPr lang="pt-PT" sz="3500" dirty="0" err="1">
                <a:solidFill>
                  <a:srgbClr val="FFFFFF"/>
                </a:solidFill>
              </a:rPr>
              <a:t>Commit</a:t>
            </a:r>
            <a:r>
              <a:rPr lang="pt-PT" sz="3500" dirty="0">
                <a:solidFill>
                  <a:srgbClr val="FFFFFF"/>
                </a:solidFill>
              </a:rPr>
              <a:t> </a:t>
            </a:r>
            <a:r>
              <a:rPr lang="pt-PT" sz="3500" dirty="0" err="1">
                <a:solidFill>
                  <a:srgbClr val="FFFFFF"/>
                </a:solidFill>
              </a:rPr>
              <a:t>and</a:t>
            </a:r>
            <a:r>
              <a:rPr lang="pt-PT" sz="3500" dirty="0">
                <a:solidFill>
                  <a:srgbClr val="FFFFFF"/>
                </a:solidFill>
              </a:rPr>
              <a:t> </a:t>
            </a:r>
            <a:r>
              <a:rPr lang="pt-PT" sz="3500" dirty="0" err="1">
                <a:solidFill>
                  <a:srgbClr val="FFFFFF"/>
                </a:solidFill>
              </a:rPr>
              <a:t>push</a:t>
            </a:r>
            <a:r>
              <a:rPr lang="pt-PT" sz="3500" dirty="0">
                <a:solidFill>
                  <a:srgbClr val="FFFFFF"/>
                </a:solidFill>
              </a:rPr>
              <a:t> .</a:t>
            </a:r>
            <a:r>
              <a:rPr lang="pt-PT" sz="3500" dirty="0" err="1">
                <a:solidFill>
                  <a:srgbClr val="FFFFFF"/>
                </a:solidFill>
              </a:rPr>
              <a:t>gitignore</a:t>
            </a:r>
            <a:r>
              <a:rPr lang="pt-PT" sz="3500" dirty="0">
                <a:solidFill>
                  <a:srgbClr val="FFFFFF"/>
                </a:solidFill>
              </a:rPr>
              <a:t> to </a:t>
            </a:r>
            <a:r>
              <a:rPr lang="pt-PT" sz="3500" dirty="0" err="1">
                <a:solidFill>
                  <a:srgbClr val="FFFFFF"/>
                </a:solidFill>
              </a:rPr>
              <a:t>the</a:t>
            </a:r>
            <a:r>
              <a:rPr lang="pt-PT" sz="3500" dirty="0">
                <a:solidFill>
                  <a:srgbClr val="FFFFFF"/>
                </a:solidFill>
              </a:rPr>
              <a:t> </a:t>
            </a:r>
            <a:r>
              <a:rPr lang="pt-PT" sz="3500" dirty="0" err="1">
                <a:solidFill>
                  <a:srgbClr val="FFFFFF"/>
                </a:solidFill>
              </a:rPr>
              <a:t>repository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6DA323-D6AA-3955-BE83-322846BC8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PT" dirty="0"/>
          </a:p>
          <a:p>
            <a:pPr marL="0" indent="0">
              <a:buNone/>
            </a:pPr>
            <a:r>
              <a:rPr lang="pt-PT" b="1" dirty="0"/>
              <a:t>In </a:t>
            </a:r>
            <a:r>
              <a:rPr lang="pt-PT" b="1" dirty="0" err="1"/>
              <a:t>the</a:t>
            </a:r>
            <a:r>
              <a:rPr lang="pt-PT" b="1" dirty="0"/>
              <a:t> </a:t>
            </a:r>
            <a:r>
              <a:rPr lang="pt-PT" b="1" dirty="0" err="1"/>
              <a:t>project</a:t>
            </a:r>
            <a:r>
              <a:rPr lang="pt-PT" b="1" dirty="0"/>
              <a:t> </a:t>
            </a:r>
            <a:r>
              <a:rPr lang="pt-PT" b="1" dirty="0" err="1"/>
              <a:t>root</a:t>
            </a:r>
            <a:r>
              <a:rPr lang="pt-PT" b="1" dirty="0"/>
              <a:t>:</a:t>
            </a:r>
          </a:p>
          <a:p>
            <a:r>
              <a:rPr lang="pt-PT" dirty="0"/>
              <a:t>1.</a:t>
            </a:r>
            <a:r>
              <a:rPr lang="pt-PT" b="1" dirty="0"/>
              <a:t> </a:t>
            </a:r>
            <a:r>
              <a:rPr lang="pt-BR" dirty="0" err="1"/>
              <a:t>Pull</a:t>
            </a:r>
            <a:r>
              <a:rPr lang="pt-BR" dirty="0"/>
              <a:t> updates </a:t>
            </a:r>
            <a:r>
              <a:rPr lang="pt-BR" dirty="0" err="1"/>
              <a:t>with</a:t>
            </a:r>
            <a:r>
              <a:rPr lang="pt-BR" b="1" dirty="0"/>
              <a:t> </a:t>
            </a:r>
            <a:r>
              <a:rPr lang="pt-BR" b="1" dirty="0" err="1">
                <a:solidFill>
                  <a:srgbClr val="92D050"/>
                </a:solidFill>
              </a:rPr>
              <a:t>git</a:t>
            </a:r>
            <a:r>
              <a:rPr lang="pt-BR" b="1" dirty="0">
                <a:solidFill>
                  <a:srgbClr val="92D050"/>
                </a:solidFill>
              </a:rPr>
              <a:t> </a:t>
            </a:r>
            <a:r>
              <a:rPr lang="pt-BR" b="1" dirty="0" err="1">
                <a:solidFill>
                  <a:srgbClr val="92D050"/>
                </a:solidFill>
              </a:rPr>
              <a:t>pull</a:t>
            </a:r>
            <a:endParaRPr lang="pt-BR" b="1" dirty="0">
              <a:solidFill>
                <a:srgbClr val="92D050"/>
              </a:solidFill>
            </a:endParaRPr>
          </a:p>
          <a:p>
            <a:r>
              <a:rPr lang="pt-BR" dirty="0"/>
              <a:t>2. </a:t>
            </a:r>
            <a:r>
              <a:rPr lang="pt-BR" dirty="0" err="1"/>
              <a:t>Add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.</a:t>
            </a:r>
            <a:r>
              <a:rPr lang="pt-BR" dirty="0" err="1"/>
              <a:t>gitignore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b="1" dirty="0" err="1">
                <a:solidFill>
                  <a:srgbClr val="92D050"/>
                </a:solidFill>
              </a:rPr>
              <a:t>git</a:t>
            </a:r>
            <a:r>
              <a:rPr lang="pt-BR" b="1" dirty="0">
                <a:solidFill>
                  <a:srgbClr val="92D050"/>
                </a:solidFill>
              </a:rPr>
              <a:t> </a:t>
            </a:r>
            <a:r>
              <a:rPr lang="pt-BR" b="1" dirty="0" err="1">
                <a:solidFill>
                  <a:srgbClr val="92D050"/>
                </a:solidFill>
              </a:rPr>
              <a:t>add</a:t>
            </a:r>
            <a:r>
              <a:rPr lang="pt-BR" b="1" dirty="0">
                <a:solidFill>
                  <a:srgbClr val="92D050"/>
                </a:solidFill>
              </a:rPr>
              <a:t> .</a:t>
            </a:r>
            <a:r>
              <a:rPr lang="pt-BR" b="1" dirty="0" err="1">
                <a:solidFill>
                  <a:srgbClr val="92D050"/>
                </a:solidFill>
              </a:rPr>
              <a:t>gitignore</a:t>
            </a:r>
            <a:endParaRPr lang="pt-BR" b="1" dirty="0">
              <a:solidFill>
                <a:srgbClr val="92D050"/>
              </a:solidFill>
            </a:endParaRPr>
          </a:p>
          <a:p>
            <a:r>
              <a:rPr lang="pt-BR" dirty="0"/>
              <a:t>3. </a:t>
            </a:r>
            <a:r>
              <a:rPr lang="pt-BR" dirty="0" err="1"/>
              <a:t>Commit</a:t>
            </a:r>
            <a:r>
              <a:rPr lang="pt-BR" dirty="0"/>
              <a:t>: </a:t>
            </a:r>
            <a:r>
              <a:rPr lang="pt-BR" b="1" dirty="0" err="1">
                <a:solidFill>
                  <a:srgbClr val="92D050"/>
                </a:solidFill>
              </a:rPr>
              <a:t>git</a:t>
            </a:r>
            <a:r>
              <a:rPr lang="pt-BR" b="1" dirty="0">
                <a:solidFill>
                  <a:srgbClr val="92D050"/>
                </a:solidFill>
              </a:rPr>
              <a:t> </a:t>
            </a:r>
            <a:r>
              <a:rPr lang="pt-BR" b="1" dirty="0" err="1">
                <a:solidFill>
                  <a:srgbClr val="92D050"/>
                </a:solidFill>
              </a:rPr>
              <a:t>commit</a:t>
            </a:r>
            <a:r>
              <a:rPr lang="pt-BR" b="1" dirty="0">
                <a:solidFill>
                  <a:srgbClr val="92D050"/>
                </a:solidFill>
              </a:rPr>
              <a:t> –m “</a:t>
            </a:r>
            <a:r>
              <a:rPr lang="pt-BR" b="1" dirty="0" err="1">
                <a:solidFill>
                  <a:srgbClr val="92D050"/>
                </a:solidFill>
              </a:rPr>
              <a:t>commit</a:t>
            </a:r>
            <a:r>
              <a:rPr lang="pt-BR" b="1" dirty="0">
                <a:solidFill>
                  <a:srgbClr val="92D050"/>
                </a:solidFill>
              </a:rPr>
              <a:t> </a:t>
            </a:r>
            <a:r>
              <a:rPr lang="pt-BR" b="1" dirty="0" err="1">
                <a:solidFill>
                  <a:srgbClr val="92D050"/>
                </a:solidFill>
              </a:rPr>
              <a:t>message</a:t>
            </a:r>
            <a:r>
              <a:rPr lang="pt-BR" b="1" dirty="0">
                <a:solidFill>
                  <a:srgbClr val="92D050"/>
                </a:solidFill>
              </a:rPr>
              <a:t>”</a:t>
            </a:r>
          </a:p>
          <a:p>
            <a:r>
              <a:rPr lang="pt-BR" dirty="0"/>
              <a:t>4. </a:t>
            </a:r>
            <a:r>
              <a:rPr lang="pt-BR" dirty="0" err="1"/>
              <a:t>Push</a:t>
            </a:r>
            <a:r>
              <a:rPr lang="pt-BR" dirty="0"/>
              <a:t>: </a:t>
            </a:r>
            <a:r>
              <a:rPr lang="pt-BR" b="1" dirty="0" err="1">
                <a:solidFill>
                  <a:srgbClr val="92D050"/>
                </a:solidFill>
              </a:rPr>
              <a:t>git</a:t>
            </a:r>
            <a:r>
              <a:rPr lang="pt-BR" b="1" dirty="0">
                <a:solidFill>
                  <a:srgbClr val="92D050"/>
                </a:solidFill>
              </a:rPr>
              <a:t> </a:t>
            </a:r>
            <a:r>
              <a:rPr lang="pt-BR" b="1" dirty="0" err="1">
                <a:solidFill>
                  <a:srgbClr val="92D050"/>
                </a:solidFill>
              </a:rPr>
              <a:t>push</a:t>
            </a:r>
            <a:r>
              <a:rPr lang="pt-BR" b="1" dirty="0">
                <a:solidFill>
                  <a:srgbClr val="92D050"/>
                </a:solidFill>
              </a:rPr>
              <a:t> </a:t>
            </a:r>
            <a:r>
              <a:rPr lang="pt-BR" b="1" dirty="0" err="1">
                <a:solidFill>
                  <a:srgbClr val="92D050"/>
                </a:solidFill>
              </a:rPr>
              <a:t>origin</a:t>
            </a:r>
            <a:r>
              <a:rPr lang="pt-BR" b="1" dirty="0">
                <a:solidFill>
                  <a:srgbClr val="92D050"/>
                </a:solidFill>
              </a:rPr>
              <a:t> </a:t>
            </a:r>
            <a:r>
              <a:rPr lang="pt-BR" b="1" dirty="0" err="1">
                <a:solidFill>
                  <a:srgbClr val="92D050"/>
                </a:solidFill>
              </a:rPr>
              <a:t>main</a:t>
            </a:r>
            <a:endParaRPr lang="pt-BR" b="1" dirty="0">
              <a:solidFill>
                <a:srgbClr val="92D050"/>
              </a:solidFill>
            </a:endParaRPr>
          </a:p>
          <a:p>
            <a:endParaRPr lang="pt-PT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74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B76A5-0BDC-B754-812E-477E83A9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080232-4042-FDB7-A573-63357B12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9714FF-4DA3-C269-D129-719FFAD07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F85BF0-8AFF-DAC2-447B-C03D20EB1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36FC8-5FE2-269F-8090-EE368DDC6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0842D-C082-5081-451D-D136DA1C4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 dirty="0" err="1">
                <a:solidFill>
                  <a:srgbClr val="FFFFFF"/>
                </a:solidFill>
              </a:rPr>
              <a:t>Security</a:t>
            </a:r>
            <a:r>
              <a:rPr lang="pt-PT" sz="3500" dirty="0">
                <a:solidFill>
                  <a:srgbClr val="FFFFFF"/>
                </a:solidFill>
              </a:rPr>
              <a:t> </a:t>
            </a:r>
            <a:r>
              <a:rPr lang="pt-PT" sz="3500" dirty="0" err="1">
                <a:solidFill>
                  <a:srgbClr val="FFFFFF"/>
                </a:solidFill>
              </a:rPr>
              <a:t>by</a:t>
            </a:r>
            <a:r>
              <a:rPr lang="pt-PT" sz="3500" dirty="0">
                <a:solidFill>
                  <a:srgbClr val="FFFFFF"/>
                </a:solidFill>
              </a:rPr>
              <a:t> </a:t>
            </a:r>
            <a:r>
              <a:rPr lang="pt-PT" sz="3500" dirty="0" err="1">
                <a:solidFill>
                  <a:srgbClr val="FFFFFF"/>
                </a:solidFill>
              </a:rPr>
              <a:t>obscurity</a:t>
            </a:r>
            <a:r>
              <a:rPr lang="pt-PT" sz="3500" dirty="0">
                <a:solidFill>
                  <a:srgbClr val="FFFFFF"/>
                </a:solidFill>
              </a:rPr>
              <a:t>?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826A7C-6853-7E00-AEB4-D67E7FE08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pt-PT" dirty="0"/>
          </a:p>
          <a:p>
            <a:pPr marL="0" indent="0">
              <a:buNone/>
            </a:pPr>
            <a:r>
              <a:rPr lang="pt-PT" b="1" dirty="0" err="1"/>
              <a:t>Security</a:t>
            </a:r>
            <a:r>
              <a:rPr lang="pt-PT" b="1" dirty="0"/>
              <a:t> </a:t>
            </a:r>
            <a:r>
              <a:rPr lang="pt-PT" b="1" dirty="0" err="1"/>
              <a:t>by</a:t>
            </a:r>
            <a:r>
              <a:rPr lang="pt-PT" b="1" dirty="0"/>
              <a:t> </a:t>
            </a:r>
            <a:r>
              <a:rPr lang="pt-PT" b="1" dirty="0" err="1"/>
              <a:t>obscurity</a:t>
            </a:r>
            <a:r>
              <a:rPr lang="pt-PT" b="1" dirty="0"/>
              <a:t> </a:t>
            </a:r>
            <a:r>
              <a:rPr lang="pt-PT" b="1" dirty="0" err="1"/>
              <a:t>is</a:t>
            </a:r>
            <a:r>
              <a:rPr lang="pt-PT" b="1" dirty="0"/>
              <a:t> </a:t>
            </a:r>
            <a:r>
              <a:rPr lang="pt-PT" b="1" dirty="0" err="1"/>
              <a:t>fragile</a:t>
            </a:r>
            <a:r>
              <a:rPr lang="pt-PT" b="1" dirty="0"/>
              <a:t>…</a:t>
            </a:r>
          </a:p>
          <a:p>
            <a:pPr marL="0" indent="0">
              <a:buNone/>
            </a:pPr>
            <a:endParaRPr lang="pt-PT" b="1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pt-PT" b="1" dirty="0" err="1"/>
              <a:t>Security</a:t>
            </a:r>
            <a:r>
              <a:rPr lang="pt-PT" b="1" dirty="0"/>
              <a:t> </a:t>
            </a:r>
            <a:r>
              <a:rPr lang="pt-PT" b="1" dirty="0" err="1"/>
              <a:t>is</a:t>
            </a:r>
            <a:r>
              <a:rPr lang="pt-PT" b="1" dirty="0"/>
              <a:t> </a:t>
            </a:r>
            <a:r>
              <a:rPr lang="pt-PT" b="1" dirty="0" err="1"/>
              <a:t>not</a:t>
            </a:r>
            <a:r>
              <a:rPr lang="pt-PT" b="1" dirty="0"/>
              <a:t> </a:t>
            </a:r>
            <a:r>
              <a:rPr lang="pt-PT" b="1" dirty="0" err="1"/>
              <a:t>achieved</a:t>
            </a:r>
            <a:r>
              <a:rPr lang="pt-PT" b="1" dirty="0"/>
              <a:t> </a:t>
            </a:r>
            <a:r>
              <a:rPr lang="pt-PT" b="1" dirty="0" err="1"/>
              <a:t>here</a:t>
            </a:r>
            <a:r>
              <a:rPr lang="pt-PT" b="1" dirty="0"/>
              <a:t> </a:t>
            </a:r>
            <a:r>
              <a:rPr lang="pt-PT" b="1" dirty="0" err="1"/>
              <a:t>by</a:t>
            </a:r>
            <a:r>
              <a:rPr lang="pt-PT" b="1" dirty="0"/>
              <a:t> </a:t>
            </a:r>
            <a:r>
              <a:rPr lang="pt-PT" b="1" dirty="0" err="1"/>
              <a:t>hiding</a:t>
            </a:r>
            <a:r>
              <a:rPr lang="pt-PT" b="1" dirty="0"/>
              <a:t> </a:t>
            </a:r>
            <a:r>
              <a:rPr lang="pt-PT" b="1" dirty="0" err="1"/>
              <a:t>the</a:t>
            </a:r>
            <a:r>
              <a:rPr lang="pt-PT" b="1" dirty="0"/>
              <a:t> </a:t>
            </a:r>
            <a:r>
              <a:rPr lang="pt-PT" b="1" dirty="0" err="1"/>
              <a:t>code</a:t>
            </a:r>
            <a:r>
              <a:rPr lang="pt-PT" b="1" dirty="0"/>
              <a:t>, </a:t>
            </a:r>
            <a:r>
              <a:rPr lang="pt-PT" b="1" dirty="0" err="1"/>
              <a:t>but</a:t>
            </a:r>
            <a:r>
              <a:rPr lang="pt-PT" b="1" dirty="0"/>
              <a:t> </a:t>
            </a:r>
            <a:r>
              <a:rPr lang="pt-PT" b="1" dirty="0" err="1"/>
              <a:t>controlling</a:t>
            </a:r>
            <a:r>
              <a:rPr lang="pt-PT" b="1" dirty="0"/>
              <a:t> </a:t>
            </a:r>
            <a:r>
              <a:rPr lang="pt-PT" b="1" dirty="0" err="1"/>
              <a:t>the</a:t>
            </a:r>
            <a:r>
              <a:rPr lang="pt-PT" b="1" dirty="0"/>
              <a:t> </a:t>
            </a:r>
            <a:r>
              <a:rPr lang="pt-PT" b="1" dirty="0" err="1"/>
              <a:t>access</a:t>
            </a:r>
            <a:r>
              <a:rPr lang="pt-PT" b="1" dirty="0"/>
              <a:t>.</a:t>
            </a:r>
          </a:p>
          <a:p>
            <a:pPr marL="0" indent="0">
              <a:buNone/>
            </a:pPr>
            <a:endParaRPr lang="pt-PT" b="1" dirty="0">
              <a:solidFill>
                <a:srgbClr val="92D050"/>
              </a:solidFill>
            </a:endParaRPr>
          </a:p>
          <a:p>
            <a:pPr marL="0" indent="0" algn="just">
              <a:buNone/>
            </a:pPr>
            <a:r>
              <a:rPr lang="pt-PT" b="1" dirty="0">
                <a:solidFill>
                  <a:srgbClr val="FF0000"/>
                </a:solidFill>
              </a:rPr>
              <a:t>.</a:t>
            </a:r>
            <a:r>
              <a:rPr lang="pt-PT" b="1" dirty="0" err="1">
                <a:solidFill>
                  <a:srgbClr val="FF0000"/>
                </a:solidFill>
              </a:rPr>
              <a:t>env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will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not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protect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your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application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against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someone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that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has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access</a:t>
            </a:r>
            <a:r>
              <a:rPr lang="pt-PT" b="1" dirty="0">
                <a:solidFill>
                  <a:srgbClr val="FF0000"/>
                </a:solidFill>
              </a:rPr>
              <a:t> to </a:t>
            </a:r>
            <a:r>
              <a:rPr lang="pt-PT" b="1" dirty="0" err="1">
                <a:solidFill>
                  <a:srgbClr val="FF0000"/>
                </a:solidFill>
              </a:rPr>
              <a:t>it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but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at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least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we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will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not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exposure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it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by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accident</a:t>
            </a:r>
            <a:r>
              <a:rPr lang="pt-PT" b="1" dirty="0">
                <a:solidFill>
                  <a:srgbClr val="FF0000"/>
                </a:solidFill>
              </a:rPr>
              <a:t> to </a:t>
            </a:r>
            <a:r>
              <a:rPr lang="pt-PT" b="1" dirty="0" err="1">
                <a:solidFill>
                  <a:srgbClr val="FF0000"/>
                </a:solidFill>
              </a:rPr>
              <a:t>everyone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on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github</a:t>
            </a:r>
            <a:r>
              <a:rPr lang="pt-PT" b="1" dirty="0">
                <a:solidFill>
                  <a:srgbClr val="FF0000"/>
                </a:solidFill>
              </a:rPr>
              <a:t>.</a:t>
            </a:r>
          </a:p>
          <a:p>
            <a:pPr marL="0" indent="0" algn="just">
              <a:buNone/>
            </a:pPr>
            <a:endParaRPr lang="pt-P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47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E2801-2EEC-78DA-08E5-DC72A0D39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584446-DB60-6617-F970-B2E5B8CDF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6FF31E-614F-A7CB-64E6-A9717C14B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A74017-4F5A-22EB-E0A9-A91DE331B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BD3857-64BF-E264-DD4B-9F8861194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D057C-D426-73A2-58FD-1824FC47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 dirty="0" err="1">
                <a:solidFill>
                  <a:srgbClr val="FFFFFF"/>
                </a:solidFill>
              </a:rPr>
              <a:t>Security</a:t>
            </a:r>
            <a:r>
              <a:rPr lang="pt-PT" sz="3500" dirty="0">
                <a:solidFill>
                  <a:srgbClr val="FFFFFF"/>
                </a:solidFill>
              </a:rPr>
              <a:t> </a:t>
            </a:r>
            <a:r>
              <a:rPr lang="pt-PT" sz="3500" dirty="0" err="1">
                <a:solidFill>
                  <a:srgbClr val="FFFFFF"/>
                </a:solidFill>
              </a:rPr>
              <a:t>by</a:t>
            </a:r>
            <a:r>
              <a:rPr lang="pt-PT" sz="3500" dirty="0">
                <a:solidFill>
                  <a:srgbClr val="FFFFFF"/>
                </a:solidFill>
              </a:rPr>
              <a:t> </a:t>
            </a:r>
            <a:r>
              <a:rPr lang="pt-PT" sz="3500" dirty="0" err="1">
                <a:solidFill>
                  <a:srgbClr val="FFFFFF"/>
                </a:solidFill>
              </a:rPr>
              <a:t>obscurity</a:t>
            </a:r>
            <a:r>
              <a:rPr lang="pt-PT" sz="3500" dirty="0">
                <a:solidFill>
                  <a:srgbClr val="FFFFFF"/>
                </a:solidFill>
              </a:rPr>
              <a:t>?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7A7CD5-7279-42CD-63D3-C1F73BB60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PT" b="1" dirty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pt-PT" b="1" dirty="0">
              <a:solidFill>
                <a:srgbClr val="92D050"/>
              </a:solidFill>
            </a:endParaRPr>
          </a:p>
          <a:p>
            <a:pPr marL="0" indent="0" algn="just">
              <a:buNone/>
            </a:pPr>
            <a:r>
              <a:rPr lang="pt-PT" b="1" dirty="0">
                <a:solidFill>
                  <a:srgbClr val="FF0000"/>
                </a:solidFill>
              </a:rPr>
              <a:t>.</a:t>
            </a:r>
            <a:r>
              <a:rPr lang="pt-PT" b="1" dirty="0" err="1">
                <a:solidFill>
                  <a:srgbClr val="FF0000"/>
                </a:solidFill>
              </a:rPr>
              <a:t>env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will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not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protect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your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application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against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someone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that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has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access</a:t>
            </a:r>
            <a:r>
              <a:rPr lang="pt-PT" b="1" dirty="0">
                <a:solidFill>
                  <a:srgbClr val="FF0000"/>
                </a:solidFill>
              </a:rPr>
              <a:t> to </a:t>
            </a:r>
            <a:r>
              <a:rPr lang="pt-PT" b="1" dirty="0" err="1">
                <a:solidFill>
                  <a:srgbClr val="FF0000"/>
                </a:solidFill>
              </a:rPr>
              <a:t>it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but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at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least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we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will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not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exposure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it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by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accident</a:t>
            </a:r>
            <a:r>
              <a:rPr lang="pt-PT" b="1" dirty="0">
                <a:solidFill>
                  <a:srgbClr val="FF0000"/>
                </a:solidFill>
              </a:rPr>
              <a:t> to </a:t>
            </a:r>
            <a:r>
              <a:rPr lang="pt-PT" b="1" dirty="0" err="1">
                <a:solidFill>
                  <a:srgbClr val="FF0000"/>
                </a:solidFill>
              </a:rPr>
              <a:t>everyone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on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github</a:t>
            </a:r>
            <a:r>
              <a:rPr lang="pt-PT" b="1" dirty="0">
                <a:solidFill>
                  <a:srgbClr val="FF0000"/>
                </a:solidFill>
              </a:rPr>
              <a:t>.</a:t>
            </a:r>
          </a:p>
          <a:p>
            <a:pPr marL="0" indent="0" algn="just">
              <a:buNone/>
            </a:pPr>
            <a:endParaRPr lang="pt-P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067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217F0-D411-64BF-A97C-C5817726D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7F3812-6745-C1E3-0E4A-A7D0D412A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79E6FB-B5AE-2D4F-DD0D-EF0D9C9BE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20A90-7A9F-91AC-F0B9-EEA0AFAFF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5EB572-D908-33E5-78FB-2604408BF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1CE69-FF6C-8023-1B90-19D828DE6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 dirty="0" err="1">
                <a:solidFill>
                  <a:srgbClr val="FFFFFF"/>
                </a:solidFill>
              </a:rPr>
              <a:t>Security</a:t>
            </a:r>
            <a:r>
              <a:rPr lang="pt-PT" sz="3500" dirty="0">
                <a:solidFill>
                  <a:srgbClr val="FFFFFF"/>
                </a:solidFill>
              </a:rPr>
              <a:t> </a:t>
            </a:r>
            <a:r>
              <a:rPr lang="pt-PT" sz="3500" dirty="0" err="1">
                <a:solidFill>
                  <a:srgbClr val="FFFFFF"/>
                </a:solidFill>
              </a:rPr>
              <a:t>by</a:t>
            </a:r>
            <a:r>
              <a:rPr lang="pt-PT" sz="3500" dirty="0">
                <a:solidFill>
                  <a:srgbClr val="FFFFFF"/>
                </a:solidFill>
              </a:rPr>
              <a:t> </a:t>
            </a:r>
            <a:r>
              <a:rPr lang="pt-PT" sz="3500" dirty="0" err="1">
                <a:solidFill>
                  <a:srgbClr val="FFFFFF"/>
                </a:solidFill>
              </a:rPr>
              <a:t>obscurity</a:t>
            </a:r>
            <a:r>
              <a:rPr lang="pt-PT" sz="3500" dirty="0">
                <a:solidFill>
                  <a:srgbClr val="FFFFFF"/>
                </a:solidFill>
              </a:rPr>
              <a:t>?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E4C35D-D41B-FA61-FBFD-D492E045A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pt-PT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pt-PT" b="1" dirty="0" err="1"/>
              <a:t>There</a:t>
            </a:r>
            <a:r>
              <a:rPr lang="pt-PT" b="1" dirty="0"/>
              <a:t> are </a:t>
            </a:r>
            <a:r>
              <a:rPr lang="pt-PT" b="1" dirty="0" err="1"/>
              <a:t>options</a:t>
            </a:r>
            <a:r>
              <a:rPr lang="pt-PT" b="1" dirty="0"/>
              <a:t> to </a:t>
            </a:r>
            <a:r>
              <a:rPr lang="pt-PT" b="1" dirty="0" err="1"/>
              <a:t>manage</a:t>
            </a:r>
            <a:r>
              <a:rPr lang="pt-PT" b="1" dirty="0"/>
              <a:t> </a:t>
            </a:r>
            <a:r>
              <a:rPr lang="pt-PT" b="1" dirty="0" err="1"/>
              <a:t>secrets</a:t>
            </a:r>
            <a:r>
              <a:rPr lang="pt-PT" b="1" dirty="0"/>
              <a:t>: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BR" dirty="0"/>
              <a:t>(</a:t>
            </a:r>
            <a:r>
              <a:rPr lang="pt-BR" dirty="0" err="1"/>
              <a:t>Vault</a:t>
            </a:r>
            <a:r>
              <a:rPr lang="pt-BR" dirty="0"/>
              <a:t>, AWS Secrets Manager, etc.) </a:t>
            </a:r>
            <a:r>
              <a:rPr lang="pt-BR" dirty="0" err="1"/>
              <a:t>but</a:t>
            </a:r>
            <a:r>
              <a:rPr lang="pt-BR" dirty="0"/>
              <a:t> </a:t>
            </a:r>
            <a:r>
              <a:rPr lang="pt-BR" dirty="0" err="1"/>
              <a:t>we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not</a:t>
            </a:r>
            <a:r>
              <a:rPr lang="pt-BR" dirty="0"/>
              <a:t> cover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course</a:t>
            </a:r>
            <a:r>
              <a:rPr lang="pt-BR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If a secret appears in Git history, assume it is compromised.</a:t>
            </a:r>
            <a:endParaRPr lang="pt-PT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PT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367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846F1-0036-5E12-497C-5A2C08C6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1DA1CF-1002-F2F0-C9D1-983ACE7DB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23A11F-0199-5576-520A-BB85A3E4C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63C648-CBF2-FA22-DC1A-329E0F398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D171E8-C10C-8D05-4688-C6F79DF91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B9EFF-0389-2F4A-C7AE-86D1EA0AC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 dirty="0" err="1">
                <a:solidFill>
                  <a:srgbClr val="FFFFFF"/>
                </a:solidFill>
              </a:rPr>
              <a:t>How</a:t>
            </a:r>
            <a:r>
              <a:rPr lang="pt-PT" sz="3500" dirty="0">
                <a:solidFill>
                  <a:srgbClr val="FFFFFF"/>
                </a:solidFill>
              </a:rPr>
              <a:t> do </a:t>
            </a:r>
            <a:r>
              <a:rPr lang="pt-PT" sz="3500" dirty="0" err="1">
                <a:solidFill>
                  <a:srgbClr val="FFFFFF"/>
                </a:solidFill>
              </a:rPr>
              <a:t>we</a:t>
            </a:r>
            <a:r>
              <a:rPr lang="pt-PT" sz="3500" dirty="0">
                <a:solidFill>
                  <a:srgbClr val="FFFFFF"/>
                </a:solidFill>
              </a:rPr>
              <a:t> use </a:t>
            </a:r>
            <a:r>
              <a:rPr lang="pt-PT" sz="3500" dirty="0" err="1">
                <a:solidFill>
                  <a:srgbClr val="FFFFFF"/>
                </a:solidFill>
              </a:rPr>
              <a:t>the</a:t>
            </a:r>
            <a:r>
              <a:rPr lang="pt-PT" sz="3500" dirty="0">
                <a:solidFill>
                  <a:srgbClr val="FFFFFF"/>
                </a:solidFill>
              </a:rPr>
              <a:t> .</a:t>
            </a:r>
            <a:r>
              <a:rPr lang="pt-PT" sz="3500" dirty="0" err="1">
                <a:solidFill>
                  <a:srgbClr val="FFFFFF"/>
                </a:solidFill>
              </a:rPr>
              <a:t>env</a:t>
            </a:r>
            <a:r>
              <a:rPr lang="pt-PT" sz="3500" dirty="0">
                <a:solidFill>
                  <a:srgbClr val="FFFFFF"/>
                </a:solidFill>
              </a:rPr>
              <a:t>?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91F2B6F-B145-5FF2-B4EF-BDFFABBFC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you</a:t>
            </a:r>
            <a:r>
              <a:rPr lang="pt-PT" dirty="0"/>
              <a:t> are </a:t>
            </a:r>
            <a:r>
              <a:rPr lang="pt-PT" dirty="0" err="1"/>
              <a:t>using</a:t>
            </a:r>
            <a:r>
              <a:rPr lang="pt-PT" dirty="0"/>
              <a:t> </a:t>
            </a:r>
            <a:r>
              <a:rPr lang="pt-PT" dirty="0" err="1"/>
              <a:t>python</a:t>
            </a:r>
            <a:r>
              <a:rPr lang="pt-PT" dirty="0"/>
              <a:t>, </a:t>
            </a:r>
            <a:r>
              <a:rPr lang="pt-PT" dirty="0" err="1"/>
              <a:t>install</a:t>
            </a:r>
            <a:r>
              <a:rPr lang="pt-PT" dirty="0"/>
              <a:t> </a:t>
            </a:r>
            <a:r>
              <a:rPr lang="pt-PT" b="1" dirty="0" err="1"/>
              <a:t>python-dotenv</a:t>
            </a:r>
            <a:endParaRPr lang="pt-PT" b="1" dirty="0"/>
          </a:p>
          <a:p>
            <a:r>
              <a:rPr lang="pt-PT" b="1" dirty="0" err="1"/>
              <a:t>pip</a:t>
            </a:r>
            <a:r>
              <a:rPr lang="pt-PT" b="1" dirty="0"/>
              <a:t> </a:t>
            </a:r>
            <a:r>
              <a:rPr lang="pt-PT" b="1" dirty="0" err="1"/>
              <a:t>install</a:t>
            </a:r>
            <a:r>
              <a:rPr lang="pt-PT" b="1" dirty="0"/>
              <a:t> </a:t>
            </a:r>
            <a:r>
              <a:rPr lang="pt-PT" b="1" dirty="0" err="1"/>
              <a:t>python-dotenv</a:t>
            </a:r>
            <a:endParaRPr lang="pt-PT" b="1" dirty="0"/>
          </a:p>
          <a:p>
            <a:endParaRPr lang="pt-PT" b="1" dirty="0"/>
          </a:p>
          <a:p>
            <a:endParaRPr lang="pt-BR" b="1" dirty="0"/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F7EB32E0-9462-C6AB-052A-A0951D40A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993" y="3343996"/>
            <a:ext cx="5982354" cy="157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59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102D0-5ACB-E30A-36E5-7221E8321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060C95-44D5-D981-D16A-36DD3F370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7FF876-5448-0819-C796-96DEB2B48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FE9B0F-B475-3A3C-CF3D-02BF73DA7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A7440E-246A-5E6D-AF46-2065B5625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D28D13-EADC-3086-0F06-D0FDF8DBD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F4744-424E-4BBD-98BF-581FCA96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Download the docker-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compose.yml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A69E3694-60AE-0CAA-7DE4-A378B773D01F}"/>
              </a:ext>
            </a:extLst>
          </p:cNvPr>
          <p:cNvGrpSpPr/>
          <p:nvPr/>
        </p:nvGrpSpPr>
        <p:grpSpPr>
          <a:xfrm>
            <a:off x="520959" y="2515880"/>
            <a:ext cx="8195871" cy="2704706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946D1DC1-03EE-DB00-00BC-BCD102DA0180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7210FFB5-52A5-1F94-2D90-1D0688E25284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marL="0" lvl="0" indent="0" algn="l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900" kern="1200" dirty="0"/>
                <a:t>1. Download the </a:t>
              </a:r>
              <a:r>
                <a:rPr lang="en-US" sz="2900" kern="1200" dirty="0" err="1"/>
                <a:t>uni</a:t>
              </a:r>
              <a:r>
                <a:rPr lang="en-US" sz="2900" kern="1200" dirty="0"/>
                <a:t>-docker-</a:t>
              </a:r>
              <a:r>
                <a:rPr lang="en-US" sz="2900" kern="1200" dirty="0" err="1"/>
                <a:t>compose.yml</a:t>
              </a:r>
              <a:r>
                <a:rPr lang="en-US" sz="2900" kern="1200" dirty="0"/>
                <a:t> file from the </a:t>
              </a:r>
              <a:r>
                <a:rPr lang="en-US" sz="2900" kern="1200" dirty="0" err="1"/>
                <a:t>github</a:t>
              </a:r>
              <a:r>
                <a:rPr lang="en-US" sz="2900" kern="1200" dirty="0"/>
                <a:t> repository  (/</a:t>
              </a:r>
              <a:r>
                <a:rPr lang="en-US" sz="2900" kern="1200" dirty="0" err="1"/>
                <a:t>etc</a:t>
              </a:r>
              <a:r>
                <a:rPr lang="en-US" sz="2900" kern="1200" dirty="0"/>
                <a:t>) and put inside the root of the project directory.</a:t>
              </a:r>
              <a:endParaRPr lang="en-US" sz="2900" dirty="0"/>
            </a:p>
            <a:p>
              <a:pPr marL="0" lvl="0" indent="0" algn="l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900" kern="1200" dirty="0"/>
                <a:t>2. Rename it to docker-</a:t>
              </a:r>
              <a:r>
                <a:rPr lang="en-US" sz="2900" kern="1200" dirty="0" err="1"/>
                <a:t>compose.yml</a:t>
              </a:r>
              <a:endParaRPr lang="en-US" sz="2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3836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2588D-5352-1DF8-74EE-8307237C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BE2D06-FC33-D30B-2344-F224118E9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A73F95-29A3-C5F1-EFB2-3C3A6172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D60340-F34C-858A-99A9-92886F8B9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7A0A4E-E612-B281-2035-A6CFBCD76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D1D998-FF20-7421-9DB1-27FBF9ED9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0021A-0310-F352-8AA2-014C0A1B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Variables Interpolation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D99E97F5-A3C4-9F43-2D93-465D90E2EE95}"/>
              </a:ext>
            </a:extLst>
          </p:cNvPr>
          <p:cNvGrpSpPr/>
          <p:nvPr/>
        </p:nvGrpSpPr>
        <p:grpSpPr>
          <a:xfrm>
            <a:off x="520959" y="2515880"/>
            <a:ext cx="8195871" cy="2704706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AA2F30C0-CA8C-970B-2B30-FB3F6BE2DA76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C5C33607-F5AE-BF33-0562-F3A39508D202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It is the mechanism that replaces a variable (e.g., </a:t>
              </a:r>
              <a:r>
                <a:rPr lang="en-US" sz="2400" dirty="0"/>
                <a:t>${POSTGRES_PORT}</a:t>
              </a:r>
              <a:r>
                <a:rPr lang="en-US" sz="3200" dirty="0"/>
                <a:t>) with the value defined in the environment or in a </a:t>
              </a:r>
              <a:r>
                <a:rPr lang="en-US" sz="2400" dirty="0"/>
                <a:t>.env</a:t>
              </a:r>
              <a:r>
                <a:rPr lang="en-US" sz="3200" dirty="0"/>
                <a:t> file when </a:t>
              </a:r>
              <a:r>
                <a:rPr lang="en-US" sz="2400" dirty="0"/>
                <a:t>docker compose</a:t>
              </a:r>
              <a:r>
                <a:rPr lang="en-US" sz="3200" dirty="0"/>
                <a:t> processes the </a:t>
              </a:r>
              <a:r>
                <a:rPr lang="en-US" sz="2400" dirty="0"/>
                <a:t>docker-</a:t>
              </a:r>
              <a:r>
                <a:rPr lang="en-US" sz="2400" dirty="0" err="1"/>
                <a:t>compose.yml</a:t>
              </a:r>
              <a:r>
                <a:rPr lang="en-US" sz="3200" dirty="0"/>
                <a:t> file.</a:t>
              </a:r>
              <a:r>
                <a:rPr lang="en-US" sz="2900" kern="1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49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43F11-A6D6-4F64-2AB1-59F360AE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941C7D-68E3-A0C1-0565-21C9B0072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6A599C-6A6F-B776-A23E-39EB69606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C85389-0152-9499-C011-835547835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2C55FC-26DD-090E-F568-EF4E59367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E4AE09-68EE-D2C8-D982-EBAD59F8D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CB2B4-E02C-8C42-7896-966228EE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Files </a:t>
            </a:r>
            <a:r>
              <a:rPr lang="en-US" sz="3500" dirty="0">
                <a:solidFill>
                  <a:srgbClr val="FFFFFF"/>
                </a:solidFill>
              </a:rPr>
              <a:t>placed on the right place?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C743CD4-711D-6E0E-DE7F-979EF5D081D3}"/>
              </a:ext>
            </a:extLst>
          </p:cNvPr>
          <p:cNvGrpSpPr/>
          <p:nvPr/>
        </p:nvGrpSpPr>
        <p:grpSpPr>
          <a:xfrm>
            <a:off x="520959" y="1807535"/>
            <a:ext cx="8195871" cy="4348715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F5CDF7CA-3036-A658-90AC-D2F402B5CEED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4A0C8DF8-98F1-CBB6-694F-CE3CBDB80C2C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marL="514350" lvl="0" indent="-51435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endParaRPr lang="en-US" sz="3200" dirty="0"/>
            </a:p>
            <a:p>
              <a:pPr marL="514350" lvl="0" indent="-51435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endParaRPr lang="en-US" sz="3200" dirty="0"/>
            </a:p>
            <a:p>
              <a:pPr marL="514350" lvl="0" indent="-51435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r>
                <a:rPr lang="en-US" sz="3200" dirty="0"/>
                <a:t>Check again if every file is located where it should be</a:t>
              </a:r>
            </a:p>
            <a:p>
              <a:pPr marL="514350" lvl="0" indent="-51435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r>
                <a:rPr lang="en-US" sz="3200" kern="1200" dirty="0"/>
                <a:t>What about the docker</a:t>
              </a:r>
              <a:r>
                <a:rPr lang="en-US" sz="3200" dirty="0"/>
                <a:t>-</a:t>
              </a:r>
              <a:r>
                <a:rPr lang="en-US" sz="3200" dirty="0" err="1"/>
                <a:t>compose.yml</a:t>
              </a:r>
              <a:r>
                <a:rPr lang="en-US" sz="3200" dirty="0"/>
                <a:t>? Is it referencing the right location of each file?</a:t>
              </a:r>
            </a:p>
            <a:p>
              <a:pPr marL="514350" lvl="0" indent="-51435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r>
                <a:rPr lang="en-US" sz="3200" dirty="0"/>
                <a:t>If the docker compose file is not right, fix it by referencing the right locations as specified in out Project Structure</a:t>
              </a:r>
            </a:p>
            <a:p>
              <a:pPr marL="514350" lvl="0" indent="-51435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endParaRPr lang="en-US" sz="3200" kern="1200" dirty="0"/>
            </a:p>
            <a:p>
              <a:pPr marL="514350" lvl="0" indent="-51435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AutoNum type="arabicPeriod"/>
              </a:pPr>
              <a:endParaRPr lang="en-US" sz="2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44726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F313B-74BD-40B1-A764-26F62291B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8F9102A-8740-84E5-CA14-6AEDD5035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4E5010-FA43-A7FE-71F4-51B367577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ECADE5-2801-BDD6-A1C4-56EC815E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9DDFCB-DCD1-CC6B-191F-5545C6947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C22311-9877-E8F8-8F2A-ADF771DCE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49FBD-4566-D65A-53D2-46AA832C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11" y="294538"/>
            <a:ext cx="8454977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put the service 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AB620-666C-88E8-A6F6-D9FFAC61A195}"/>
              </a:ext>
            </a:extLst>
          </p:cNvPr>
          <p:cNvSpPr txBox="1"/>
          <p:nvPr/>
        </p:nvSpPr>
        <p:spPr>
          <a:xfrm>
            <a:off x="0" y="1622745"/>
            <a:ext cx="9143999" cy="4378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remove everything INCLUDING volume (data deleted)–to make sure that our last practice won’t interfere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down –v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</a:t>
            </a:r>
            <a:r>
              <a:rPr lang="en-US" sz="1600" b="1" dirty="0"/>
              <a:t>create a </a:t>
            </a:r>
            <a:r>
              <a:rPr lang="en-US" sz="1600" b="1" dirty="0" err="1"/>
              <a:t>rsc</a:t>
            </a:r>
            <a:r>
              <a:rPr lang="en-US" sz="1600" b="1" dirty="0"/>
              <a:t> directory</a:t>
            </a:r>
            <a:r>
              <a:rPr lang="en-US" sz="1600" dirty="0"/>
              <a:t> on the </a:t>
            </a:r>
            <a:r>
              <a:rPr lang="en-US" sz="1600" b="1" dirty="0"/>
              <a:t>project root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b="1" dirty="0" err="1">
                <a:solidFill>
                  <a:srgbClr val="92D050"/>
                </a:solidFill>
              </a:rPr>
              <a:t>mkdir</a:t>
            </a:r>
            <a:r>
              <a:rPr lang="en-US" sz="1600" b="1" dirty="0">
                <a:solidFill>
                  <a:srgbClr val="92D050"/>
                </a:solidFill>
              </a:rPr>
              <a:t> </a:t>
            </a:r>
            <a:r>
              <a:rPr lang="en-US" sz="1600" b="1" dirty="0" err="1">
                <a:solidFill>
                  <a:srgbClr val="92D050"/>
                </a:solidFill>
              </a:rPr>
              <a:t>rsc</a:t>
            </a:r>
            <a:endParaRPr lang="en-US" sz="1600" b="1" dirty="0">
              <a:solidFill>
                <a:srgbClr val="92D050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</a:t>
            </a:r>
            <a:r>
              <a:rPr lang="en-US" sz="1600" b="1" dirty="0"/>
              <a:t>download the </a:t>
            </a:r>
            <a:r>
              <a:rPr lang="en-US" sz="1600" b="1" dirty="0" err="1"/>
              <a:t>init.sql</a:t>
            </a:r>
            <a:r>
              <a:rPr lang="en-US" sz="1600" b="1" dirty="0"/>
              <a:t> file</a:t>
            </a:r>
            <a:r>
              <a:rPr lang="en-US" sz="1600" dirty="0"/>
              <a:t> from the git repository (/</a:t>
            </a:r>
            <a:r>
              <a:rPr lang="en-US" sz="1600" dirty="0" err="1"/>
              <a:t>etc</a:t>
            </a:r>
            <a:r>
              <a:rPr lang="en-US" sz="1600" dirty="0"/>
              <a:t>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</a:t>
            </a:r>
            <a:r>
              <a:rPr lang="en-US" sz="1600" b="1" dirty="0"/>
              <a:t>put inside the </a:t>
            </a:r>
            <a:r>
              <a:rPr lang="en-US" sz="1600" b="1" dirty="0" err="1"/>
              <a:t>rsc</a:t>
            </a:r>
            <a:r>
              <a:rPr lang="en-US" sz="1600" b="1" dirty="0"/>
              <a:t> directory</a:t>
            </a:r>
            <a:r>
              <a:rPr lang="en-US" sz="1600" dirty="0"/>
              <a:t> that you have just created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copy the contents of the extra-docker-</a:t>
            </a:r>
            <a:r>
              <a:rPr lang="en-US" sz="1600" dirty="0" err="1"/>
              <a:t>compose.yml</a:t>
            </a:r>
            <a:r>
              <a:rPr lang="en-US" sz="1600" dirty="0"/>
              <a:t> and paste inside your project’s compose file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start services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up -d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confirm containers are running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</a:t>
            </a:r>
            <a:r>
              <a:rPr lang="en-US" sz="1600" b="1" dirty="0" err="1">
                <a:solidFill>
                  <a:srgbClr val="92D050"/>
                </a:solidFill>
              </a:rPr>
              <a:t>ps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</a:t>
            </a:r>
            <a:r>
              <a:rPr lang="en-US" sz="1600" b="1" dirty="0"/>
              <a:t>open </a:t>
            </a:r>
            <a:r>
              <a:rPr lang="en-US" sz="1600" b="1" dirty="0" err="1"/>
              <a:t>Adminer</a:t>
            </a:r>
            <a:r>
              <a:rPr lang="en-US" sz="1600" b="1" dirty="0"/>
              <a:t> in your browser – select the </a:t>
            </a:r>
            <a:r>
              <a:rPr lang="en-US" sz="1600" b="1" dirty="0" err="1"/>
              <a:t>postgres</a:t>
            </a:r>
            <a:r>
              <a:rPr lang="en-US" sz="1600" b="1" dirty="0"/>
              <a:t> database</a:t>
            </a:r>
            <a:br>
              <a:rPr lang="en-US" sz="1600" dirty="0"/>
            </a:br>
            <a:r>
              <a:rPr lang="en-US" sz="1600" dirty="0"/>
              <a:t># </a:t>
            </a:r>
            <a:r>
              <a:rPr lang="en-US" sz="1600" b="1" dirty="0"/>
              <a:t>http://localhost:8080</a:t>
            </a:r>
            <a:br>
              <a:rPr lang="en-US" sz="1600" dirty="0"/>
            </a:br>
            <a:r>
              <a:rPr lang="en-US" sz="1600" dirty="0"/>
              <a:t># </a:t>
            </a:r>
            <a:r>
              <a:rPr lang="en-US" sz="1600" b="1" dirty="0"/>
              <a:t>Server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db</a:t>
            </a:r>
            <a:r>
              <a:rPr lang="en-US" sz="1600" dirty="0"/>
              <a:t> | </a:t>
            </a:r>
            <a:r>
              <a:rPr lang="en-US" sz="1600" b="1" dirty="0"/>
              <a:t>User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labuser</a:t>
            </a:r>
            <a:r>
              <a:rPr lang="en-US" sz="1600" dirty="0"/>
              <a:t> | </a:t>
            </a:r>
            <a:r>
              <a:rPr lang="en-US" sz="1600" b="1" dirty="0"/>
              <a:t>Password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labpass</a:t>
            </a:r>
            <a:r>
              <a:rPr lang="en-US" sz="1600" dirty="0"/>
              <a:t> | </a:t>
            </a:r>
            <a:r>
              <a:rPr lang="en-US" sz="1600" b="1" dirty="0"/>
              <a:t>Database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labdb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stop (keeps volume)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down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start again (data should persist)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up -d</a:t>
            </a:r>
            <a:br>
              <a:rPr lang="en-US" sz="1600" dirty="0"/>
            </a:br>
            <a:br>
              <a:rPr lang="en-US" sz="1600" dirty="0"/>
            </a:br>
            <a:endParaRPr lang="en-US" sz="1600" b="1" dirty="0">
              <a:solidFill>
                <a:srgbClr val="92D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4098C-C89B-8EF6-8ED6-2457F8673439}"/>
              </a:ext>
            </a:extLst>
          </p:cNvPr>
          <p:cNvSpPr txBox="1"/>
          <p:nvPr/>
        </p:nvSpPr>
        <p:spPr>
          <a:xfrm>
            <a:off x="705277" y="6101797"/>
            <a:ext cx="79398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787878"/>
                </a:solidFill>
              </a:defRPr>
            </a:pPr>
            <a:r>
              <a:rPr lang="en-US" sz="2400" dirty="0"/>
              <a:t>Ports expose services to host • Volumes persist database state</a:t>
            </a:r>
          </a:p>
        </p:txBody>
      </p:sp>
    </p:spTree>
    <p:extLst>
      <p:ext uri="{BB962C8B-B14F-4D97-AF65-F5344CB8AC3E}">
        <p14:creationId xmlns:p14="http://schemas.microsoft.com/office/powerpoint/2010/main" val="2894464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3D641-C759-A6EA-D39C-199CAB6A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F753AC-D9A9-9442-752B-F7E50569D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2C79DF-EAB5-A5D4-0815-0B853E242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C146DC-9778-F93E-8910-BBD853E61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2A0BA6-54A3-9A64-D4F4-D7208CAB7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04C317-60DA-F352-5D97-BE24E1569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28A51-8896-1BD1-C495-25385305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11" y="294538"/>
            <a:ext cx="8454977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E0E25-A744-5D15-4D54-9858DAAE7137}"/>
              </a:ext>
            </a:extLst>
          </p:cNvPr>
          <p:cNvSpPr txBox="1"/>
          <p:nvPr/>
        </p:nvSpPr>
        <p:spPr>
          <a:xfrm>
            <a:off x="0" y="1622744"/>
            <a:ext cx="9143999" cy="5235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-- 1. List all students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-- 2. Show students and their departments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-- 3. Count students by status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-- 4. List courses with department name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-- 5. Show enrollments with student and course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-- 6. Average grade by course offering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-- 7. Students with no grades yet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-- 8. Courses with more than 2 enrolled students</a:t>
            </a:r>
          </a:p>
        </p:txBody>
      </p:sp>
    </p:spTree>
    <p:extLst>
      <p:ext uri="{BB962C8B-B14F-4D97-AF65-F5344CB8AC3E}">
        <p14:creationId xmlns:p14="http://schemas.microsoft.com/office/powerpoint/2010/main" val="3681756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E5C69-F716-4CC6-CBDF-EE886FA6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19047F0-53F6-B769-A65C-79F7A60DC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DBBB03-2DEF-6D22-BA09-4D87BA615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7D4DDC-1BC8-3635-2BAE-24B0AC84B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6AF04E-7805-5DCB-F463-442240838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7DD0A9-AB95-308F-AD72-70214DEAF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9B07AF-83F6-7907-6C97-0F45C05BD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1525A788-980D-959C-F10B-B49D73F5E2B6}"/>
              </a:ext>
            </a:extLst>
          </p:cNvPr>
          <p:cNvGrpSpPr/>
          <p:nvPr/>
        </p:nvGrpSpPr>
        <p:grpSpPr>
          <a:xfrm>
            <a:off x="520959" y="1807535"/>
            <a:ext cx="8195871" cy="4348715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49EBFB2A-5A80-6D65-4378-A375B06C6BD4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45F8E551-73A9-60E6-67D7-CE584AA5C761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Download the file named dump-</a:t>
              </a:r>
              <a:r>
                <a:rPr lang="en-US" sz="3200" dirty="0" err="1"/>
                <a:t>report.mdand</a:t>
              </a:r>
              <a:r>
                <a:rPr lang="en-US" sz="3200" dirty="0"/>
                <a:t> answer it with the queries you have used / data obtained from the queries…</a:t>
              </a:r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/>
                <a:t>Commit it to your repository </a:t>
              </a:r>
              <a:r>
                <a:rPr lang="en-US" sz="3200" b="1" dirty="0"/>
                <a:t>inside the </a:t>
              </a:r>
              <a:r>
                <a:rPr lang="en-US" sz="3200" b="1" dirty="0" err="1"/>
                <a:t>rsc</a:t>
              </a:r>
              <a:r>
                <a:rPr lang="en-US" sz="3200" b="1" dirty="0"/>
                <a:t> directory</a:t>
              </a:r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900" dirty="0"/>
                <a:t>git pull &gt; git add &lt;name&gt; git commit –m “message” &gt; git push origin main</a:t>
              </a:r>
              <a:endParaRPr lang="en-US" sz="3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28155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4B84B-4B9E-89C8-3881-5BCF464F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F5DD68B-020D-4836-52DE-811154901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73E0A1-BA13-6310-4BE3-DE006F398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09E886-DC31-E11D-A5D5-F0BFF9EA0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101DFE-CB4C-706E-50FF-76AC6147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78DB87-BBFF-D5D9-9A43-04AFD1E05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7837C-CC66-10F3-85DB-4B495C7A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85B5143-94FB-7891-8080-3D5BDDB97AB0}"/>
              </a:ext>
            </a:extLst>
          </p:cNvPr>
          <p:cNvGrpSpPr/>
          <p:nvPr/>
        </p:nvGrpSpPr>
        <p:grpSpPr>
          <a:xfrm>
            <a:off x="520959" y="1807535"/>
            <a:ext cx="8195871" cy="4348715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3C4EFC86-27D7-85AD-51DB-49E1EF401C0C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C4027D05-AEBC-A8A3-A3AD-20E4FD8D9728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Commit your recent work:</a:t>
              </a:r>
            </a:p>
            <a:p>
              <a:pPr marL="457200" lvl="0" indent="-45720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Ø"/>
              </a:pPr>
              <a:r>
                <a:rPr lang="en-US" sz="3200" kern="1200" dirty="0"/>
                <a:t>git pull</a:t>
              </a:r>
            </a:p>
            <a:p>
              <a:pPr marL="457200" lvl="0" indent="-45720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Ø"/>
              </a:pPr>
              <a:r>
                <a:rPr lang="en-US" sz="3200" dirty="0"/>
                <a:t>g</a:t>
              </a:r>
              <a:r>
                <a:rPr lang="en-US" sz="3200" kern="1200" dirty="0"/>
                <a:t>it add &lt;filename&gt;</a:t>
              </a:r>
            </a:p>
            <a:p>
              <a:pPr marL="457200" lvl="0" indent="-45720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Ø"/>
              </a:pPr>
              <a:r>
                <a:rPr lang="en-US" sz="3200" dirty="0"/>
                <a:t>git commit –m “message”</a:t>
              </a:r>
            </a:p>
            <a:p>
              <a:pPr marL="457200" lvl="0" indent="-45720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Ø"/>
              </a:pPr>
              <a:r>
                <a:rPr lang="en-US" sz="3200" dirty="0"/>
                <a:t>g</a:t>
              </a:r>
              <a:r>
                <a:rPr lang="en-US" sz="3200" kern="1200" dirty="0"/>
                <a:t>it push origin main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0519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9EA4B-16A9-673E-D0E1-046FEECF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9AAD4C-456A-3BE4-A000-013C8620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63CD1B-6439-3F0E-9991-F1BF4B07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2AD290-6B15-0238-A285-12156783E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4B8544-EA29-A9EC-BC97-7DA070682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728AB5-C945-C4E1-5CC5-EC677B327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EE180-C2FA-7684-F03E-A2BF77780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about the Mini-Test 1?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F204570-86CA-4B7E-EA4A-96912A24B194}"/>
              </a:ext>
            </a:extLst>
          </p:cNvPr>
          <p:cNvGrpSpPr/>
          <p:nvPr/>
        </p:nvGrpSpPr>
        <p:grpSpPr>
          <a:xfrm>
            <a:off x="520959" y="1807535"/>
            <a:ext cx="8195871" cy="4614530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63AD014D-F391-3C09-6175-527F391FC6DB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D3550CA4-1778-A9E6-536F-245372F9C590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Check last week announcements on </a:t>
              </a:r>
              <a:r>
                <a:rPr lang="en-US" sz="3200" dirty="0" err="1"/>
                <a:t>moodle</a:t>
              </a:r>
              <a:endParaRPr lang="en-US" sz="3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Check First Week Resources for more details</a:t>
              </a:r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Up until today’s class subject will surely be included.</a:t>
              </a:r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kern="1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0652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8AD96-31B3-37D0-5FBB-69DDB801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956DD0-9E88-D0EE-A823-3C4200E8C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D84060-6A35-5273-3F5A-A95BA041D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FB0A84-D61D-5B1C-CA00-7FB561D03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136EC7-14D7-B3B3-222B-C0183F4E7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320897-D6C7-3C80-CDBA-02EEF4AFE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F6395-B9A2-FB7A-96FA-AD2C3AAD1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about the Mini-Test 1?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DE7DEC55-B22A-46D7-CF0C-62118B237041}"/>
              </a:ext>
            </a:extLst>
          </p:cNvPr>
          <p:cNvGrpSpPr/>
          <p:nvPr/>
        </p:nvGrpSpPr>
        <p:grpSpPr>
          <a:xfrm>
            <a:off x="520959" y="1807535"/>
            <a:ext cx="8195871" cy="4614530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52F2BF2B-7CA1-4F87-8868-435A0872F736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B2622034-B5A5-72F9-C7F7-1DA706B5D22F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Do I really need to </a:t>
              </a:r>
              <a:r>
                <a:rPr lang="en-US" sz="3200" dirty="0" err="1"/>
                <a:t>memmorize</a:t>
              </a:r>
              <a:r>
                <a:rPr lang="en-US" sz="3200" dirty="0"/>
                <a:t> those commands?  By all the repetitions in each practical session we had so far, you should know by now but it is more </a:t>
              </a:r>
              <a:r>
                <a:rPr lang="en-US" sz="3200" dirty="0" err="1"/>
                <a:t>importante</a:t>
              </a:r>
              <a:r>
                <a:rPr lang="en-US" sz="3200" dirty="0"/>
                <a:t> to understand the concepts and workflow.</a:t>
              </a:r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kern="1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80703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D22C58-DBE9-387C-1C05-C836DE9D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84D214-A51A-7B7E-D851-8454D161E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2D0854-2A4F-0F2B-5034-910E605E0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DE7013-34F4-4F5E-0D88-909C5F415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4DBAFC-0521-B363-4BF7-B8F877354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2249F7-EB3C-E5E8-2356-589586213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85842-9CCC-D3D7-646C-8DBCBD514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about the Mini-Test 1?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8132D3D-64EF-08FE-E076-A6B72B838A08}"/>
              </a:ext>
            </a:extLst>
          </p:cNvPr>
          <p:cNvGrpSpPr/>
          <p:nvPr/>
        </p:nvGrpSpPr>
        <p:grpSpPr>
          <a:xfrm>
            <a:off x="520959" y="1807535"/>
            <a:ext cx="8195871" cy="4614530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0F132C61-FA99-E7D9-F2C7-826DE6296CC8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ED370F8D-CD36-0966-E618-09D089A9B98C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Some commands will surely appear in some questions.</a:t>
              </a:r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/>
                <a:t>Subjects:</a:t>
              </a:r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kern="1200" dirty="0"/>
                <a:t>Versioning traditional x modern</a:t>
              </a:r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Virtualization: VMs x Containers</a:t>
              </a:r>
            </a:p>
            <a:p>
              <a:pPr lvl="0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17290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BDB755-9496-FB5B-CA3F-1FD20727D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C266EC-9EE2-6661-5DE8-44BF961D9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06715-BFCB-6761-254B-7B0905591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067CD3-7EBE-E0C6-BBF0-8D58092CC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92AB2E-D278-66CF-D22B-ECFADF9D3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7CB178-9B35-3B25-EAD0-B2F2C61E5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4C16A-DEDA-20CC-06C2-B081E3583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about the Mini-Test 1?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80A014D8-886E-CBB8-11C8-1A56CDDE48AC}"/>
              </a:ext>
            </a:extLst>
          </p:cNvPr>
          <p:cNvGrpSpPr/>
          <p:nvPr/>
        </p:nvGrpSpPr>
        <p:grpSpPr>
          <a:xfrm>
            <a:off x="520959" y="1807535"/>
            <a:ext cx="8195871" cy="4614530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74B29ABD-F48F-F82B-F34C-73E583127C90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3E281013-757E-94E1-06C4-F0E0B4180713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Git Workflow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Docker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685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416665-A86A-6D71-E6A9-3D71418BB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AA1A1C1-AE94-1233-C27A-E7FDE9BE9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53F64B-C747-6B0D-0ABC-84A841EF0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85ABCA-D53E-3A6C-7702-31F1CCCF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02E11-58F6-3D9F-37AA-57052D02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1466E-3A73-FA93-6BB3-C6743B19D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16678-9E13-28EA-B707-D841EA7E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next?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449BCE01-47BC-7B6B-CEBF-7B55EED767C4}"/>
              </a:ext>
            </a:extLst>
          </p:cNvPr>
          <p:cNvGrpSpPr/>
          <p:nvPr/>
        </p:nvGrpSpPr>
        <p:grpSpPr>
          <a:xfrm>
            <a:off x="520959" y="1807535"/>
            <a:ext cx="8195871" cy="4614530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0A672C14-3619-4DE3-97F7-BF8C8DEE3F0B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4C04C6EA-A601-A984-291E-512AA0988F29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Non-sequel Databases</a:t>
              </a:r>
            </a:p>
            <a:p>
              <a:pPr lvl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dirty="0"/>
                <a:t>NO-SQL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2655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1004</Words>
  <Application>Microsoft Office PowerPoint</Application>
  <PresentationFormat>Apresentação na tela (4:3)</PresentationFormat>
  <Paragraphs>147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Office Theme</vt:lpstr>
      <vt:lpstr>Fundamentals in Data Engineering</vt:lpstr>
      <vt:lpstr>Assignment</vt:lpstr>
      <vt:lpstr>Assignment 2</vt:lpstr>
      <vt:lpstr>Project Structure</vt:lpstr>
      <vt:lpstr>Create .env file</vt:lpstr>
      <vt:lpstr>Create a .gitignore file</vt:lpstr>
      <vt:lpstr>Commit and push .gitignore to the repository</vt:lpstr>
      <vt:lpstr>Security by obscurity?</vt:lpstr>
      <vt:lpstr>Security by obscurity?</vt:lpstr>
      <vt:lpstr>Security by obscurity?</vt:lpstr>
      <vt:lpstr>How do we use the .env?</vt:lpstr>
      <vt:lpstr>Download the docker-compose.yml</vt:lpstr>
      <vt:lpstr>Variables Interpolation</vt:lpstr>
      <vt:lpstr>Files placed on the right place?</vt:lpstr>
      <vt:lpstr>Let’s put the service up</vt:lpstr>
      <vt:lpstr>Questions</vt:lpstr>
      <vt:lpstr>Questions</vt:lpstr>
      <vt:lpstr>Git</vt:lpstr>
      <vt:lpstr>What about the Mini-Test 1?</vt:lpstr>
      <vt:lpstr>What about the Mini-Test 1?</vt:lpstr>
      <vt:lpstr>What about the Mini-Test 1?</vt:lpstr>
      <vt:lpstr>What about the Mini-Test 1?</vt:lpstr>
      <vt:lpstr>Whats next?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TG</dc:creator>
  <cp:keywords/>
  <dc:description>generated using python-pptx</dc:description>
  <cp:lastModifiedBy>Thiago Paiva</cp:lastModifiedBy>
  <cp:revision>69</cp:revision>
  <dcterms:created xsi:type="dcterms:W3CDTF">2013-01-27T09:14:16Z</dcterms:created>
  <dcterms:modified xsi:type="dcterms:W3CDTF">2026-03-17T04:07:35Z</dcterms:modified>
  <cp:category/>
</cp:coreProperties>
</file>