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9" r:id="rId2"/>
    <p:sldId id="256" r:id="rId3"/>
    <p:sldId id="312" r:id="rId4"/>
    <p:sldId id="330" r:id="rId5"/>
    <p:sldId id="331" r:id="rId6"/>
    <p:sldId id="332" r:id="rId7"/>
    <p:sldId id="313" r:id="rId8"/>
    <p:sldId id="334" r:id="rId9"/>
    <p:sldId id="335" r:id="rId10"/>
    <p:sldId id="336" r:id="rId11"/>
    <p:sldId id="337" r:id="rId12"/>
    <p:sldId id="338" r:id="rId13"/>
    <p:sldId id="339" r:id="rId14"/>
    <p:sldId id="341" r:id="rId15"/>
    <p:sldId id="340" r:id="rId16"/>
    <p:sldId id="343" r:id="rId17"/>
    <p:sldId id="344" r:id="rId18"/>
    <p:sldId id="345" r:id="rId19"/>
    <p:sldId id="346" r:id="rId20"/>
    <p:sldId id="347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146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gvp" TargetMode="External"/><Relationship Id="rId2" Type="http://schemas.openxmlformats.org/officeDocument/2006/relationships/hyperlink" Target="mailto:p7392@ulusofona.pt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ongodb.com/docs/manual/reference/method/db.collection.findOne/" TargetMode="External"/><Relationship Id="rId7" Type="http://schemas.openxmlformats.org/officeDocument/2006/relationships/hyperlink" Target="https://pymongo.readthedocs.io/en/stable/" TargetMode="External"/><Relationship Id="rId2" Type="http://schemas.openxmlformats.org/officeDocument/2006/relationships/hyperlink" Target="https://www.mongodb.com/docs/manual/reference/method/db.collection.find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mongodb.com/docs/manual/reference/method/db.collection.updateOne/" TargetMode="External"/><Relationship Id="rId5" Type="http://schemas.openxmlformats.org/officeDocument/2006/relationships/hyperlink" Target="https://www.mongodb.com/docs/manual/reference/method/db.collection.update/" TargetMode="External"/><Relationship Id="rId4" Type="http://schemas.openxmlformats.org/officeDocument/2006/relationships/hyperlink" Target="https://www.mongodb.com/docs/manual/reference/method/db.collection.aggregat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35314EC-3866-C16D-AABF-509E855EA7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6118" y="735106"/>
            <a:ext cx="7540322" cy="2928470"/>
          </a:xfrm>
        </p:spPr>
        <p:txBody>
          <a:bodyPr anchor="b">
            <a:normAutofit/>
          </a:bodyPr>
          <a:lstStyle/>
          <a:p>
            <a:pPr algn="l"/>
            <a:r>
              <a:rPr lang="pt-PT" sz="4200">
                <a:solidFill>
                  <a:srgbClr val="FFFFFF"/>
                </a:solidFill>
              </a:rPr>
              <a:t>Fundamentals in Data Engineering</a:t>
            </a:r>
            <a:endParaRPr lang="pt-BR" sz="4200">
              <a:solidFill>
                <a:srgbClr val="FFFFFF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6368529-A030-BD38-C8C9-50A22C8AEC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3011" y="4870824"/>
            <a:ext cx="7504463" cy="1458258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pt-PT" sz="2700" b="1"/>
              <a:t>Thiago de Paiva</a:t>
            </a:r>
          </a:p>
          <a:p>
            <a:pPr algn="l">
              <a:lnSpc>
                <a:spcPct val="90000"/>
              </a:lnSpc>
            </a:pPr>
            <a:r>
              <a:rPr lang="pt-PT" sz="2700" b="1">
                <a:hlinkClick r:id="rId2"/>
              </a:rPr>
              <a:t>p7392@ulusofona.pt</a:t>
            </a:r>
            <a:endParaRPr lang="pt-PT" sz="2700" b="1"/>
          </a:p>
          <a:p>
            <a:pPr algn="l">
              <a:lnSpc>
                <a:spcPct val="90000"/>
              </a:lnSpc>
            </a:pPr>
            <a:r>
              <a:rPr lang="pt-PT" sz="2700" b="1">
                <a:hlinkClick r:id="rId3"/>
              </a:rPr>
              <a:t>https://github.com/tgvp</a:t>
            </a:r>
            <a:endParaRPr lang="pt-BR" sz="2700" b="1"/>
          </a:p>
        </p:txBody>
      </p:sp>
    </p:spTree>
    <p:extLst>
      <p:ext uri="{BB962C8B-B14F-4D97-AF65-F5344CB8AC3E}">
        <p14:creationId xmlns:p14="http://schemas.microsoft.com/office/powerpoint/2010/main" val="2786318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r>
              <a:rPr lang="pt-PT" sz="3500" dirty="0" err="1">
                <a:solidFill>
                  <a:srgbClr val="FFFFFF"/>
                </a:solidFill>
              </a:rPr>
              <a:t>NoSQL</a:t>
            </a:r>
            <a:endParaRPr lang="pt-PT" sz="3500" dirty="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75954" y="0"/>
            <a:ext cx="4967472" cy="6847859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2400" dirty="0"/>
              <a:t>Foundations for NoSQL databases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9828C7-89AF-A8CE-255B-EF4A94D59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188390-8693-2C0B-5D38-08462F8F6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9BA773-190E-A221-4C6B-A00E7E0B14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98AB6B-BE0F-6C62-2434-A7BAE1688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827FBC0-B657-A8BF-E4CF-921F7A1D42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7D90C1-BD3C-8EB5-5103-F684F2CDD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pt-PT" sz="3500" dirty="0">
                <a:solidFill>
                  <a:srgbClr val="FFFFFF"/>
                </a:solidFill>
              </a:rPr>
              <a:t>W</a:t>
            </a:r>
            <a:r>
              <a:rPr lang="pt-BR" sz="3500" dirty="0" err="1">
                <a:solidFill>
                  <a:srgbClr val="FFFFFF"/>
                </a:solidFill>
              </a:rPr>
              <a:t>hy</a:t>
            </a:r>
            <a:r>
              <a:rPr lang="pt-BR" sz="3500" dirty="0">
                <a:solidFill>
                  <a:srgbClr val="FFFFFF"/>
                </a:solidFill>
              </a:rPr>
              <a:t> </a:t>
            </a:r>
            <a:r>
              <a:rPr lang="pt-BR" sz="3500" dirty="0" err="1">
                <a:solidFill>
                  <a:srgbClr val="FFFFFF"/>
                </a:solidFill>
              </a:rPr>
              <a:t>not</a:t>
            </a:r>
            <a:r>
              <a:rPr lang="pt-BR" sz="3500" dirty="0">
                <a:solidFill>
                  <a:srgbClr val="FFFFFF"/>
                </a:solidFill>
              </a:rPr>
              <a:t> use </a:t>
            </a:r>
            <a:r>
              <a:rPr lang="pt-BR" sz="3500" dirty="0" err="1">
                <a:solidFill>
                  <a:srgbClr val="FFFFFF"/>
                </a:solidFill>
              </a:rPr>
              <a:t>semi-structured</a:t>
            </a:r>
            <a:r>
              <a:rPr lang="pt-BR" sz="3500" dirty="0">
                <a:solidFill>
                  <a:srgbClr val="FFFFFF"/>
                </a:solidFill>
              </a:rPr>
              <a:t> data?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C89500C-9890-EDDC-7560-98F5A2CBA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321" y="2829515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/>
              <a:t>Semi-structured models existed even before structured models.</a:t>
            </a:r>
          </a:p>
          <a:p>
            <a:r>
              <a:rPr lang="en-US" dirty="0"/>
              <a:t>However, </a:t>
            </a:r>
            <a:r>
              <a:rPr lang="en-US" b="1" dirty="0"/>
              <a:t>relational databases eventually “won” in the long term.</a:t>
            </a:r>
          </a:p>
          <a:p>
            <a:endParaRPr lang="pt-PT" dirty="0"/>
          </a:p>
          <a:p>
            <a:endParaRPr lang="pt-PT" dirty="0"/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86451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662A9C-CFE5-015C-3FA8-C27C885F7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2960D4F-CD3D-9C21-B6AA-AAC771D601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E4A42B-EFC7-D5C3-F472-D261042A4F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B06810-0E1E-AF1C-5A45-BBEDE45DC2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99800E-4F0F-5945-2285-54C9874502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6E637-B089-0B0D-6323-A00978D60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pt-PT" sz="3500" dirty="0">
                <a:solidFill>
                  <a:srgbClr val="FFFFFF"/>
                </a:solidFill>
              </a:rPr>
              <a:t>W</a:t>
            </a:r>
            <a:r>
              <a:rPr lang="pt-BR" sz="3500" dirty="0" err="1">
                <a:solidFill>
                  <a:srgbClr val="FFFFFF"/>
                </a:solidFill>
              </a:rPr>
              <a:t>hy</a:t>
            </a:r>
            <a:r>
              <a:rPr lang="pt-BR" sz="3500" dirty="0">
                <a:solidFill>
                  <a:srgbClr val="FFFFFF"/>
                </a:solidFill>
              </a:rPr>
              <a:t> </a:t>
            </a:r>
            <a:r>
              <a:rPr lang="pt-BR" sz="3500" dirty="0" err="1">
                <a:solidFill>
                  <a:srgbClr val="FFFFFF"/>
                </a:solidFill>
              </a:rPr>
              <a:t>not</a:t>
            </a:r>
            <a:r>
              <a:rPr lang="pt-BR" sz="3500" dirty="0">
                <a:solidFill>
                  <a:srgbClr val="FFFFFF"/>
                </a:solidFill>
              </a:rPr>
              <a:t> use </a:t>
            </a:r>
            <a:r>
              <a:rPr lang="pt-BR" sz="3500" dirty="0" err="1">
                <a:solidFill>
                  <a:srgbClr val="FFFFFF"/>
                </a:solidFill>
              </a:rPr>
              <a:t>semi-structured</a:t>
            </a:r>
            <a:r>
              <a:rPr lang="pt-BR" sz="3500" dirty="0">
                <a:solidFill>
                  <a:srgbClr val="FFFFFF"/>
                </a:solidFill>
              </a:rPr>
              <a:t> data?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71943D3-FA15-EB16-E181-73217C068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24820"/>
            <a:ext cx="8229600" cy="4525963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Complex navigation of nested structures</a:t>
            </a:r>
            <a:endParaRPr lang="en-US" dirty="0"/>
          </a:p>
          <a:p>
            <a:pPr lvl="1"/>
            <a:r>
              <a:rPr lang="en-US" dirty="0"/>
              <a:t>Queries often require traversing multiple levels of hierarchy</a:t>
            </a:r>
          </a:p>
          <a:p>
            <a:pPr lvl="1"/>
            <a:r>
              <a:rPr lang="en-US" dirty="0"/>
              <a:t>Example: navigating a movie → cast → actor information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b="1" dirty="0"/>
              <a:t>Mixing logical and physical data organization</a:t>
            </a:r>
            <a:endParaRPr lang="en-US" dirty="0"/>
          </a:p>
          <a:p>
            <a:pPr lvl="1"/>
            <a:r>
              <a:rPr lang="en-US" dirty="0"/>
              <a:t>In relational databases, the </a:t>
            </a:r>
            <a:r>
              <a:rPr lang="en-US" b="1" dirty="0"/>
              <a:t>logical schema is independent of how data is stored on disk</a:t>
            </a:r>
            <a:endParaRPr lang="en-US" dirty="0"/>
          </a:p>
          <a:p>
            <a:pPr lvl="1"/>
            <a:r>
              <a:rPr lang="en-US" dirty="0"/>
              <a:t>This allows the database system to </a:t>
            </a:r>
            <a:r>
              <a:rPr lang="en-US" b="1" dirty="0"/>
              <a:t>optimize storage and queries</a:t>
            </a:r>
            <a:endParaRPr lang="en-US" dirty="0"/>
          </a:p>
          <a:p>
            <a:pPr lvl="1"/>
            <a:r>
              <a:rPr lang="en-US" dirty="0"/>
              <a:t>In nested models, the structure of the data is tightly coupled with its storage format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b="1" dirty="0"/>
              <a:t>High redundancy</a:t>
            </a:r>
            <a:endParaRPr lang="en-US" dirty="0"/>
          </a:p>
          <a:p>
            <a:pPr lvl="1"/>
            <a:r>
              <a:rPr lang="en-US" dirty="0"/>
              <a:t>The same information may be duplicated across documents</a:t>
            </a:r>
          </a:p>
          <a:p>
            <a:pPr lvl="1"/>
            <a:r>
              <a:rPr lang="en-US" dirty="0"/>
              <a:t>This can lead to </a:t>
            </a:r>
            <a:r>
              <a:rPr lang="en-US" b="1" dirty="0"/>
              <a:t>update and deletion </a:t>
            </a:r>
            <a:r>
              <a:rPr lang="en-US" b="1" dirty="0" err="1"/>
              <a:t>anomalie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558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FED612-4929-8AEE-64A8-09244F3E9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53D03A8-FA2C-F17C-C254-5FCFD2B6C6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1CBB08C-0E05-F271-2F82-B4BDF9F7C7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94906FB-BCFE-7097-BC27-0B64C87B6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39340E2-2D68-A4C8-DC92-AAD4E588F6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CEB79D-6501-A865-D1E3-0618CA95F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pt-PT" sz="3500" dirty="0">
                <a:solidFill>
                  <a:srgbClr val="FFFFFF"/>
                </a:solidFill>
              </a:rPr>
              <a:t>W</a:t>
            </a:r>
            <a:r>
              <a:rPr lang="pt-BR" sz="3500" dirty="0" err="1">
                <a:solidFill>
                  <a:srgbClr val="FFFFFF"/>
                </a:solidFill>
              </a:rPr>
              <a:t>hy</a:t>
            </a:r>
            <a:r>
              <a:rPr lang="pt-BR" sz="3500" dirty="0">
                <a:solidFill>
                  <a:srgbClr val="FFFFFF"/>
                </a:solidFill>
              </a:rPr>
              <a:t> </a:t>
            </a:r>
            <a:r>
              <a:rPr lang="pt-BR" sz="3500" dirty="0" err="1">
                <a:solidFill>
                  <a:srgbClr val="FFFFFF"/>
                </a:solidFill>
              </a:rPr>
              <a:t>not</a:t>
            </a:r>
            <a:r>
              <a:rPr lang="pt-BR" sz="3500" dirty="0">
                <a:solidFill>
                  <a:srgbClr val="FFFFFF"/>
                </a:solidFill>
              </a:rPr>
              <a:t> use </a:t>
            </a:r>
            <a:r>
              <a:rPr lang="pt-BR" sz="3500" dirty="0" err="1">
                <a:solidFill>
                  <a:srgbClr val="FFFFFF"/>
                </a:solidFill>
              </a:rPr>
              <a:t>semi-structured</a:t>
            </a:r>
            <a:r>
              <a:rPr lang="pt-BR" sz="3500" dirty="0">
                <a:solidFill>
                  <a:srgbClr val="FFFFFF"/>
                </a:solidFill>
              </a:rPr>
              <a:t> data?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574CA50-1455-64D0-A16F-57034FB177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406" y="2506717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/>
              <a:t>Despite these limitations, </a:t>
            </a:r>
            <a:r>
              <a:rPr lang="en-US" b="1" dirty="0"/>
              <a:t>semi-structured data is widely used today</a:t>
            </a:r>
            <a:r>
              <a:rPr lang="en-US" dirty="0"/>
              <a:t>, especially in:</a:t>
            </a:r>
          </a:p>
          <a:p>
            <a:r>
              <a:rPr lang="en-US" b="1" dirty="0"/>
              <a:t>Data ingestion pipelines</a:t>
            </a:r>
            <a:endParaRPr lang="en-US" dirty="0"/>
          </a:p>
          <a:p>
            <a:r>
              <a:rPr lang="en-US" b="1" dirty="0"/>
              <a:t>Data lakes and </a:t>
            </a:r>
            <a:r>
              <a:rPr lang="en-US" b="1" dirty="0" err="1"/>
              <a:t>lakehouses</a:t>
            </a:r>
            <a:endParaRPr lang="en-US" dirty="0"/>
          </a:p>
          <a:p>
            <a:r>
              <a:rPr lang="en-US" b="1" dirty="0"/>
              <a:t>APIs and web data</a:t>
            </a:r>
            <a:endParaRPr lang="en-US" dirty="0"/>
          </a:p>
          <a:p>
            <a:r>
              <a:rPr lang="en-US" b="1" dirty="0"/>
              <a:t>NoSQL systems such as MongoDB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69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1D7295-EC21-AF27-4CDC-3AA063571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99989D-57DC-ABE9-D024-A9D62AA28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D6EFE65-6F35-1298-FEAE-DE11CB42C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B390D8A-4B96-751C-0C7A-3AC7C1483A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B31CFB-7818-D191-7A59-85AF0A5772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5C64CB-4994-9A25-2FFB-A9A922190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pt-PT" sz="3500" dirty="0">
                <a:solidFill>
                  <a:srgbClr val="FFFFFF"/>
                </a:solidFill>
              </a:rPr>
              <a:t>W</a:t>
            </a:r>
            <a:r>
              <a:rPr lang="pt-BR" sz="3500" dirty="0" err="1">
                <a:solidFill>
                  <a:srgbClr val="FFFFFF"/>
                </a:solidFill>
              </a:rPr>
              <a:t>hy</a:t>
            </a:r>
            <a:r>
              <a:rPr lang="pt-BR" sz="3500" dirty="0">
                <a:solidFill>
                  <a:srgbClr val="FFFFFF"/>
                </a:solidFill>
              </a:rPr>
              <a:t> </a:t>
            </a:r>
            <a:r>
              <a:rPr lang="pt-BR" sz="3500" dirty="0" err="1">
                <a:solidFill>
                  <a:srgbClr val="FFFFFF"/>
                </a:solidFill>
              </a:rPr>
              <a:t>not</a:t>
            </a:r>
            <a:r>
              <a:rPr lang="pt-BR" sz="3500" dirty="0">
                <a:solidFill>
                  <a:srgbClr val="FFFFFF"/>
                </a:solidFill>
              </a:rPr>
              <a:t> use </a:t>
            </a:r>
            <a:r>
              <a:rPr lang="pt-BR" sz="3500" dirty="0" err="1">
                <a:solidFill>
                  <a:srgbClr val="FFFFFF"/>
                </a:solidFill>
              </a:rPr>
              <a:t>semi-structured</a:t>
            </a:r>
            <a:r>
              <a:rPr lang="pt-BR" sz="3500" dirty="0">
                <a:solidFill>
                  <a:srgbClr val="FFFFFF"/>
                </a:solidFill>
              </a:rPr>
              <a:t> data?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3937FD8-F2FB-BF12-65F8-120136B5C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019" y="1807535"/>
            <a:ext cx="8707987" cy="522514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Relational databases separate </a:t>
            </a:r>
            <a:r>
              <a:rPr lang="en-US" i="1" dirty="0"/>
              <a:t>how data is stored</a:t>
            </a:r>
            <a:r>
              <a:rPr lang="en-US" dirty="0"/>
              <a:t> from </a:t>
            </a:r>
            <a:r>
              <a:rPr lang="en-US" i="1" dirty="0"/>
              <a:t>how we query it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Semi-structured models usually mix both.</a:t>
            </a:r>
            <a:endParaRPr lang="en-US" b="1" dirty="0"/>
          </a:p>
          <a:p>
            <a:endParaRPr lang="en-US" b="1" dirty="0"/>
          </a:p>
          <a:p>
            <a:r>
              <a:rPr lang="en-US" b="1" dirty="0"/>
              <a:t>Further reading:</a:t>
            </a:r>
          </a:p>
          <a:p>
            <a:pPr lvl="1"/>
            <a:r>
              <a:rPr lang="en-US" dirty="0"/>
              <a:t>Bailis, Hellerstein, Stonebraker. </a:t>
            </a:r>
            <a:r>
              <a:rPr lang="en-US" i="1" dirty="0"/>
              <a:t>Red Book / Readings in Database Systems.</a:t>
            </a:r>
            <a:endParaRPr lang="en-US" dirty="0"/>
          </a:p>
          <a:p>
            <a:pPr lvl="1"/>
            <a:r>
              <a:rPr lang="en-US" dirty="0"/>
              <a:t>Hellerstein and Stonebraker. </a:t>
            </a:r>
            <a:r>
              <a:rPr lang="en-US" i="1" dirty="0"/>
              <a:t>What Goes Around Comes Around.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319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EB5604-ECE5-ABAA-F99B-3EF09B719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E93B18E-E82A-3790-84FC-0A6BFC8974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D9E4D9-E1EF-969D-F3BF-CB8F24E13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37BA42-FEA2-2059-96FA-2753568F64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3A074DF-8F49-CBD2-08BD-5D906A6F9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8C30A-234B-5FBC-E8C8-D2AF45D97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pt-BR" sz="3500" dirty="0">
                <a:solidFill>
                  <a:srgbClr val="FFFFFF"/>
                </a:solidFill>
              </a:rPr>
              <a:t>NO-SQL: </a:t>
            </a:r>
            <a:r>
              <a:rPr lang="pt-BR" sz="3500" dirty="0" err="1">
                <a:solidFill>
                  <a:srgbClr val="FFFFFF"/>
                </a:solidFill>
              </a:rPr>
              <a:t>Motivation</a:t>
            </a:r>
            <a:endParaRPr lang="pt-BR" sz="3500" dirty="0">
              <a:solidFill>
                <a:srgbClr val="FFFFFF"/>
              </a:solidFill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18E656D-CBCF-6EA1-2DC8-47AAFB11E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70321"/>
            <a:ext cx="8229600" cy="4525963"/>
          </a:xfrm>
        </p:spPr>
        <p:txBody>
          <a:bodyPr>
            <a:normAutofit fontScale="55000" lnSpcReduction="20000"/>
          </a:bodyPr>
          <a:lstStyle/>
          <a:p>
            <a:r>
              <a:rPr lang="en-US" b="1" dirty="0"/>
              <a:t>NoSQL</a:t>
            </a:r>
            <a:r>
              <a:rPr lang="en-US" dirty="0"/>
              <a:t> is a well-known term for </a:t>
            </a:r>
            <a:r>
              <a:rPr lang="en-US" b="1" dirty="0"/>
              <a:t>document-based data storage</a:t>
            </a:r>
            <a:r>
              <a:rPr lang="en-US" dirty="0"/>
              <a:t>.</a:t>
            </a:r>
          </a:p>
          <a:p>
            <a:r>
              <a:rPr lang="en-US" dirty="0"/>
              <a:t>Ability to store </a:t>
            </a:r>
            <a:r>
              <a:rPr lang="en-US" b="1" dirty="0"/>
              <a:t>semi-structured and structured data</a:t>
            </a:r>
            <a:r>
              <a:rPr lang="en-US" dirty="0"/>
              <a:t>.</a:t>
            </a:r>
          </a:p>
          <a:p>
            <a:r>
              <a:rPr lang="en-US" b="1" dirty="0"/>
              <a:t>Reduced functionality</a:t>
            </a:r>
            <a:r>
              <a:rPr lang="en-US" dirty="0"/>
              <a:t> with a simpler data model.</a:t>
            </a:r>
          </a:p>
          <a:p>
            <a:r>
              <a:rPr lang="en-US" b="1" dirty="0"/>
              <a:t>Restricted queries/updates</a:t>
            </a:r>
            <a:r>
              <a:rPr lang="en-US" dirty="0"/>
              <a:t>, but optimized for </a:t>
            </a:r>
            <a:r>
              <a:rPr lang="en-US" b="1" dirty="0"/>
              <a:t>querying and scaling</a:t>
            </a:r>
            <a:r>
              <a:rPr lang="en-US" dirty="0"/>
              <a:t>.</a:t>
            </a:r>
          </a:p>
          <a:p>
            <a:r>
              <a:rPr lang="en-US" dirty="0"/>
              <a:t>NoSQL emerged in the </a:t>
            </a:r>
            <a:r>
              <a:rPr lang="en-US" b="1" dirty="0"/>
              <a:t>late 2000s</a:t>
            </a:r>
            <a:r>
              <a:rPr lang="en-US" dirty="0"/>
              <a:t> (although related ideas existed since the 1960s).</a:t>
            </a:r>
          </a:p>
          <a:p>
            <a:r>
              <a:rPr lang="en-US" dirty="0"/>
              <a:t>Mainly motivated by the </a:t>
            </a:r>
            <a:r>
              <a:rPr lang="en-US" b="1" dirty="0"/>
              <a:t>boom of Web 2.0 applications</a:t>
            </a:r>
            <a:r>
              <a:rPr lang="en-US" dirty="0"/>
              <a:t>: Facebook, Amazon, etc.</a:t>
            </a:r>
          </a:p>
          <a:p>
            <a:endParaRPr lang="en-US" b="1" dirty="0"/>
          </a:p>
          <a:p>
            <a:r>
              <a:rPr lang="en-US" b="1" dirty="0"/>
              <a:t>Constantly changing data requirements</a:t>
            </a:r>
            <a:endParaRPr lang="en-US" dirty="0"/>
          </a:p>
          <a:p>
            <a:pPr lvl="1"/>
            <a:r>
              <a:rPr lang="en-US" dirty="0"/>
              <a:t>Example: Adding a new attribute to a Facebook profile</a:t>
            </a:r>
          </a:p>
          <a:p>
            <a:pPr lvl="1"/>
            <a:r>
              <a:rPr lang="en-US" dirty="0"/>
              <a:t>Rapid data changes are not compatible with defining the schema in advance, and </a:t>
            </a:r>
            <a:r>
              <a:rPr lang="en-US" b="1" dirty="0"/>
              <a:t>changing the schema can be expensive</a:t>
            </a:r>
            <a:endParaRPr lang="en-US" dirty="0"/>
          </a:p>
          <a:p>
            <a:r>
              <a:rPr lang="en-US" b="1" dirty="0"/>
              <a:t>Data loading compatible with large-scale systems</a:t>
            </a:r>
            <a:endParaRPr lang="en-US" dirty="0"/>
          </a:p>
          <a:p>
            <a:pPr lvl="1"/>
            <a:r>
              <a:rPr lang="en-US" dirty="0"/>
              <a:t>Startups and rapidly growing customer databases worldwide</a:t>
            </a:r>
          </a:p>
          <a:p>
            <a:pPr lvl="1"/>
            <a:r>
              <a:rPr lang="en-US" dirty="0"/>
              <a:t>Example: Ensuring fast access for users both in the EU and in Asia, even while traveling</a:t>
            </a:r>
          </a:p>
          <a:p>
            <a:pPr lvl="1"/>
            <a:r>
              <a:rPr lang="en-US" dirty="0"/>
              <a:t>Example: Guaranteeing write access for each individual customer</a:t>
            </a:r>
          </a:p>
        </p:txBody>
      </p:sp>
    </p:spTree>
    <p:extLst>
      <p:ext uri="{BB962C8B-B14F-4D97-AF65-F5344CB8AC3E}">
        <p14:creationId xmlns:p14="http://schemas.microsoft.com/office/powerpoint/2010/main" val="1125184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50EBB0-A6CE-D1D7-C4AD-D26A0043F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97E7F3F-2E0D-8107-26E3-61E55D1D70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81ACB1-6434-226E-7F0B-6DB176D25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D110233-2946-C646-9232-E930F51B7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12A9C2-1D7B-A7EA-F9AE-4A9B06DC4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11714D-AC61-3482-D383-6E20EA03C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pt-BR" sz="3500" dirty="0">
                <a:solidFill>
                  <a:srgbClr val="FFFFFF"/>
                </a:solidFill>
              </a:rPr>
              <a:t>SQL x </a:t>
            </a:r>
            <a:r>
              <a:rPr lang="pt-BR" sz="3500" dirty="0" err="1">
                <a:solidFill>
                  <a:srgbClr val="FFFFFF"/>
                </a:solidFill>
              </a:rPr>
              <a:t>NoSQL</a:t>
            </a:r>
            <a:r>
              <a:rPr lang="pt-BR" sz="3500" dirty="0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24C509-679A-F108-20F9-E74D1A10BA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70321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goal is to build a service for </a:t>
            </a:r>
            <a:r>
              <a:rPr lang="en-US" b="1" dirty="0"/>
              <a:t>tens of millions of Amazon customers</a:t>
            </a:r>
            <a:r>
              <a:rPr lang="en-US" dirty="0"/>
              <a:t> that stores the </a:t>
            </a:r>
            <a:r>
              <a:rPr lang="en-US" b="1" dirty="0"/>
              <a:t>last 100 products viewed by each user</a:t>
            </a:r>
            <a:r>
              <a:rPr lang="en-US" dirty="0"/>
              <a:t>.</a:t>
            </a:r>
          </a:p>
          <a:p>
            <a:r>
              <a:rPr lang="en-US" dirty="0"/>
              <a:t>The stored data depends on each customer and will be used for </a:t>
            </a:r>
            <a:r>
              <a:rPr lang="en-US" b="1" dirty="0"/>
              <a:t>targeted advertising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It is acceptable if the data becomes </a:t>
            </a:r>
            <a:r>
              <a:rPr lang="en-US" b="1" dirty="0"/>
              <a:t>slightly outdated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4243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8900AD-C4F3-AB9C-BA46-C90F33FE5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B2B64DE-1420-080F-5848-0306217854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D02940-C8A9-4708-486F-39017766F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BF076C-40D9-DCED-D921-94E200C8C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5C8570A-8135-83EC-E98C-44622A496A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8DF701-F6B8-5C6E-82CB-2099E1C0B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pt-BR" sz="3500" dirty="0">
                <a:solidFill>
                  <a:srgbClr val="FFFFFF"/>
                </a:solidFill>
              </a:rPr>
              <a:t>SQL x </a:t>
            </a:r>
            <a:r>
              <a:rPr lang="pt-BR" sz="3500" dirty="0" err="1">
                <a:solidFill>
                  <a:srgbClr val="FFFFFF"/>
                </a:solidFill>
              </a:rPr>
              <a:t>NoSQL</a:t>
            </a:r>
            <a:r>
              <a:rPr lang="pt-BR" sz="3500" dirty="0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8BFA397-6768-198D-FF83-8657A356B5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506717"/>
            <a:ext cx="8229600" cy="4525963"/>
          </a:xfrm>
        </p:spPr>
        <p:txBody>
          <a:bodyPr>
            <a:normAutofit/>
          </a:bodyPr>
          <a:lstStyle/>
          <a:p>
            <a:r>
              <a:rPr lang="en-US" b="1" dirty="0"/>
              <a:t>Recommended choice: NoSQL</a:t>
            </a:r>
            <a:endParaRPr lang="en-US" dirty="0"/>
          </a:p>
          <a:p>
            <a:r>
              <a:rPr lang="en-US" dirty="0"/>
              <a:t>Reason:</a:t>
            </a:r>
          </a:p>
          <a:p>
            <a:pPr lvl="1"/>
            <a:r>
              <a:rPr lang="en-US" dirty="0"/>
              <a:t>High scalability</a:t>
            </a:r>
          </a:p>
          <a:p>
            <a:pPr lvl="1"/>
            <a:r>
              <a:rPr lang="en-US" dirty="0"/>
              <a:t>Simple data model</a:t>
            </a:r>
          </a:p>
          <a:p>
            <a:pPr lvl="1"/>
            <a:r>
              <a:rPr lang="en-US" dirty="0"/>
              <a:t>Eventual consistency is acceptable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619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BD523C-6BA5-0B60-F133-54863A405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0C0DB12-2388-230D-F065-98807167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804A2F-C160-1CA4-F65E-6A8BEC50F9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DA30805-975F-9CCE-6D5D-7C85007BD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662ABC-BCD7-8E36-9A93-90FC554F6F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6AF20A-609F-7884-6697-7F89438DC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pt-BR" sz="3500" dirty="0">
                <a:solidFill>
                  <a:srgbClr val="FFFFFF"/>
                </a:solidFill>
              </a:rPr>
              <a:t>SQL x </a:t>
            </a:r>
            <a:r>
              <a:rPr lang="pt-BR" sz="3500" dirty="0" err="1">
                <a:solidFill>
                  <a:srgbClr val="FFFFFF"/>
                </a:solidFill>
              </a:rPr>
              <a:t>NoSQL</a:t>
            </a:r>
            <a:r>
              <a:rPr lang="pt-BR" sz="3500" dirty="0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ED5DEDB-3CE2-A000-560A-5D93AD35CA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36866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/>
              <a:t>The goal is to build a </a:t>
            </a:r>
            <a:r>
              <a:rPr lang="en-US" b="1" dirty="0"/>
              <a:t>PayPal loan service</a:t>
            </a:r>
            <a:r>
              <a:rPr lang="en-US" dirty="0"/>
              <a:t> that allows users to apply for loans through the application.</a:t>
            </a:r>
          </a:p>
          <a:p>
            <a:r>
              <a:rPr lang="en-US" dirty="0"/>
              <a:t>The system must store:</a:t>
            </a:r>
          </a:p>
          <a:p>
            <a:pPr lvl="1"/>
            <a:r>
              <a:rPr lang="en-US" dirty="0"/>
              <a:t>loan requests</a:t>
            </a:r>
          </a:p>
          <a:p>
            <a:pPr lvl="1"/>
            <a:r>
              <a:rPr lang="en-US" dirty="0"/>
              <a:t>current user balance</a:t>
            </a:r>
          </a:p>
          <a:p>
            <a:pPr lvl="1"/>
            <a:r>
              <a:rPr lang="en-US" dirty="0"/>
              <a:t>transaction history</a:t>
            </a:r>
          </a:p>
        </p:txBody>
      </p:sp>
    </p:spTree>
    <p:extLst>
      <p:ext uri="{BB962C8B-B14F-4D97-AF65-F5344CB8AC3E}">
        <p14:creationId xmlns:p14="http://schemas.microsoft.com/office/powerpoint/2010/main" val="42102772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02640-DFA4-0CBD-A316-85E107510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643FB24-0FCC-989A-D5D7-EFC67F1984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B75376-4F1C-C1B5-C7DD-3CD7D7281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7AF50D-E49A-9D97-2422-A5AA67DEC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6B6E7E-C1DA-5EE3-62B7-C91FF21E70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43F828-C3DD-7313-3E49-B67A8769E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pt-BR" sz="3500" dirty="0">
                <a:solidFill>
                  <a:srgbClr val="FFFFFF"/>
                </a:solidFill>
              </a:rPr>
              <a:t>SQL x </a:t>
            </a:r>
            <a:r>
              <a:rPr lang="pt-BR" sz="3500" dirty="0" err="1">
                <a:solidFill>
                  <a:srgbClr val="FFFFFF"/>
                </a:solidFill>
              </a:rPr>
              <a:t>NoSQL</a:t>
            </a:r>
            <a:r>
              <a:rPr lang="pt-BR" sz="3500" dirty="0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E6ADEE9-B50F-6D88-4169-CCA7875C9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506717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/>
              <a:t>Hints:</a:t>
            </a:r>
          </a:p>
          <a:p>
            <a:pPr lvl="1"/>
            <a:r>
              <a:rPr lang="en-US" dirty="0"/>
              <a:t>In financial applications </a:t>
            </a:r>
            <a:r>
              <a:rPr lang="en-US" b="1" dirty="0"/>
              <a:t>data consistency is critical</a:t>
            </a:r>
            <a:endParaRPr lang="en-US" dirty="0"/>
          </a:p>
          <a:p>
            <a:pPr lvl="1"/>
            <a:r>
              <a:rPr lang="en-US" dirty="0"/>
              <a:t>Loan, balance, and transaction data </a:t>
            </a:r>
            <a:r>
              <a:rPr lang="en-US" b="1" dirty="0"/>
              <a:t>have strong relationships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727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BB31D2-B88D-D44E-CA60-A960E124F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42811F1-E9FE-1311-C8AE-FEAD59C029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56D151-1109-BDF4-984F-9E9936E2F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4F14D4-B1C8-064D-4DD8-34CB78FFF0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FDEE155-3318-1D2E-47BC-F2F91F61E4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B2F62F-4AB1-E252-876C-DA38E08C8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pt-BR" sz="3500" dirty="0">
                <a:solidFill>
                  <a:srgbClr val="FFFFFF"/>
                </a:solidFill>
              </a:rPr>
              <a:t>SQL x </a:t>
            </a:r>
            <a:r>
              <a:rPr lang="pt-BR" sz="3500" dirty="0" err="1">
                <a:solidFill>
                  <a:srgbClr val="FFFFFF"/>
                </a:solidFill>
              </a:rPr>
              <a:t>NoSQL</a:t>
            </a:r>
            <a:r>
              <a:rPr lang="pt-BR" sz="3500" dirty="0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8350381-D4C7-0501-171C-694905DA0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406" y="2506717"/>
            <a:ext cx="8229600" cy="4525963"/>
          </a:xfrm>
        </p:spPr>
        <p:txBody>
          <a:bodyPr>
            <a:normAutofit/>
          </a:bodyPr>
          <a:lstStyle/>
          <a:p>
            <a:r>
              <a:rPr lang="en-US" b="1" dirty="0"/>
              <a:t>Recommended choice: SQL</a:t>
            </a:r>
            <a:endParaRPr lang="en-US" dirty="0"/>
          </a:p>
          <a:p>
            <a:r>
              <a:rPr lang="en-US" dirty="0"/>
              <a:t>Reason:</a:t>
            </a:r>
          </a:p>
          <a:p>
            <a:pPr lvl="1"/>
            <a:r>
              <a:rPr lang="en-US" dirty="0"/>
              <a:t>ACID transactions</a:t>
            </a:r>
          </a:p>
          <a:p>
            <a:pPr lvl="1"/>
            <a:r>
              <a:rPr lang="en-US" dirty="0"/>
              <a:t>Strong consistency</a:t>
            </a:r>
          </a:p>
          <a:p>
            <a:pPr lvl="1"/>
            <a:r>
              <a:rPr lang="en-US" dirty="0"/>
              <a:t>Relational data model</a:t>
            </a:r>
          </a:p>
        </p:txBody>
      </p:sp>
    </p:spTree>
    <p:extLst>
      <p:ext uri="{BB962C8B-B14F-4D97-AF65-F5344CB8AC3E}">
        <p14:creationId xmlns:p14="http://schemas.microsoft.com/office/powerpoint/2010/main" val="39732979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36ED2A-F83F-8FE2-7515-59F8526DD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37F7648-E147-038E-8B6A-52E138E4D8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AEB783-5C99-AE03-6A1A-E0C7E9293D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40745B4-A230-FB8E-08DC-8590D13117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0EF24C-CB10-827E-635A-C3B2373C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D53163-2237-A5B4-949B-9A0CACBBA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pt-BR" sz="3500" dirty="0">
                <a:solidFill>
                  <a:srgbClr val="FFFFFF"/>
                </a:solidFill>
              </a:rPr>
              <a:t>SQL x </a:t>
            </a:r>
            <a:r>
              <a:rPr lang="pt-BR" sz="3500" dirty="0" err="1">
                <a:solidFill>
                  <a:srgbClr val="FFFFFF"/>
                </a:solidFill>
              </a:rPr>
              <a:t>NoSQL</a:t>
            </a:r>
            <a:r>
              <a:rPr lang="pt-BR" sz="3500" dirty="0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7E99F4C-B296-C336-6C0A-CD1057F71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181" y="2477714"/>
            <a:ext cx="8654825" cy="5107860"/>
          </a:xfrm>
        </p:spPr>
        <p:txBody>
          <a:bodyPr>
            <a:normAutofit/>
          </a:bodyPr>
          <a:lstStyle/>
          <a:p>
            <a:r>
              <a:rPr lang="en-US" dirty="0"/>
              <a:t>SQL databases prioritize </a:t>
            </a:r>
            <a:r>
              <a:rPr lang="en-US" b="1" dirty="0"/>
              <a:t>consistency and relationships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r>
              <a:rPr lang="en-US" dirty="0"/>
              <a:t>NoSQL prioritizes </a:t>
            </a:r>
            <a:r>
              <a:rPr lang="en-US" b="1" dirty="0"/>
              <a:t>scalability and flexibility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9138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302872-6208-5083-FEFE-467056AC4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57FAAB9-1F2F-C242-C644-65B7D076E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1E8917C-4398-CD92-7C97-A19CF40CF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452B02-4065-7637-3BC0-EB1101D7B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C8B891E-0F5B-1B41-4401-C4755A304F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8108EC-31F8-9CD1-88D4-BFAA478AA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pt-BR" sz="3500" dirty="0" err="1">
                <a:solidFill>
                  <a:srgbClr val="FFFFFF"/>
                </a:solidFill>
              </a:rPr>
              <a:t>MongoDB</a:t>
            </a:r>
            <a:r>
              <a:rPr lang="pt-BR" sz="3500" dirty="0">
                <a:solidFill>
                  <a:srgbClr val="FFFFFF"/>
                </a:solidFill>
              </a:rPr>
              <a:t>: </a:t>
            </a:r>
            <a:r>
              <a:rPr lang="pt-BR" sz="3500" dirty="0" err="1">
                <a:solidFill>
                  <a:srgbClr val="FFFFFF"/>
                </a:solidFill>
              </a:rPr>
              <a:t>Document</a:t>
            </a:r>
            <a:r>
              <a:rPr lang="pt-BR" sz="3500" dirty="0">
                <a:solidFill>
                  <a:srgbClr val="FFFFFF"/>
                </a:solidFill>
              </a:rPr>
              <a:t> </a:t>
            </a:r>
            <a:r>
              <a:rPr lang="pt-BR" sz="3500" dirty="0" err="1">
                <a:solidFill>
                  <a:srgbClr val="FFFFFF"/>
                </a:solidFill>
              </a:rPr>
              <a:t>Storage</a:t>
            </a:r>
            <a:endParaRPr lang="pt-BR" sz="3500" dirty="0">
              <a:solidFill>
                <a:srgbClr val="FFFFFF"/>
              </a:solidFill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A97CD7E-197C-0F16-E368-48A6647BA4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181" y="1662802"/>
            <a:ext cx="8654825" cy="510786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The name comes from </a:t>
            </a:r>
            <a:r>
              <a:rPr lang="en-US" b="1" dirty="0"/>
              <a:t>“hu</a:t>
            </a:r>
            <a:r>
              <a:rPr lang="en-US" b="1" dirty="0">
                <a:solidFill>
                  <a:srgbClr val="92D050"/>
                </a:solidFill>
              </a:rPr>
              <a:t>mongo</a:t>
            </a:r>
            <a:r>
              <a:rPr lang="en-US" b="1" dirty="0"/>
              <a:t>us” – (huge + monstrous)</a:t>
            </a:r>
            <a:endParaRPr lang="en-US" dirty="0"/>
          </a:p>
          <a:p>
            <a:r>
              <a:rPr lang="en-US" dirty="0"/>
              <a:t>First version released in </a:t>
            </a:r>
            <a:r>
              <a:rPr lang="en-US" b="1" dirty="0"/>
              <a:t>2009</a:t>
            </a:r>
            <a:endParaRPr lang="en-US" dirty="0"/>
          </a:p>
          <a:p>
            <a:pPr lvl="1"/>
            <a:r>
              <a:rPr lang="en-US" dirty="0"/>
              <a:t>Facebook surpasses </a:t>
            </a:r>
            <a:r>
              <a:rPr lang="en-US" b="1" dirty="0"/>
              <a:t>150 million users</a:t>
            </a:r>
            <a:endParaRPr lang="en-US" dirty="0"/>
          </a:p>
          <a:p>
            <a:pPr lvl="1"/>
            <a:r>
              <a:rPr lang="en-US" dirty="0"/>
              <a:t>Amazon profits increase by </a:t>
            </a:r>
            <a:r>
              <a:rPr lang="en-US" b="1" dirty="0"/>
              <a:t>~70%</a:t>
            </a:r>
            <a:endParaRPr lang="en-US" dirty="0"/>
          </a:p>
          <a:p>
            <a:r>
              <a:rPr lang="en-US" b="1" dirty="0"/>
              <a:t>IPO in 2017</a:t>
            </a:r>
            <a:endParaRPr lang="en-US" dirty="0"/>
          </a:p>
          <a:p>
            <a:r>
              <a:rPr lang="en-US" dirty="0"/>
              <a:t>MongoDB quickly </a:t>
            </a:r>
            <a:r>
              <a:rPr lang="en-US" b="1" dirty="0"/>
              <a:t>evolved to address a real need</a:t>
            </a:r>
            <a:r>
              <a:rPr lang="en-US" dirty="0"/>
              <a:t>.</a:t>
            </a:r>
          </a:p>
          <a:p>
            <a:r>
              <a:rPr lang="en-US" dirty="0"/>
              <a:t>Early versions focused on </a:t>
            </a:r>
            <a:r>
              <a:rPr lang="en-US" b="1" dirty="0"/>
              <a:t>storing and querying JSON documents quickly</a:t>
            </a:r>
            <a:endParaRPr lang="en-US" dirty="0"/>
          </a:p>
          <a:p>
            <a:pPr lvl="1"/>
            <a:r>
              <a:rPr lang="en-US" b="1" dirty="0"/>
              <a:t>No joins</a:t>
            </a:r>
            <a:endParaRPr lang="en-US" dirty="0"/>
          </a:p>
          <a:p>
            <a:pPr lvl="1"/>
            <a:r>
              <a:rPr lang="en-US" b="1" dirty="0"/>
              <a:t>Limited query capabilities</a:t>
            </a:r>
            <a:endParaRPr lang="en-US" dirty="0"/>
          </a:p>
          <a:p>
            <a:r>
              <a:rPr lang="en-US" dirty="0"/>
              <a:t>Today it is designed to use </a:t>
            </a:r>
            <a:r>
              <a:rPr lang="en-US" b="1" dirty="0"/>
              <a:t>JSON-like schemas</a:t>
            </a:r>
            <a:endParaRPr lang="en-US" dirty="0"/>
          </a:p>
          <a:p>
            <a:pPr lvl="1"/>
            <a:r>
              <a:rPr lang="en-US" dirty="0"/>
              <a:t>Supports </a:t>
            </a:r>
            <a:r>
              <a:rPr lang="en-US" b="1" dirty="0"/>
              <a:t>left outer joins</a:t>
            </a:r>
            <a:endParaRPr lang="en-US" dirty="0"/>
          </a:p>
          <a:p>
            <a:pPr lvl="1"/>
            <a:r>
              <a:rPr lang="en-US" dirty="0"/>
              <a:t>Still </a:t>
            </a:r>
            <a:r>
              <a:rPr lang="en-US" b="1" dirty="0"/>
              <a:t>some limitations for complex queries</a:t>
            </a:r>
            <a:endParaRPr lang="en-US" dirty="0"/>
          </a:p>
          <a:p>
            <a:endParaRPr lang="en-US" dirty="0"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  <p:extLst>
      <p:ext uri="{BB962C8B-B14F-4D97-AF65-F5344CB8AC3E}">
        <p14:creationId xmlns:p14="http://schemas.microsoft.com/office/powerpoint/2010/main" val="4653875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FA53DE-FF23-3942-EBCA-B58015C6E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38600C-039A-49DB-2C81-B5544E5F35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13AD32-63BF-DF80-A9E1-E2E8D743A2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63606D-4534-9218-449C-F9BB79259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65F9CFC-F665-31EC-7FD4-B0AF0CE69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483083-A967-FCA0-A8C1-4528B1481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pt-BR" sz="3500" dirty="0" err="1">
                <a:solidFill>
                  <a:srgbClr val="FFFFFF"/>
                </a:solidFill>
              </a:rPr>
              <a:t>MongoDB</a:t>
            </a:r>
            <a:r>
              <a:rPr lang="pt-BR" sz="3500" dirty="0">
                <a:solidFill>
                  <a:srgbClr val="FFFFFF"/>
                </a:solidFill>
              </a:rPr>
              <a:t>: </a:t>
            </a:r>
            <a:r>
              <a:rPr lang="pt-BR" sz="3500" dirty="0" err="1">
                <a:solidFill>
                  <a:srgbClr val="FFFFFF"/>
                </a:solidFill>
              </a:rPr>
              <a:t>Document</a:t>
            </a:r>
            <a:r>
              <a:rPr lang="pt-BR" sz="3500" dirty="0">
                <a:solidFill>
                  <a:srgbClr val="FFFFFF"/>
                </a:solidFill>
              </a:rPr>
              <a:t> </a:t>
            </a:r>
            <a:r>
              <a:rPr lang="pt-BR" sz="3500" dirty="0" err="1">
                <a:solidFill>
                  <a:srgbClr val="FFFFFF"/>
                </a:solidFill>
              </a:rPr>
              <a:t>Storage</a:t>
            </a:r>
            <a:endParaRPr lang="pt-BR" sz="3500" dirty="0">
              <a:solidFill>
                <a:srgbClr val="FFFFFF"/>
              </a:solidFill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5515D19-2975-080C-ED59-475E0DF9C5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181" y="2477714"/>
            <a:ext cx="8654825" cy="5107860"/>
          </a:xfrm>
        </p:spPr>
        <p:txBody>
          <a:bodyPr>
            <a:normAutofit/>
          </a:bodyPr>
          <a:lstStyle/>
          <a:p>
            <a:endParaRPr lang="en-US" dirty="0">
              <a:latin typeface="Roboto Light"/>
              <a:ea typeface="Roboto Light"/>
              <a:cs typeface="Roboto Light"/>
              <a:sym typeface="Roboto Light"/>
            </a:endParaRPr>
          </a:p>
          <a:p>
            <a:endParaRPr lang="en-US" dirty="0">
              <a:latin typeface="Roboto Light"/>
              <a:ea typeface="Roboto Light"/>
              <a:cs typeface="Roboto Light"/>
              <a:sym typeface="Roboto Light"/>
            </a:endParaRPr>
          </a:p>
          <a:p>
            <a:endParaRPr lang="en-US" dirty="0">
              <a:latin typeface="Roboto Light"/>
              <a:ea typeface="Roboto Light"/>
              <a:cs typeface="Roboto Light"/>
              <a:sym typeface="Roboto Light"/>
            </a:endParaRPr>
          </a:p>
          <a:p>
            <a:endParaRPr lang="en-US" dirty="0">
              <a:latin typeface="Roboto Light"/>
              <a:ea typeface="Roboto Light"/>
              <a:cs typeface="Roboto Light"/>
              <a:sym typeface="Roboto Light"/>
            </a:endParaRPr>
          </a:p>
          <a:p>
            <a:endParaRPr lang="en-US" dirty="0">
              <a:latin typeface="Roboto Light"/>
              <a:ea typeface="Roboto Light"/>
              <a:cs typeface="Roboto Light"/>
              <a:sym typeface="Roboto Light"/>
            </a:endParaRPr>
          </a:p>
          <a:p>
            <a:endParaRPr lang="en-US"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0" indent="0" algn="ctr">
              <a:buNone/>
            </a:pPr>
            <a:r>
              <a:rPr lang="en-US" dirty="0">
                <a:latin typeface="Roboto Light"/>
                <a:ea typeface="Roboto Light"/>
                <a:cs typeface="Roboto Light"/>
                <a:sym typeface="Roboto Light"/>
              </a:rPr>
              <a:t>$24B Market Capital as of 2023!</a:t>
            </a:r>
          </a:p>
          <a:p>
            <a:endParaRPr lang="en-US" dirty="0"/>
          </a:p>
        </p:txBody>
      </p:sp>
      <p:pic>
        <p:nvPicPr>
          <p:cNvPr id="3" name="Google Shape;243;p40">
            <a:extLst>
              <a:ext uri="{FF2B5EF4-FFF2-40B4-BE49-F238E27FC236}">
                <a16:creationId xmlns:a16="http://schemas.microsoft.com/office/drawing/2014/main" id="{EFA15EB8-2224-9698-5ED0-FAD3A5D03F5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61799" y="3379039"/>
            <a:ext cx="7735634" cy="252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48;p40">
            <a:extLst>
              <a:ext uri="{FF2B5EF4-FFF2-40B4-BE49-F238E27FC236}">
                <a16:creationId xmlns:a16="http://schemas.microsoft.com/office/drawing/2014/main" id="{B58CF6CA-2AA4-B3AC-84DB-B7DA462EF1D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2765" y="2423553"/>
            <a:ext cx="3313701" cy="9013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784757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BB446B-270F-576D-39A5-74A8BB130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E1E2AA6-845C-5610-6C7E-E41B94715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5A30CA-51DE-A2D6-0B43-1506FB7F53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E5187F1-6C94-1C6A-F057-1DABBC0BD3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9D8AEFA-7B96-9277-379F-FD158CC38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A64A9E-77D3-CF24-DA61-42D577E25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pt-BR" sz="3500" dirty="0" err="1">
                <a:solidFill>
                  <a:srgbClr val="FFFFFF"/>
                </a:solidFill>
              </a:rPr>
              <a:t>MongoDB</a:t>
            </a:r>
            <a:r>
              <a:rPr lang="pt-BR" sz="3500" dirty="0">
                <a:solidFill>
                  <a:srgbClr val="FFFFFF"/>
                </a:solidFill>
              </a:rPr>
              <a:t>: </a:t>
            </a:r>
            <a:r>
              <a:rPr lang="pt-BR" sz="3500" dirty="0" err="1">
                <a:solidFill>
                  <a:srgbClr val="FFFFFF"/>
                </a:solidFill>
              </a:rPr>
              <a:t>Collections</a:t>
            </a:r>
            <a:r>
              <a:rPr lang="pt-BR" sz="3500" dirty="0">
                <a:solidFill>
                  <a:srgbClr val="FFFFFF"/>
                </a:solidFill>
              </a:rPr>
              <a:t> </a:t>
            </a:r>
            <a:r>
              <a:rPr lang="pt-BR" sz="3500" dirty="0" err="1">
                <a:solidFill>
                  <a:srgbClr val="FFFFFF"/>
                </a:solidFill>
              </a:rPr>
              <a:t>and</a:t>
            </a:r>
            <a:r>
              <a:rPr lang="pt-BR" sz="3500" dirty="0">
                <a:solidFill>
                  <a:srgbClr val="FFFFFF"/>
                </a:solidFill>
              </a:rPr>
              <a:t> </a:t>
            </a:r>
            <a:r>
              <a:rPr lang="pt-BR" sz="3500" dirty="0" err="1">
                <a:solidFill>
                  <a:srgbClr val="FFFFFF"/>
                </a:solidFill>
              </a:rPr>
              <a:t>Documents</a:t>
            </a:r>
            <a:endParaRPr lang="pt-BR" sz="3500" dirty="0">
              <a:solidFill>
                <a:srgbClr val="FFFFFF"/>
              </a:solidFill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080FE11-23C8-EFA6-7CE9-D0BCE8B955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181" y="2477714"/>
            <a:ext cx="8654825" cy="5107860"/>
          </a:xfrm>
        </p:spPr>
        <p:txBody>
          <a:bodyPr>
            <a:normAutofit/>
          </a:bodyPr>
          <a:lstStyle/>
          <a:p>
            <a:r>
              <a:rPr lang="en-US" b="1" dirty="0"/>
              <a:t>MongoDB Collections and Documents</a:t>
            </a:r>
          </a:p>
          <a:p>
            <a:r>
              <a:rPr lang="en-US" dirty="0"/>
              <a:t>MongoDB stores data in </a:t>
            </a:r>
            <a:r>
              <a:rPr lang="en-US" b="1" dirty="0"/>
              <a:t>collections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A collection contains multiple </a:t>
            </a:r>
            <a:r>
              <a:rPr lang="en-US" b="1" dirty="0"/>
              <a:t>documents</a:t>
            </a:r>
            <a:r>
              <a:rPr lang="en-US" dirty="0"/>
              <a:t>.</a:t>
            </a:r>
          </a:p>
          <a:p>
            <a:r>
              <a:rPr lang="en-US" dirty="0"/>
              <a:t>A </a:t>
            </a:r>
            <a:r>
              <a:rPr lang="en-US" b="1" dirty="0"/>
              <a:t>document</a:t>
            </a:r>
            <a:r>
              <a:rPr lang="en-US" dirty="0"/>
              <a:t> is a JSON-like structure composed of </a:t>
            </a:r>
            <a:r>
              <a:rPr lang="en-US" b="1" dirty="0"/>
              <a:t>key–value pairs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  <p:extLst>
      <p:ext uri="{BB962C8B-B14F-4D97-AF65-F5344CB8AC3E}">
        <p14:creationId xmlns:p14="http://schemas.microsoft.com/office/powerpoint/2010/main" val="4257082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4C026C-B80D-276B-CD9F-F06103FA9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AF42FB6-7D4C-811B-A783-42908988C5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C4F8F5-CB28-6E9E-C874-2E2D4F31FA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730031-F8BB-3D3C-08EC-C17706F9AE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D046480-D4BB-CD05-E5BC-CFA905253C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D7F12E-2A52-438D-13DA-6A5FCB68E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pt-BR" sz="3500" dirty="0" err="1">
                <a:solidFill>
                  <a:srgbClr val="FFFFFF"/>
                </a:solidFill>
              </a:rPr>
              <a:t>MongoDB</a:t>
            </a:r>
            <a:r>
              <a:rPr lang="pt-BR" sz="3500" dirty="0">
                <a:solidFill>
                  <a:srgbClr val="FFFFFF"/>
                </a:solidFill>
              </a:rPr>
              <a:t>: </a:t>
            </a:r>
            <a:r>
              <a:rPr lang="pt-BR" sz="3500" dirty="0" err="1">
                <a:solidFill>
                  <a:srgbClr val="FFFFFF"/>
                </a:solidFill>
              </a:rPr>
              <a:t>Collections</a:t>
            </a:r>
            <a:r>
              <a:rPr lang="pt-BR" sz="3500" dirty="0">
                <a:solidFill>
                  <a:srgbClr val="FFFFFF"/>
                </a:solidFill>
              </a:rPr>
              <a:t> </a:t>
            </a:r>
            <a:r>
              <a:rPr lang="pt-BR" sz="3500" dirty="0" err="1">
                <a:solidFill>
                  <a:srgbClr val="FFFFFF"/>
                </a:solidFill>
              </a:rPr>
              <a:t>and</a:t>
            </a:r>
            <a:r>
              <a:rPr lang="pt-BR" sz="3500" dirty="0">
                <a:solidFill>
                  <a:srgbClr val="FFFFFF"/>
                </a:solidFill>
              </a:rPr>
              <a:t> </a:t>
            </a:r>
            <a:r>
              <a:rPr lang="pt-BR" sz="3500" dirty="0" err="1">
                <a:solidFill>
                  <a:srgbClr val="FFFFFF"/>
                </a:solidFill>
              </a:rPr>
              <a:t>Documents</a:t>
            </a:r>
            <a:endParaRPr lang="pt-BR" sz="3500" dirty="0">
              <a:solidFill>
                <a:srgbClr val="FFFFFF"/>
              </a:solidFill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F78635E-7CEA-CC2E-FFB6-55A81F0FC3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586" y="1750468"/>
            <a:ext cx="8654825" cy="510786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>
                <a:latin typeface="Roboto Light"/>
                <a:ea typeface="Roboto Light"/>
                <a:cs typeface="Roboto Light"/>
                <a:sym typeface="Roboto Light"/>
              </a:rPr>
              <a:t>Movies Collection</a:t>
            </a:r>
          </a:p>
          <a:p>
            <a:pPr marL="0" indent="0">
              <a:buNone/>
            </a:pPr>
            <a:endParaRPr lang="en-US"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0" indent="0">
              <a:buNone/>
            </a:pPr>
            <a:endParaRPr lang="en-US" dirty="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87BE738-7CFF-FF3C-B348-744EF261A8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750" y="2429846"/>
            <a:ext cx="4986495" cy="319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518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BD59AC-0842-FA74-4182-1DB905D1D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A352F5B-5EE5-B886-CF5E-81BB472F8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EBD941-0419-F58D-9A3C-777ACCBDB5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0BB551-B935-06B5-6DA0-92704DE72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4DA8793-9435-525A-0EBC-2990B38F6F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CEC945-6F9B-FF85-43C3-F85ABBD1B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pt-BR" sz="3500" dirty="0" err="1">
                <a:solidFill>
                  <a:srgbClr val="FFFFFF"/>
                </a:solidFill>
              </a:rPr>
              <a:t>MongoDB</a:t>
            </a:r>
            <a:r>
              <a:rPr lang="pt-BR" sz="3500" dirty="0">
                <a:solidFill>
                  <a:srgbClr val="FFFFFF"/>
                </a:solidFill>
              </a:rPr>
              <a:t>: </a:t>
            </a:r>
            <a:r>
              <a:rPr lang="pt-BR" sz="3500" dirty="0" err="1">
                <a:solidFill>
                  <a:srgbClr val="FFFFFF"/>
                </a:solidFill>
              </a:rPr>
              <a:t>Collections</a:t>
            </a:r>
            <a:r>
              <a:rPr lang="pt-BR" sz="3500" dirty="0">
                <a:solidFill>
                  <a:srgbClr val="FFFFFF"/>
                </a:solidFill>
              </a:rPr>
              <a:t> </a:t>
            </a:r>
            <a:r>
              <a:rPr lang="pt-BR" sz="3500" dirty="0" err="1">
                <a:solidFill>
                  <a:srgbClr val="FFFFFF"/>
                </a:solidFill>
              </a:rPr>
              <a:t>and</a:t>
            </a:r>
            <a:r>
              <a:rPr lang="pt-BR" sz="3500" dirty="0">
                <a:solidFill>
                  <a:srgbClr val="FFFFFF"/>
                </a:solidFill>
              </a:rPr>
              <a:t> </a:t>
            </a:r>
            <a:r>
              <a:rPr lang="pt-BR" sz="3500" dirty="0" err="1">
                <a:solidFill>
                  <a:srgbClr val="FFFFFF"/>
                </a:solidFill>
              </a:rPr>
              <a:t>Documents</a:t>
            </a:r>
            <a:endParaRPr lang="pt-BR" sz="3500" dirty="0">
              <a:solidFill>
                <a:srgbClr val="FFFFFF"/>
              </a:solidFill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F2EE715-A4F7-EF19-C60F-99EF5C658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586" y="1750468"/>
            <a:ext cx="8654825" cy="51078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• Documents are </a:t>
            </a:r>
            <a:r>
              <a:rPr lang="en-US" b="1" dirty="0"/>
              <a:t>JSON-like objects</a:t>
            </a:r>
            <a:r>
              <a:rPr lang="en-US" dirty="0"/>
              <a:t> (internally stored as BSON)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• Documents in the same collection </a:t>
            </a:r>
            <a:r>
              <a:rPr lang="en-US" b="1" dirty="0"/>
              <a:t>do not need to have exactly the same fields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• Collections are similar to </a:t>
            </a:r>
            <a:r>
              <a:rPr lang="en-US" b="1" dirty="0"/>
              <a:t>tables in relational databases</a:t>
            </a:r>
            <a:endParaRPr lang="en-US" dirty="0"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  <p:extLst>
      <p:ext uri="{BB962C8B-B14F-4D97-AF65-F5344CB8AC3E}">
        <p14:creationId xmlns:p14="http://schemas.microsoft.com/office/powerpoint/2010/main" val="16255846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5D5FB2-48BF-9A1B-BCB0-2FCA6E149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1A659F2-DA37-E5D6-35D9-2C0BA16B0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829D3F-CBA4-D90A-6C94-882CE52C2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2160C3-B498-D472-37D3-F04BE0E4B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86DA45-2DDF-07BA-1429-27473915E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BD4E0F-EA7C-8464-E5C5-F401A4873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pt-BR" sz="3500" dirty="0" err="1">
                <a:solidFill>
                  <a:srgbClr val="FFFFFF"/>
                </a:solidFill>
              </a:rPr>
              <a:t>MongoDB</a:t>
            </a:r>
            <a:r>
              <a:rPr lang="pt-BR" sz="3500" dirty="0">
                <a:solidFill>
                  <a:srgbClr val="FFFFFF"/>
                </a:solidFill>
              </a:rPr>
              <a:t>: </a:t>
            </a:r>
            <a:r>
              <a:rPr lang="pt-BR" sz="3500" dirty="0" err="1">
                <a:solidFill>
                  <a:srgbClr val="FFFFFF"/>
                </a:solidFill>
              </a:rPr>
              <a:t>Collections</a:t>
            </a:r>
            <a:r>
              <a:rPr lang="pt-BR" sz="3500" dirty="0">
                <a:solidFill>
                  <a:srgbClr val="FFFFFF"/>
                </a:solidFill>
              </a:rPr>
              <a:t> </a:t>
            </a:r>
            <a:r>
              <a:rPr lang="pt-BR" sz="3500" dirty="0" err="1">
                <a:solidFill>
                  <a:srgbClr val="FFFFFF"/>
                </a:solidFill>
              </a:rPr>
              <a:t>and</a:t>
            </a:r>
            <a:r>
              <a:rPr lang="pt-BR" sz="3500" dirty="0">
                <a:solidFill>
                  <a:srgbClr val="FFFFFF"/>
                </a:solidFill>
              </a:rPr>
              <a:t> </a:t>
            </a:r>
            <a:r>
              <a:rPr lang="pt-BR" sz="3500" dirty="0" err="1">
                <a:solidFill>
                  <a:srgbClr val="FFFFFF"/>
                </a:solidFill>
              </a:rPr>
              <a:t>Documents</a:t>
            </a:r>
            <a:endParaRPr lang="pt-BR" sz="3500" dirty="0">
              <a:solidFill>
                <a:srgbClr val="FFFFFF"/>
              </a:solidFill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B0722F6-95FF-59DD-B920-4121255D0F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586" y="1750468"/>
            <a:ext cx="8654825" cy="510786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2671EB29-B400-B174-DD06-4C7339B74C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0611463"/>
              </p:ext>
            </p:extLst>
          </p:nvPr>
        </p:nvGraphicFramePr>
        <p:xfrm>
          <a:off x="1280093" y="2802602"/>
          <a:ext cx="8229600" cy="320040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3897144113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4229239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600" dirty="0"/>
                        <a:t>SQL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600"/>
                        <a:t>MongoDB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2752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600"/>
                        <a:t>Database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600"/>
                        <a:t>Database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76852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600"/>
                        <a:t>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600"/>
                        <a:t>Collection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2002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600"/>
                        <a:t>Row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600"/>
                        <a:t>Document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7314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600"/>
                        <a:t>Column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600" dirty="0"/>
                        <a:t>Field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6873411"/>
                  </a:ext>
                </a:extLst>
              </a:tr>
            </a:tbl>
          </a:graphicData>
        </a:graphic>
      </p:graphicFrame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26C29910-6E24-85B1-AF1D-E52E4C8C9DB4}"/>
              </a:ext>
            </a:extLst>
          </p:cNvPr>
          <p:cNvSpPr/>
          <p:nvPr/>
        </p:nvSpPr>
        <p:spPr>
          <a:xfrm>
            <a:off x="3668614" y="4240333"/>
            <a:ext cx="1212112" cy="276447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700FDC2-35B6-F6A6-6E78-2D9194CA3A37}"/>
              </a:ext>
            </a:extLst>
          </p:cNvPr>
          <p:cNvSpPr/>
          <p:nvPr/>
        </p:nvSpPr>
        <p:spPr>
          <a:xfrm>
            <a:off x="1028697" y="2551814"/>
            <a:ext cx="2309808" cy="3593805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2F55AE0-20EF-B096-BF45-9F64E6B27336}"/>
              </a:ext>
            </a:extLst>
          </p:cNvPr>
          <p:cNvSpPr/>
          <p:nvPr/>
        </p:nvSpPr>
        <p:spPr>
          <a:xfrm>
            <a:off x="5210836" y="2551814"/>
            <a:ext cx="2309808" cy="3593805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76601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0AB3A9-F99D-7985-8C58-E13BF4C89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3B561CD-95AE-A092-B728-0938DE0BBA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51F1B0-2A6E-7356-6ACD-FC187A6320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FA8BAFF-7CC5-A804-43CF-83F9ABA51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E91033-817A-09DD-E523-90C28836D4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122ED7-2465-19E8-2E60-895239045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pt-BR" sz="3500" dirty="0" err="1">
                <a:solidFill>
                  <a:srgbClr val="FFFFFF"/>
                </a:solidFill>
              </a:rPr>
              <a:t>MongoDB</a:t>
            </a:r>
            <a:r>
              <a:rPr lang="pt-BR" sz="3500" dirty="0">
                <a:solidFill>
                  <a:srgbClr val="FFFFFF"/>
                </a:solidFill>
              </a:rPr>
              <a:t> Query </a:t>
            </a:r>
            <a:r>
              <a:rPr lang="pt-BR" sz="3500" dirty="0" err="1">
                <a:solidFill>
                  <a:srgbClr val="FFFFFF"/>
                </a:solidFill>
              </a:rPr>
              <a:t>Language</a:t>
            </a:r>
            <a:r>
              <a:rPr lang="pt-BR" sz="3500" dirty="0">
                <a:solidFill>
                  <a:srgbClr val="FFFFFF"/>
                </a:solidFill>
              </a:rPr>
              <a:t> (MQL)</a:t>
            </a:r>
          </a:p>
        </p:txBody>
      </p:sp>
      <p:sp>
        <p:nvSpPr>
          <p:cNvPr id="5" name="Google Shape;254;p41">
            <a:extLst>
              <a:ext uri="{FF2B5EF4-FFF2-40B4-BE49-F238E27FC236}">
                <a16:creationId xmlns:a16="http://schemas.microsoft.com/office/drawing/2014/main" id="{121EC06F-ACFE-92AA-38C6-60AE21F7533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" y="1467138"/>
            <a:ext cx="8655050" cy="5041997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457200" lvl="0" indent="-361950" algn="l" rtl="0">
              <a:spcBef>
                <a:spcPts val="800"/>
              </a:spcBef>
              <a:spcAft>
                <a:spcPts val="0"/>
              </a:spcAft>
              <a:buSzPts val="2100"/>
              <a:buChar char="●"/>
            </a:pPr>
            <a:r>
              <a:rPr lang="en-US" sz="1800" b="1" dirty="0"/>
              <a:t>Select Queries:</a:t>
            </a:r>
            <a:endParaRPr sz="1800" b="1" dirty="0"/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-US" sz="1800" u="sng" dirty="0">
                <a:solidFill>
                  <a:schemeClr val="hlink"/>
                </a:solidFill>
                <a:hlinkClick r:id="rId2"/>
              </a:rPr>
              <a:t>https://www.mongodb.com/docs/manual/reference/method/db.collection.find/</a:t>
            </a:r>
            <a:r>
              <a:rPr lang="en-US" sz="1800" dirty="0"/>
              <a:t> </a:t>
            </a:r>
            <a:endParaRPr sz="1800" dirty="0"/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-US" sz="1800" u="sng" dirty="0">
                <a:solidFill>
                  <a:schemeClr val="hlink"/>
                </a:solidFill>
                <a:hlinkClick r:id="rId3"/>
              </a:rPr>
              <a:t>https://www.mongodb.com/docs/manual/reference/method/db.collection.findOne/</a:t>
            </a:r>
            <a:endParaRPr sz="1800" dirty="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1800" b="1" dirty="0"/>
              <a:t>Aggregation Queries</a:t>
            </a:r>
            <a:r>
              <a:rPr lang="en-US" sz="1800" dirty="0"/>
              <a:t>:</a:t>
            </a:r>
            <a:endParaRPr sz="1800" dirty="0"/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-US" sz="1800" u="sng" dirty="0">
                <a:solidFill>
                  <a:schemeClr val="hlink"/>
                </a:solidFill>
                <a:hlinkClick r:id="rId4"/>
              </a:rPr>
              <a:t>https://www.mongodb.com/docs/manual/reference/method/db.collection.aggregate/</a:t>
            </a:r>
            <a:r>
              <a:rPr lang="en-US" sz="1800" dirty="0"/>
              <a:t> </a:t>
            </a:r>
            <a:endParaRPr sz="1800" dirty="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1800" b="1" dirty="0"/>
              <a:t>Update Queries:</a:t>
            </a:r>
            <a:endParaRPr sz="1800" b="1" dirty="0"/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-US" sz="1800" u="sng" dirty="0">
                <a:solidFill>
                  <a:schemeClr val="hlink"/>
                </a:solidFill>
                <a:hlinkClick r:id="rId5"/>
              </a:rPr>
              <a:t>https://www.mongodb.com/docs/manual/reference/method/db.collection.update/</a:t>
            </a:r>
            <a:endParaRPr sz="1800" dirty="0"/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-US" sz="1800" u="sng" dirty="0">
                <a:solidFill>
                  <a:schemeClr val="hlink"/>
                </a:solidFill>
                <a:hlinkClick r:id="rId6"/>
              </a:rPr>
              <a:t>https://www.mongodb.com/docs/manual/reference/method/db.collection.updateOne/</a:t>
            </a:r>
            <a:r>
              <a:rPr lang="en-US" sz="1800" dirty="0"/>
              <a:t> </a:t>
            </a:r>
            <a:endParaRPr sz="1800" dirty="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	</a:t>
            </a:r>
            <a:r>
              <a:rPr lang="en-US" sz="1800" b="1" dirty="0" err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PyMongo</a:t>
            </a:r>
            <a:r>
              <a:rPr lang="en-US" sz="1800" dirty="0"/>
              <a:t>: </a:t>
            </a:r>
            <a:r>
              <a:rPr lang="en-US" sz="1800" u="sng" dirty="0">
                <a:solidFill>
                  <a:schemeClr val="hlink"/>
                </a:solidFill>
                <a:hlinkClick r:id="rId7"/>
              </a:rPr>
              <a:t>https://pymongo.readthedocs.io/en/stable/</a:t>
            </a:r>
            <a:r>
              <a:rPr lang="en-US" sz="1800" dirty="0"/>
              <a:t> </a:t>
            </a:r>
            <a:endParaRPr sz="1800" dirty="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3372584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459</TotalTime>
  <Words>883</Words>
  <Application>Microsoft Office PowerPoint</Application>
  <PresentationFormat>Apresentação na tela (4:3)</PresentationFormat>
  <Paragraphs>135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5" baseType="lpstr">
      <vt:lpstr>Arial</vt:lpstr>
      <vt:lpstr>Calibri</vt:lpstr>
      <vt:lpstr>Roboto</vt:lpstr>
      <vt:lpstr>Roboto Light</vt:lpstr>
      <vt:lpstr>Office Theme</vt:lpstr>
      <vt:lpstr>Fundamentals in Data Engineering</vt:lpstr>
      <vt:lpstr>NoSQL</vt:lpstr>
      <vt:lpstr>Why not use semi-structured data?</vt:lpstr>
      <vt:lpstr>Why not use semi-structured data?</vt:lpstr>
      <vt:lpstr>Why not use semi-structured data?</vt:lpstr>
      <vt:lpstr>Why not use semi-structured data?</vt:lpstr>
      <vt:lpstr>NO-SQL: Motivation</vt:lpstr>
      <vt:lpstr>SQL x NoSQL?</vt:lpstr>
      <vt:lpstr>SQL x NoSQL?</vt:lpstr>
      <vt:lpstr>SQL x NoSQL?</vt:lpstr>
      <vt:lpstr>SQL x NoSQL?</vt:lpstr>
      <vt:lpstr>SQL x NoSQL?</vt:lpstr>
      <vt:lpstr>SQL x NoSQL?</vt:lpstr>
      <vt:lpstr>MongoDB: Document Storage</vt:lpstr>
      <vt:lpstr>MongoDB: Document Storage</vt:lpstr>
      <vt:lpstr>MongoDB: Collections and Documents</vt:lpstr>
      <vt:lpstr>MongoDB: Collections and Documents</vt:lpstr>
      <vt:lpstr>MongoDB: Collections and Documents</vt:lpstr>
      <vt:lpstr>MongoDB: Collections and Documents</vt:lpstr>
      <vt:lpstr>MongoDB Query Language (MQL)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TG</dc:creator>
  <cp:keywords/>
  <dc:description>generated using python-pptx</dc:description>
  <cp:lastModifiedBy>Thiago Paiva</cp:lastModifiedBy>
  <cp:revision>81</cp:revision>
  <dcterms:created xsi:type="dcterms:W3CDTF">2013-01-27T09:14:16Z</dcterms:created>
  <dcterms:modified xsi:type="dcterms:W3CDTF">2026-03-17T11:11:54Z</dcterms:modified>
  <cp:category/>
</cp:coreProperties>
</file>