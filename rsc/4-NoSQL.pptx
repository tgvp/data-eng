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9" r:id="rId2"/>
    <p:sldId id="256" r:id="rId3"/>
    <p:sldId id="312" r:id="rId4"/>
    <p:sldId id="330" r:id="rId5"/>
    <p:sldId id="331" r:id="rId6"/>
    <p:sldId id="332" r:id="rId7"/>
    <p:sldId id="313" r:id="rId8"/>
    <p:sldId id="334" r:id="rId9"/>
    <p:sldId id="335" r:id="rId10"/>
    <p:sldId id="336" r:id="rId11"/>
    <p:sldId id="337" r:id="rId12"/>
    <p:sldId id="338" r:id="rId13"/>
    <p:sldId id="339" r:id="rId14"/>
    <p:sldId id="341" r:id="rId15"/>
    <p:sldId id="340" r:id="rId16"/>
    <p:sldId id="343" r:id="rId17"/>
    <p:sldId id="344" r:id="rId18"/>
    <p:sldId id="345" r:id="rId19"/>
    <p:sldId id="346" r:id="rId20"/>
    <p:sldId id="347" r:id="rId21"/>
    <p:sldId id="361" r:id="rId22"/>
    <p:sldId id="348" r:id="rId23"/>
    <p:sldId id="349" r:id="rId24"/>
    <p:sldId id="350" r:id="rId25"/>
    <p:sldId id="351" r:id="rId26"/>
    <p:sldId id="362" r:id="rId27"/>
    <p:sldId id="352" r:id="rId28"/>
    <p:sldId id="353" r:id="rId29"/>
    <p:sldId id="354" r:id="rId30"/>
    <p:sldId id="359" r:id="rId31"/>
    <p:sldId id="355" r:id="rId32"/>
    <p:sldId id="356" r:id="rId33"/>
    <p:sldId id="357" r:id="rId34"/>
    <p:sldId id="363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146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3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svg"/></Relationships>
</file>

<file path=ppt/diagrams/_rels/drawing3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ADF0E45-D709-4842-93B4-C8024A3BF302}" type="doc">
      <dgm:prSet loTypeId="urn:microsoft.com/office/officeart/2005/8/layout/vList5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2B4A824-E0F0-4761-A1BA-2E1C9C1642A0}">
      <dgm:prSet custT="1"/>
      <dgm:spPr/>
      <dgm:t>
        <a:bodyPr/>
        <a:lstStyle/>
        <a:p>
          <a:r>
            <a:rPr lang="pt-BR" sz="1600"/>
            <a:t>Retrieve </a:t>
          </a:r>
          <a:r>
            <a:rPr lang="pt-BR" sz="1600" b="1"/>
            <a:t>all documents</a:t>
          </a:r>
          <a:r>
            <a:rPr lang="pt-BR" sz="1600"/>
            <a:t>:</a:t>
          </a:r>
          <a:endParaRPr lang="en-US" sz="1600"/>
        </a:p>
      </dgm:t>
    </dgm:pt>
    <dgm:pt modelId="{3BA8BEEA-13EB-4306-90DC-152031C1797C}" type="parTrans" cxnId="{A03F67FA-1697-48B3-A2D9-D18A2DB00939}">
      <dgm:prSet/>
      <dgm:spPr/>
      <dgm:t>
        <a:bodyPr/>
        <a:lstStyle/>
        <a:p>
          <a:endParaRPr lang="en-US" sz="1600"/>
        </a:p>
      </dgm:t>
    </dgm:pt>
    <dgm:pt modelId="{12E38836-0279-4438-AA29-B008B4BE111F}" type="sibTrans" cxnId="{A03F67FA-1697-48B3-A2D9-D18A2DB00939}">
      <dgm:prSet/>
      <dgm:spPr/>
      <dgm:t>
        <a:bodyPr/>
        <a:lstStyle/>
        <a:p>
          <a:endParaRPr lang="en-US" sz="1600"/>
        </a:p>
      </dgm:t>
    </dgm:pt>
    <dgm:pt modelId="{D7E4AEA1-7BE5-4F1C-B84E-BFD63FC3C23D}">
      <dgm:prSet custT="1"/>
      <dgm:spPr/>
      <dgm:t>
        <a:bodyPr/>
        <a:lstStyle/>
        <a:p>
          <a:r>
            <a:rPr lang="pt-BR" sz="1600"/>
            <a:t>db.students.find({})</a:t>
          </a:r>
          <a:endParaRPr lang="en-US" sz="1600"/>
        </a:p>
      </dgm:t>
    </dgm:pt>
    <dgm:pt modelId="{50B84511-7F1E-4A20-B0D5-88B4917B8399}" type="parTrans" cxnId="{DCDBEC95-CE8D-42E8-AC42-6D1F397A590D}">
      <dgm:prSet/>
      <dgm:spPr/>
      <dgm:t>
        <a:bodyPr/>
        <a:lstStyle/>
        <a:p>
          <a:endParaRPr lang="en-US" sz="1600"/>
        </a:p>
      </dgm:t>
    </dgm:pt>
    <dgm:pt modelId="{C4DDEDF2-5818-4F27-9BF4-3C1787CE1921}" type="sibTrans" cxnId="{DCDBEC95-CE8D-42E8-AC42-6D1F397A590D}">
      <dgm:prSet/>
      <dgm:spPr/>
      <dgm:t>
        <a:bodyPr/>
        <a:lstStyle/>
        <a:p>
          <a:endParaRPr lang="en-US" sz="1600"/>
        </a:p>
      </dgm:t>
    </dgm:pt>
    <dgm:pt modelId="{4F3AF9E7-FC2C-417B-9C92-54CD653550AF}">
      <dgm:prSet custT="1"/>
      <dgm:spPr/>
      <dgm:t>
        <a:bodyPr/>
        <a:lstStyle/>
        <a:p>
          <a:r>
            <a:rPr lang="pt-BR" sz="1600"/>
            <a:t>Retrieve documents by </a:t>
          </a:r>
          <a:r>
            <a:rPr lang="pt-BR" sz="1600" b="1"/>
            <a:t>one field</a:t>
          </a:r>
          <a:r>
            <a:rPr lang="pt-BR" sz="1600"/>
            <a:t>: </a:t>
          </a:r>
          <a:endParaRPr lang="en-US" sz="1600"/>
        </a:p>
      </dgm:t>
    </dgm:pt>
    <dgm:pt modelId="{D0AA34F8-5FFF-4509-BA2D-8C98362261FB}" type="parTrans" cxnId="{53F95E76-B759-4F26-928B-6529484256B0}">
      <dgm:prSet/>
      <dgm:spPr/>
      <dgm:t>
        <a:bodyPr/>
        <a:lstStyle/>
        <a:p>
          <a:endParaRPr lang="en-US" sz="1600"/>
        </a:p>
      </dgm:t>
    </dgm:pt>
    <dgm:pt modelId="{E9375B66-9429-4D7A-A3E6-9C73E2813B05}" type="sibTrans" cxnId="{53F95E76-B759-4F26-928B-6529484256B0}">
      <dgm:prSet/>
      <dgm:spPr/>
      <dgm:t>
        <a:bodyPr/>
        <a:lstStyle/>
        <a:p>
          <a:endParaRPr lang="en-US" sz="1600"/>
        </a:p>
      </dgm:t>
    </dgm:pt>
    <dgm:pt modelId="{294D1903-99AF-4BDE-B7D2-12CF34A89B9F}">
      <dgm:prSet custT="1"/>
      <dgm:spPr/>
      <dgm:t>
        <a:bodyPr/>
        <a:lstStyle/>
        <a:p>
          <a:r>
            <a:rPr lang="pt-BR" sz="1600"/>
            <a:t>db.students.find({ status: "active" })</a:t>
          </a:r>
          <a:endParaRPr lang="en-US" sz="1600"/>
        </a:p>
      </dgm:t>
    </dgm:pt>
    <dgm:pt modelId="{86BC145C-A787-44AC-A042-9F89EDCD149A}" type="parTrans" cxnId="{CCE7DAFE-F6C0-4A8E-9E38-DD1352BA5D19}">
      <dgm:prSet/>
      <dgm:spPr/>
      <dgm:t>
        <a:bodyPr/>
        <a:lstStyle/>
        <a:p>
          <a:endParaRPr lang="en-US" sz="1600"/>
        </a:p>
      </dgm:t>
    </dgm:pt>
    <dgm:pt modelId="{AB8EAAE3-5255-4148-A418-3A83E5E05337}" type="sibTrans" cxnId="{CCE7DAFE-F6C0-4A8E-9E38-DD1352BA5D19}">
      <dgm:prSet/>
      <dgm:spPr/>
      <dgm:t>
        <a:bodyPr/>
        <a:lstStyle/>
        <a:p>
          <a:endParaRPr lang="en-US" sz="1600"/>
        </a:p>
      </dgm:t>
    </dgm:pt>
    <dgm:pt modelId="{1EA04DF4-5171-40BA-B980-F27C66D87399}">
      <dgm:prSet custT="1"/>
      <dgm:spPr/>
      <dgm:t>
        <a:bodyPr/>
        <a:lstStyle/>
        <a:p>
          <a:r>
            <a:rPr lang="pt-BR" sz="1600" dirty="0" err="1"/>
            <a:t>Retrieve</a:t>
          </a:r>
          <a:r>
            <a:rPr lang="pt-BR" sz="1600" dirty="0"/>
            <a:t> </a:t>
          </a:r>
          <a:r>
            <a:rPr lang="pt-BR" sz="1600" dirty="0" err="1"/>
            <a:t>documents</a:t>
          </a:r>
          <a:r>
            <a:rPr lang="pt-BR" sz="1600" dirty="0"/>
            <a:t> </a:t>
          </a:r>
          <a:r>
            <a:rPr lang="pt-BR" sz="1600" dirty="0" err="1"/>
            <a:t>by</a:t>
          </a:r>
          <a:r>
            <a:rPr lang="pt-BR" sz="1600" dirty="0"/>
            <a:t> </a:t>
          </a:r>
          <a:r>
            <a:rPr lang="pt-BR" sz="1600" b="1" dirty="0" err="1"/>
            <a:t>multiple</a:t>
          </a:r>
          <a:r>
            <a:rPr lang="pt-BR" sz="1600" b="1" dirty="0"/>
            <a:t> </a:t>
          </a:r>
          <a:r>
            <a:rPr lang="pt-BR" sz="1600" b="1" dirty="0" err="1"/>
            <a:t>fields</a:t>
          </a:r>
          <a:r>
            <a:rPr lang="pt-BR" sz="1600" dirty="0"/>
            <a:t>: </a:t>
          </a:r>
          <a:endParaRPr lang="en-US" sz="1600" dirty="0"/>
        </a:p>
      </dgm:t>
    </dgm:pt>
    <dgm:pt modelId="{415D1C25-3B6D-4C66-B943-3DF220BDAD17}" type="parTrans" cxnId="{7FCA29D4-D9E7-43FF-8A1D-D79E70941BDE}">
      <dgm:prSet/>
      <dgm:spPr/>
      <dgm:t>
        <a:bodyPr/>
        <a:lstStyle/>
        <a:p>
          <a:endParaRPr lang="en-US" sz="1600"/>
        </a:p>
      </dgm:t>
    </dgm:pt>
    <dgm:pt modelId="{D4BD9257-3349-4BC5-A4F8-2EAEB025B84D}" type="sibTrans" cxnId="{7FCA29D4-D9E7-43FF-8A1D-D79E70941BDE}">
      <dgm:prSet/>
      <dgm:spPr/>
      <dgm:t>
        <a:bodyPr/>
        <a:lstStyle/>
        <a:p>
          <a:endParaRPr lang="en-US" sz="1600"/>
        </a:p>
      </dgm:t>
    </dgm:pt>
    <dgm:pt modelId="{87D956E9-29EF-413B-821F-B58CC0D542D9}">
      <dgm:prSet custT="1"/>
      <dgm:spPr/>
      <dgm:t>
        <a:bodyPr/>
        <a:lstStyle/>
        <a:p>
          <a:r>
            <a:rPr lang="pt-BR" sz="1600"/>
            <a:t>db.students.find({ status: "active", age: 20 })</a:t>
          </a:r>
          <a:endParaRPr lang="en-US" sz="1600"/>
        </a:p>
      </dgm:t>
    </dgm:pt>
    <dgm:pt modelId="{3EB02C9E-5C1E-4383-B043-BEB229DA8C8C}" type="parTrans" cxnId="{358A51DC-DEA0-4DF8-972E-9E9B7B906A4B}">
      <dgm:prSet/>
      <dgm:spPr/>
      <dgm:t>
        <a:bodyPr/>
        <a:lstStyle/>
        <a:p>
          <a:endParaRPr lang="en-US" sz="1600"/>
        </a:p>
      </dgm:t>
    </dgm:pt>
    <dgm:pt modelId="{4C9E310A-190B-482D-99A0-DF3CCB5BE69A}" type="sibTrans" cxnId="{358A51DC-DEA0-4DF8-972E-9E9B7B906A4B}">
      <dgm:prSet/>
      <dgm:spPr/>
      <dgm:t>
        <a:bodyPr/>
        <a:lstStyle/>
        <a:p>
          <a:endParaRPr lang="en-US" sz="1600"/>
        </a:p>
      </dgm:t>
    </dgm:pt>
    <dgm:pt modelId="{08CF5A3F-ED80-49BC-A0DB-1A52C4CC22EB}">
      <dgm:prSet custT="1"/>
      <dgm:spPr/>
      <dgm:t>
        <a:bodyPr/>
        <a:lstStyle/>
        <a:p>
          <a:r>
            <a:rPr lang="pt-BR" sz="1600"/>
            <a:t>Return only </a:t>
          </a:r>
          <a:r>
            <a:rPr lang="pt-BR" sz="1600" b="1"/>
            <a:t>specific fields</a:t>
          </a:r>
          <a:r>
            <a:rPr lang="pt-BR" sz="1600"/>
            <a:t>: </a:t>
          </a:r>
          <a:endParaRPr lang="en-US" sz="1600"/>
        </a:p>
      </dgm:t>
    </dgm:pt>
    <dgm:pt modelId="{DC8F3EDC-BA82-477C-B67F-55A35BD1BE36}" type="parTrans" cxnId="{7F52B7B5-7C5A-4504-A42B-7A71BAAB6155}">
      <dgm:prSet/>
      <dgm:spPr/>
      <dgm:t>
        <a:bodyPr/>
        <a:lstStyle/>
        <a:p>
          <a:endParaRPr lang="en-US" sz="1600"/>
        </a:p>
      </dgm:t>
    </dgm:pt>
    <dgm:pt modelId="{98CA7FDC-F6AC-43B1-978B-C4FB7C3801F9}" type="sibTrans" cxnId="{7F52B7B5-7C5A-4504-A42B-7A71BAAB6155}">
      <dgm:prSet/>
      <dgm:spPr/>
      <dgm:t>
        <a:bodyPr/>
        <a:lstStyle/>
        <a:p>
          <a:endParaRPr lang="en-US" sz="1600"/>
        </a:p>
      </dgm:t>
    </dgm:pt>
    <dgm:pt modelId="{A17F1CCD-A878-493E-9748-271D67338341}">
      <dgm:prSet custT="1"/>
      <dgm:spPr/>
      <dgm:t>
        <a:bodyPr/>
        <a:lstStyle/>
        <a:p>
          <a:r>
            <a:rPr lang="pt-BR" sz="1600"/>
            <a:t>db.students.find({}, { full_name: 1, _id: 0 })</a:t>
          </a:r>
          <a:endParaRPr lang="en-US" sz="1600"/>
        </a:p>
      </dgm:t>
    </dgm:pt>
    <dgm:pt modelId="{AF3E4789-CC12-4673-A46B-E51E20D98ADA}" type="parTrans" cxnId="{E92498FA-8D19-42E5-8728-9E3EF40FABFA}">
      <dgm:prSet/>
      <dgm:spPr/>
      <dgm:t>
        <a:bodyPr/>
        <a:lstStyle/>
        <a:p>
          <a:endParaRPr lang="en-US" sz="1600"/>
        </a:p>
      </dgm:t>
    </dgm:pt>
    <dgm:pt modelId="{D8FFDA3C-79F2-4154-A5CB-292E2106DD0A}" type="sibTrans" cxnId="{E92498FA-8D19-42E5-8728-9E3EF40FABFA}">
      <dgm:prSet/>
      <dgm:spPr/>
      <dgm:t>
        <a:bodyPr/>
        <a:lstStyle/>
        <a:p>
          <a:endParaRPr lang="en-US" sz="1600"/>
        </a:p>
      </dgm:t>
    </dgm:pt>
    <dgm:pt modelId="{7BCA967F-D5C2-435C-ABFB-BE541831E4E5}" type="pres">
      <dgm:prSet presAssocID="{7ADF0E45-D709-4842-93B4-C8024A3BF302}" presName="Name0" presStyleCnt="0">
        <dgm:presLayoutVars>
          <dgm:dir/>
          <dgm:animLvl val="lvl"/>
          <dgm:resizeHandles val="exact"/>
        </dgm:presLayoutVars>
      </dgm:prSet>
      <dgm:spPr/>
    </dgm:pt>
    <dgm:pt modelId="{22B72437-3ACC-4CFA-B723-0A859D6EEEE5}" type="pres">
      <dgm:prSet presAssocID="{22B4A824-E0F0-4761-A1BA-2E1C9C1642A0}" presName="linNode" presStyleCnt="0"/>
      <dgm:spPr/>
    </dgm:pt>
    <dgm:pt modelId="{9BBAAAB7-C88E-4B61-8969-F42158C252C5}" type="pres">
      <dgm:prSet presAssocID="{22B4A824-E0F0-4761-A1BA-2E1C9C1642A0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C3827788-587A-43E0-A54E-A83C53497025}" type="pres">
      <dgm:prSet presAssocID="{22B4A824-E0F0-4761-A1BA-2E1C9C1642A0}" presName="descendantText" presStyleLbl="alignAccFollowNode1" presStyleIdx="0" presStyleCnt="4">
        <dgm:presLayoutVars>
          <dgm:bulletEnabled val="1"/>
        </dgm:presLayoutVars>
      </dgm:prSet>
      <dgm:spPr/>
    </dgm:pt>
    <dgm:pt modelId="{A13A4706-A918-4C79-AB82-D32C2903C343}" type="pres">
      <dgm:prSet presAssocID="{12E38836-0279-4438-AA29-B008B4BE111F}" presName="sp" presStyleCnt="0"/>
      <dgm:spPr/>
    </dgm:pt>
    <dgm:pt modelId="{D1F0E0DA-F7E0-4EEC-8F4D-D706FC6094C0}" type="pres">
      <dgm:prSet presAssocID="{4F3AF9E7-FC2C-417B-9C92-54CD653550AF}" presName="linNode" presStyleCnt="0"/>
      <dgm:spPr/>
    </dgm:pt>
    <dgm:pt modelId="{4175ABD1-6927-4E8E-A9F4-15D46B5C31D6}" type="pres">
      <dgm:prSet presAssocID="{4F3AF9E7-FC2C-417B-9C92-54CD653550AF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20989A61-280F-4556-898C-6FA5216D8615}" type="pres">
      <dgm:prSet presAssocID="{4F3AF9E7-FC2C-417B-9C92-54CD653550AF}" presName="descendantText" presStyleLbl="alignAccFollowNode1" presStyleIdx="1" presStyleCnt="4">
        <dgm:presLayoutVars>
          <dgm:bulletEnabled val="1"/>
        </dgm:presLayoutVars>
      </dgm:prSet>
      <dgm:spPr/>
    </dgm:pt>
    <dgm:pt modelId="{9F7D64EE-5E58-46B1-8C2E-1C9C09A2A594}" type="pres">
      <dgm:prSet presAssocID="{E9375B66-9429-4D7A-A3E6-9C73E2813B05}" presName="sp" presStyleCnt="0"/>
      <dgm:spPr/>
    </dgm:pt>
    <dgm:pt modelId="{5FA502A9-2457-4665-825B-EFAC3131B9BF}" type="pres">
      <dgm:prSet presAssocID="{1EA04DF4-5171-40BA-B980-F27C66D87399}" presName="linNode" presStyleCnt="0"/>
      <dgm:spPr/>
    </dgm:pt>
    <dgm:pt modelId="{90409245-D2AF-46D4-B369-39F10DF4E9DC}" type="pres">
      <dgm:prSet presAssocID="{1EA04DF4-5171-40BA-B980-F27C66D87399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855D454C-4134-44A5-ADB2-ABF653527FEB}" type="pres">
      <dgm:prSet presAssocID="{1EA04DF4-5171-40BA-B980-F27C66D87399}" presName="descendantText" presStyleLbl="alignAccFollowNode1" presStyleIdx="2" presStyleCnt="4">
        <dgm:presLayoutVars>
          <dgm:bulletEnabled val="1"/>
        </dgm:presLayoutVars>
      </dgm:prSet>
      <dgm:spPr/>
    </dgm:pt>
    <dgm:pt modelId="{583A2559-05E2-4E21-A934-DD4B8E76FDDC}" type="pres">
      <dgm:prSet presAssocID="{D4BD9257-3349-4BC5-A4F8-2EAEB025B84D}" presName="sp" presStyleCnt="0"/>
      <dgm:spPr/>
    </dgm:pt>
    <dgm:pt modelId="{8A676D4A-44FE-4F7C-9271-F476B3837659}" type="pres">
      <dgm:prSet presAssocID="{08CF5A3F-ED80-49BC-A0DB-1A52C4CC22EB}" presName="linNode" presStyleCnt="0"/>
      <dgm:spPr/>
    </dgm:pt>
    <dgm:pt modelId="{442B1865-149A-4F62-9FEC-ECAE67D43C29}" type="pres">
      <dgm:prSet presAssocID="{08CF5A3F-ED80-49BC-A0DB-1A52C4CC22EB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2E308116-D881-4773-AABA-5B0DBD857192}" type="pres">
      <dgm:prSet presAssocID="{08CF5A3F-ED80-49BC-A0DB-1A52C4CC22EB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567C5F03-7981-4044-B994-8B291EDCD98E}" type="presOf" srcId="{294D1903-99AF-4BDE-B7D2-12CF34A89B9F}" destId="{20989A61-280F-4556-898C-6FA5216D8615}" srcOrd="0" destOrd="0" presId="urn:microsoft.com/office/officeart/2005/8/layout/vList5"/>
    <dgm:cxn modelId="{9F1E766C-60E6-4A10-9031-0CBCD19E0E28}" type="presOf" srcId="{D7E4AEA1-7BE5-4F1C-B84E-BFD63FC3C23D}" destId="{C3827788-587A-43E0-A54E-A83C53497025}" srcOrd="0" destOrd="0" presId="urn:microsoft.com/office/officeart/2005/8/layout/vList5"/>
    <dgm:cxn modelId="{53F95E76-B759-4F26-928B-6529484256B0}" srcId="{7ADF0E45-D709-4842-93B4-C8024A3BF302}" destId="{4F3AF9E7-FC2C-417B-9C92-54CD653550AF}" srcOrd="1" destOrd="0" parTransId="{D0AA34F8-5FFF-4509-BA2D-8C98362261FB}" sibTransId="{E9375B66-9429-4D7A-A3E6-9C73E2813B05}"/>
    <dgm:cxn modelId="{A4834484-1E0A-4ABD-A1CB-3532A9B59FE1}" type="presOf" srcId="{87D956E9-29EF-413B-821F-B58CC0D542D9}" destId="{855D454C-4134-44A5-ADB2-ABF653527FEB}" srcOrd="0" destOrd="0" presId="urn:microsoft.com/office/officeart/2005/8/layout/vList5"/>
    <dgm:cxn modelId="{DCDBEC95-CE8D-42E8-AC42-6D1F397A590D}" srcId="{22B4A824-E0F0-4761-A1BA-2E1C9C1642A0}" destId="{D7E4AEA1-7BE5-4F1C-B84E-BFD63FC3C23D}" srcOrd="0" destOrd="0" parTransId="{50B84511-7F1E-4A20-B0D5-88B4917B8399}" sibTransId="{C4DDEDF2-5818-4F27-9BF4-3C1787CE1921}"/>
    <dgm:cxn modelId="{849AA1B3-A223-4C9F-A170-D54391C835AD}" type="presOf" srcId="{4F3AF9E7-FC2C-417B-9C92-54CD653550AF}" destId="{4175ABD1-6927-4E8E-A9F4-15D46B5C31D6}" srcOrd="0" destOrd="0" presId="urn:microsoft.com/office/officeart/2005/8/layout/vList5"/>
    <dgm:cxn modelId="{7F52B7B5-7C5A-4504-A42B-7A71BAAB6155}" srcId="{7ADF0E45-D709-4842-93B4-C8024A3BF302}" destId="{08CF5A3F-ED80-49BC-A0DB-1A52C4CC22EB}" srcOrd="3" destOrd="0" parTransId="{DC8F3EDC-BA82-477C-B67F-55A35BD1BE36}" sibTransId="{98CA7FDC-F6AC-43B1-978B-C4FB7C3801F9}"/>
    <dgm:cxn modelId="{01D0E8BD-6D5B-433F-8A91-03901A1EFA92}" type="presOf" srcId="{A17F1CCD-A878-493E-9748-271D67338341}" destId="{2E308116-D881-4773-AABA-5B0DBD857192}" srcOrd="0" destOrd="0" presId="urn:microsoft.com/office/officeart/2005/8/layout/vList5"/>
    <dgm:cxn modelId="{30F88BC5-1B82-4F4A-82B1-958972315762}" type="presOf" srcId="{1EA04DF4-5171-40BA-B980-F27C66D87399}" destId="{90409245-D2AF-46D4-B369-39F10DF4E9DC}" srcOrd="0" destOrd="0" presId="urn:microsoft.com/office/officeart/2005/8/layout/vList5"/>
    <dgm:cxn modelId="{B7389ED2-BA59-486E-9D8D-E9F35B5A4C3D}" type="presOf" srcId="{22B4A824-E0F0-4761-A1BA-2E1C9C1642A0}" destId="{9BBAAAB7-C88E-4B61-8969-F42158C252C5}" srcOrd="0" destOrd="0" presId="urn:microsoft.com/office/officeart/2005/8/layout/vList5"/>
    <dgm:cxn modelId="{7FCA29D4-D9E7-43FF-8A1D-D79E70941BDE}" srcId="{7ADF0E45-D709-4842-93B4-C8024A3BF302}" destId="{1EA04DF4-5171-40BA-B980-F27C66D87399}" srcOrd="2" destOrd="0" parTransId="{415D1C25-3B6D-4C66-B943-3DF220BDAD17}" sibTransId="{D4BD9257-3349-4BC5-A4F8-2EAEB025B84D}"/>
    <dgm:cxn modelId="{0E3C73DA-27A5-4661-954A-88F59C0C3802}" type="presOf" srcId="{7ADF0E45-D709-4842-93B4-C8024A3BF302}" destId="{7BCA967F-D5C2-435C-ABFB-BE541831E4E5}" srcOrd="0" destOrd="0" presId="urn:microsoft.com/office/officeart/2005/8/layout/vList5"/>
    <dgm:cxn modelId="{358A51DC-DEA0-4DF8-972E-9E9B7B906A4B}" srcId="{1EA04DF4-5171-40BA-B980-F27C66D87399}" destId="{87D956E9-29EF-413B-821F-B58CC0D542D9}" srcOrd="0" destOrd="0" parTransId="{3EB02C9E-5C1E-4383-B043-BEB229DA8C8C}" sibTransId="{4C9E310A-190B-482D-99A0-DF3CCB5BE69A}"/>
    <dgm:cxn modelId="{534726E2-7ED0-469C-BEEF-D117B41CBDDD}" type="presOf" srcId="{08CF5A3F-ED80-49BC-A0DB-1A52C4CC22EB}" destId="{442B1865-149A-4F62-9FEC-ECAE67D43C29}" srcOrd="0" destOrd="0" presId="urn:microsoft.com/office/officeart/2005/8/layout/vList5"/>
    <dgm:cxn modelId="{A03F67FA-1697-48B3-A2D9-D18A2DB00939}" srcId="{7ADF0E45-D709-4842-93B4-C8024A3BF302}" destId="{22B4A824-E0F0-4761-A1BA-2E1C9C1642A0}" srcOrd="0" destOrd="0" parTransId="{3BA8BEEA-13EB-4306-90DC-152031C1797C}" sibTransId="{12E38836-0279-4438-AA29-B008B4BE111F}"/>
    <dgm:cxn modelId="{E92498FA-8D19-42E5-8728-9E3EF40FABFA}" srcId="{08CF5A3F-ED80-49BC-A0DB-1A52C4CC22EB}" destId="{A17F1CCD-A878-493E-9748-271D67338341}" srcOrd="0" destOrd="0" parTransId="{AF3E4789-CC12-4673-A46B-E51E20D98ADA}" sibTransId="{D8FFDA3C-79F2-4154-A5CB-292E2106DD0A}"/>
    <dgm:cxn modelId="{CCE7DAFE-F6C0-4A8E-9E38-DD1352BA5D19}" srcId="{4F3AF9E7-FC2C-417B-9C92-54CD653550AF}" destId="{294D1903-99AF-4BDE-B7D2-12CF34A89B9F}" srcOrd="0" destOrd="0" parTransId="{86BC145C-A787-44AC-A042-9F89EDCD149A}" sibTransId="{AB8EAAE3-5255-4148-A418-3A83E5E05337}"/>
    <dgm:cxn modelId="{4113D835-E52B-4A21-A814-10152EDCA549}" type="presParOf" srcId="{7BCA967F-D5C2-435C-ABFB-BE541831E4E5}" destId="{22B72437-3ACC-4CFA-B723-0A859D6EEEE5}" srcOrd="0" destOrd="0" presId="urn:microsoft.com/office/officeart/2005/8/layout/vList5"/>
    <dgm:cxn modelId="{31022E0C-FE43-421E-9F57-E7A369645C09}" type="presParOf" srcId="{22B72437-3ACC-4CFA-B723-0A859D6EEEE5}" destId="{9BBAAAB7-C88E-4B61-8969-F42158C252C5}" srcOrd="0" destOrd="0" presId="urn:microsoft.com/office/officeart/2005/8/layout/vList5"/>
    <dgm:cxn modelId="{C904DF6B-E0E7-4DA6-94EA-B561C5E7A4A8}" type="presParOf" srcId="{22B72437-3ACC-4CFA-B723-0A859D6EEEE5}" destId="{C3827788-587A-43E0-A54E-A83C53497025}" srcOrd="1" destOrd="0" presId="urn:microsoft.com/office/officeart/2005/8/layout/vList5"/>
    <dgm:cxn modelId="{0CB45AFD-9204-4D66-A00A-A98F2F3099FE}" type="presParOf" srcId="{7BCA967F-D5C2-435C-ABFB-BE541831E4E5}" destId="{A13A4706-A918-4C79-AB82-D32C2903C343}" srcOrd="1" destOrd="0" presId="urn:microsoft.com/office/officeart/2005/8/layout/vList5"/>
    <dgm:cxn modelId="{C3DF41ED-C196-4891-A166-47E20DAFBC2D}" type="presParOf" srcId="{7BCA967F-D5C2-435C-ABFB-BE541831E4E5}" destId="{D1F0E0DA-F7E0-4EEC-8F4D-D706FC6094C0}" srcOrd="2" destOrd="0" presId="urn:microsoft.com/office/officeart/2005/8/layout/vList5"/>
    <dgm:cxn modelId="{5BDD5AD3-8FE3-444E-94EB-BCD732C2F572}" type="presParOf" srcId="{D1F0E0DA-F7E0-4EEC-8F4D-D706FC6094C0}" destId="{4175ABD1-6927-4E8E-A9F4-15D46B5C31D6}" srcOrd="0" destOrd="0" presId="urn:microsoft.com/office/officeart/2005/8/layout/vList5"/>
    <dgm:cxn modelId="{9A38B6A8-C688-4A43-BF04-E771561E41F9}" type="presParOf" srcId="{D1F0E0DA-F7E0-4EEC-8F4D-D706FC6094C0}" destId="{20989A61-280F-4556-898C-6FA5216D8615}" srcOrd="1" destOrd="0" presId="urn:microsoft.com/office/officeart/2005/8/layout/vList5"/>
    <dgm:cxn modelId="{C8F18867-1714-434D-9462-CE4B8FC3CA69}" type="presParOf" srcId="{7BCA967F-D5C2-435C-ABFB-BE541831E4E5}" destId="{9F7D64EE-5E58-46B1-8C2E-1C9C09A2A594}" srcOrd="3" destOrd="0" presId="urn:microsoft.com/office/officeart/2005/8/layout/vList5"/>
    <dgm:cxn modelId="{C6CCA532-4146-4EC0-96C6-26C32BD1C829}" type="presParOf" srcId="{7BCA967F-D5C2-435C-ABFB-BE541831E4E5}" destId="{5FA502A9-2457-4665-825B-EFAC3131B9BF}" srcOrd="4" destOrd="0" presId="urn:microsoft.com/office/officeart/2005/8/layout/vList5"/>
    <dgm:cxn modelId="{8442F839-B632-47BC-84AD-A50ACE973E5F}" type="presParOf" srcId="{5FA502A9-2457-4665-825B-EFAC3131B9BF}" destId="{90409245-D2AF-46D4-B369-39F10DF4E9DC}" srcOrd="0" destOrd="0" presId="urn:microsoft.com/office/officeart/2005/8/layout/vList5"/>
    <dgm:cxn modelId="{8B1DC543-BC87-4E75-A7EB-5E5104FB3113}" type="presParOf" srcId="{5FA502A9-2457-4665-825B-EFAC3131B9BF}" destId="{855D454C-4134-44A5-ADB2-ABF653527FEB}" srcOrd="1" destOrd="0" presId="urn:microsoft.com/office/officeart/2005/8/layout/vList5"/>
    <dgm:cxn modelId="{BB0BA846-15AA-4BB6-90DB-21C427B91CE6}" type="presParOf" srcId="{7BCA967F-D5C2-435C-ABFB-BE541831E4E5}" destId="{583A2559-05E2-4E21-A934-DD4B8E76FDDC}" srcOrd="5" destOrd="0" presId="urn:microsoft.com/office/officeart/2005/8/layout/vList5"/>
    <dgm:cxn modelId="{33E7EE90-105D-4722-B9BE-17B4828DA686}" type="presParOf" srcId="{7BCA967F-D5C2-435C-ABFB-BE541831E4E5}" destId="{8A676D4A-44FE-4F7C-9271-F476B3837659}" srcOrd="6" destOrd="0" presId="urn:microsoft.com/office/officeart/2005/8/layout/vList5"/>
    <dgm:cxn modelId="{64D35C60-2556-49E1-AE72-2CC38F0AC31A}" type="presParOf" srcId="{8A676D4A-44FE-4F7C-9271-F476B3837659}" destId="{442B1865-149A-4F62-9FEC-ECAE67D43C29}" srcOrd="0" destOrd="0" presId="urn:microsoft.com/office/officeart/2005/8/layout/vList5"/>
    <dgm:cxn modelId="{87074770-32F0-4478-A904-569976300F2A}" type="presParOf" srcId="{8A676D4A-44FE-4F7C-9271-F476B3837659}" destId="{2E308116-D881-4773-AABA-5B0DBD857192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56B1450-4EE0-4212-BD9E-A719DCC730E2}" type="doc">
      <dgm:prSet loTypeId="urn:microsoft.com/office/officeart/2005/8/layout/vList2" loCatId="list" qsTypeId="urn:microsoft.com/office/officeart/2005/8/quickstyle/simple4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F9BF4E33-DE5D-4B44-B12F-78E20E24D1AC}">
      <dgm:prSet/>
      <dgm:spPr/>
      <dgm:t>
        <a:bodyPr/>
        <a:lstStyle/>
        <a:p>
          <a:r>
            <a:rPr lang="en-US" dirty="0"/>
            <a:t>• Create a project directory – name it however you like it or </a:t>
          </a:r>
          <a:r>
            <a:rPr lang="en-US" dirty="0" err="1"/>
            <a:t>prj</a:t>
          </a:r>
          <a:endParaRPr lang="en-US" dirty="0"/>
        </a:p>
      </dgm:t>
    </dgm:pt>
    <dgm:pt modelId="{1B473AA3-53F2-44F2-8C45-AD44D64A3C05}" type="parTrans" cxnId="{278D5C29-38E7-4443-8816-6DFBAACE01F4}">
      <dgm:prSet/>
      <dgm:spPr/>
      <dgm:t>
        <a:bodyPr/>
        <a:lstStyle/>
        <a:p>
          <a:endParaRPr lang="en-US"/>
        </a:p>
      </dgm:t>
    </dgm:pt>
    <dgm:pt modelId="{E776A169-962B-4635-B413-C2CAAC98AA0E}" type="sibTrans" cxnId="{278D5C29-38E7-4443-8816-6DFBAACE01F4}">
      <dgm:prSet/>
      <dgm:spPr/>
      <dgm:t>
        <a:bodyPr/>
        <a:lstStyle/>
        <a:p>
          <a:endParaRPr lang="en-US"/>
        </a:p>
      </dgm:t>
    </dgm:pt>
    <dgm:pt modelId="{2785A8EF-85D3-4059-9CB6-5ECA6DB3F81F}">
      <dgm:prSet/>
      <dgm:spPr/>
      <dgm:t>
        <a:bodyPr/>
        <a:lstStyle/>
        <a:p>
          <a:r>
            <a:rPr lang="en-US" dirty="0"/>
            <a:t>• Inside project, docker-</a:t>
          </a:r>
          <a:r>
            <a:rPr lang="en-US" dirty="0" err="1"/>
            <a:t>compose.yml</a:t>
          </a:r>
          <a:r>
            <a:rPr lang="en-US" dirty="0"/>
            <a:t> stays at the root and init.js stays inside </a:t>
          </a:r>
          <a:r>
            <a:rPr lang="en-US" dirty="0" err="1"/>
            <a:t>rsc</a:t>
          </a:r>
          <a:r>
            <a:rPr lang="en-US" dirty="0"/>
            <a:t>.</a:t>
          </a:r>
        </a:p>
      </dgm:t>
    </dgm:pt>
    <dgm:pt modelId="{E694A12F-D797-488E-AD73-069C1B9067E4}" type="parTrans" cxnId="{ADE07F87-BEE2-4FDB-9204-0A07D50445DF}">
      <dgm:prSet/>
      <dgm:spPr/>
      <dgm:t>
        <a:bodyPr/>
        <a:lstStyle/>
        <a:p>
          <a:endParaRPr lang="en-US"/>
        </a:p>
      </dgm:t>
    </dgm:pt>
    <dgm:pt modelId="{6828DBD6-6633-4B44-A3D8-0981FBD7F28C}" type="sibTrans" cxnId="{ADE07F87-BEE2-4FDB-9204-0A07D50445DF}">
      <dgm:prSet/>
      <dgm:spPr/>
      <dgm:t>
        <a:bodyPr/>
        <a:lstStyle/>
        <a:p>
          <a:endParaRPr lang="en-US"/>
        </a:p>
      </dgm:t>
    </dgm:pt>
    <dgm:pt modelId="{09A4439C-AF7F-457D-8798-353051491544}">
      <dgm:prSet/>
      <dgm:spPr/>
      <dgm:t>
        <a:bodyPr/>
        <a:lstStyle/>
        <a:p>
          <a:r>
            <a:rPr lang="en-US"/>
            <a:t>• This practice follows the same workflow used before with PostgreSQL, but now using MongoDB.</a:t>
          </a:r>
        </a:p>
      </dgm:t>
    </dgm:pt>
    <dgm:pt modelId="{76E43A33-65E2-47A5-8078-3BFFF0D6C197}" type="parTrans" cxnId="{D9DBC4B4-EC28-4307-BB1D-217459C86FD4}">
      <dgm:prSet/>
      <dgm:spPr/>
      <dgm:t>
        <a:bodyPr/>
        <a:lstStyle/>
        <a:p>
          <a:endParaRPr lang="en-US"/>
        </a:p>
      </dgm:t>
    </dgm:pt>
    <dgm:pt modelId="{3A3E5AB3-FF12-414D-A379-41E6152B29B4}" type="sibTrans" cxnId="{D9DBC4B4-EC28-4307-BB1D-217459C86FD4}">
      <dgm:prSet/>
      <dgm:spPr/>
      <dgm:t>
        <a:bodyPr/>
        <a:lstStyle/>
        <a:p>
          <a:endParaRPr lang="en-US"/>
        </a:p>
      </dgm:t>
    </dgm:pt>
    <dgm:pt modelId="{D71C5E45-9B35-4FE4-BE37-C5FCA72C285D}">
      <dgm:prSet/>
      <dgm:spPr/>
      <dgm:t>
        <a:bodyPr/>
        <a:lstStyle/>
        <a:p>
          <a:r>
            <a:rPr lang="en-US" dirty="0"/>
            <a:t>• Create directory named </a:t>
          </a:r>
          <a:r>
            <a:rPr lang="en-US" dirty="0" err="1"/>
            <a:t>rsc</a:t>
          </a:r>
          <a:endParaRPr lang="en-US" dirty="0"/>
        </a:p>
      </dgm:t>
    </dgm:pt>
    <dgm:pt modelId="{4595E140-381A-4280-A5B1-2EC5FAEFF1A3}" type="parTrans" cxnId="{49AD75CA-1520-4469-AC9E-E371463679FD}">
      <dgm:prSet/>
      <dgm:spPr/>
      <dgm:t>
        <a:bodyPr/>
        <a:lstStyle/>
        <a:p>
          <a:endParaRPr lang="pt-BR"/>
        </a:p>
      </dgm:t>
    </dgm:pt>
    <dgm:pt modelId="{80EB92DD-2366-4CDB-BD03-EE4E0C8ABF45}" type="sibTrans" cxnId="{49AD75CA-1520-4469-AC9E-E371463679FD}">
      <dgm:prSet/>
      <dgm:spPr/>
      <dgm:t>
        <a:bodyPr/>
        <a:lstStyle/>
        <a:p>
          <a:endParaRPr lang="pt-BR"/>
        </a:p>
      </dgm:t>
    </dgm:pt>
    <dgm:pt modelId="{9DECAFDF-3249-4043-A2E3-58C2FFA7594B}" type="pres">
      <dgm:prSet presAssocID="{F56B1450-4EE0-4212-BD9E-A719DCC730E2}" presName="linear" presStyleCnt="0">
        <dgm:presLayoutVars>
          <dgm:animLvl val="lvl"/>
          <dgm:resizeHandles val="exact"/>
        </dgm:presLayoutVars>
      </dgm:prSet>
      <dgm:spPr/>
    </dgm:pt>
    <dgm:pt modelId="{0535EDA3-3283-4C62-BF5F-97F1A4EEA84E}" type="pres">
      <dgm:prSet presAssocID="{F9BF4E33-DE5D-4B44-B12F-78E20E24D1AC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081EE63F-90D7-476E-9C20-1A412F374ED8}" type="pres">
      <dgm:prSet presAssocID="{E776A169-962B-4635-B413-C2CAAC98AA0E}" presName="spacer" presStyleCnt="0"/>
      <dgm:spPr/>
    </dgm:pt>
    <dgm:pt modelId="{C40FBAD5-80A8-48CC-81A6-62B5DEA8E6D0}" type="pres">
      <dgm:prSet presAssocID="{D71C5E45-9B35-4FE4-BE37-C5FCA72C285D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C41C9F4D-7764-4AE7-BB3D-8FD886F87A89}" type="pres">
      <dgm:prSet presAssocID="{80EB92DD-2366-4CDB-BD03-EE4E0C8ABF45}" presName="spacer" presStyleCnt="0"/>
      <dgm:spPr/>
    </dgm:pt>
    <dgm:pt modelId="{109C760C-4377-41C2-9428-41307DF3B8F7}" type="pres">
      <dgm:prSet presAssocID="{2785A8EF-85D3-4059-9CB6-5ECA6DB3F81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5E8A0FB0-FEBD-4FCF-AFD6-90BB474CA893}" type="pres">
      <dgm:prSet presAssocID="{6828DBD6-6633-4B44-A3D8-0981FBD7F28C}" presName="spacer" presStyleCnt="0"/>
      <dgm:spPr/>
    </dgm:pt>
    <dgm:pt modelId="{AD6A6431-1AC6-4AE1-9B98-17B1553F178E}" type="pres">
      <dgm:prSet presAssocID="{09A4439C-AF7F-457D-8798-353051491544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278D5C29-38E7-4443-8816-6DFBAACE01F4}" srcId="{F56B1450-4EE0-4212-BD9E-A719DCC730E2}" destId="{F9BF4E33-DE5D-4B44-B12F-78E20E24D1AC}" srcOrd="0" destOrd="0" parTransId="{1B473AA3-53F2-44F2-8C45-AD44D64A3C05}" sibTransId="{E776A169-962B-4635-B413-C2CAAC98AA0E}"/>
    <dgm:cxn modelId="{CCB6C254-E452-42D4-AE0A-C05F54927777}" type="presOf" srcId="{D71C5E45-9B35-4FE4-BE37-C5FCA72C285D}" destId="{C40FBAD5-80A8-48CC-81A6-62B5DEA8E6D0}" srcOrd="0" destOrd="0" presId="urn:microsoft.com/office/officeart/2005/8/layout/vList2"/>
    <dgm:cxn modelId="{ADE07F87-BEE2-4FDB-9204-0A07D50445DF}" srcId="{F56B1450-4EE0-4212-BD9E-A719DCC730E2}" destId="{2785A8EF-85D3-4059-9CB6-5ECA6DB3F81F}" srcOrd="2" destOrd="0" parTransId="{E694A12F-D797-488E-AD73-069C1B9067E4}" sibTransId="{6828DBD6-6633-4B44-A3D8-0981FBD7F28C}"/>
    <dgm:cxn modelId="{4C1267B0-8698-4551-A0E1-922D55257458}" type="presOf" srcId="{2785A8EF-85D3-4059-9CB6-5ECA6DB3F81F}" destId="{109C760C-4377-41C2-9428-41307DF3B8F7}" srcOrd="0" destOrd="0" presId="urn:microsoft.com/office/officeart/2005/8/layout/vList2"/>
    <dgm:cxn modelId="{D9DBC4B4-EC28-4307-BB1D-217459C86FD4}" srcId="{F56B1450-4EE0-4212-BD9E-A719DCC730E2}" destId="{09A4439C-AF7F-457D-8798-353051491544}" srcOrd="3" destOrd="0" parTransId="{76E43A33-65E2-47A5-8078-3BFFF0D6C197}" sibTransId="{3A3E5AB3-FF12-414D-A379-41E6152B29B4}"/>
    <dgm:cxn modelId="{5D1D75C9-C59D-4470-9F3B-2E8EC24FF487}" type="presOf" srcId="{09A4439C-AF7F-457D-8798-353051491544}" destId="{AD6A6431-1AC6-4AE1-9B98-17B1553F178E}" srcOrd="0" destOrd="0" presId="urn:microsoft.com/office/officeart/2005/8/layout/vList2"/>
    <dgm:cxn modelId="{49AD75CA-1520-4469-AC9E-E371463679FD}" srcId="{F56B1450-4EE0-4212-BD9E-A719DCC730E2}" destId="{D71C5E45-9B35-4FE4-BE37-C5FCA72C285D}" srcOrd="1" destOrd="0" parTransId="{4595E140-381A-4280-A5B1-2EC5FAEFF1A3}" sibTransId="{80EB92DD-2366-4CDB-BD03-EE4E0C8ABF45}"/>
    <dgm:cxn modelId="{AC9DC6CF-14E8-46B0-9D51-697509113BBF}" type="presOf" srcId="{F56B1450-4EE0-4212-BD9E-A719DCC730E2}" destId="{9DECAFDF-3249-4043-A2E3-58C2FFA7594B}" srcOrd="0" destOrd="0" presId="urn:microsoft.com/office/officeart/2005/8/layout/vList2"/>
    <dgm:cxn modelId="{15CDEAD7-38EF-4617-8C22-986F7B8FDF5B}" type="presOf" srcId="{F9BF4E33-DE5D-4B44-B12F-78E20E24D1AC}" destId="{0535EDA3-3283-4C62-BF5F-97F1A4EEA84E}" srcOrd="0" destOrd="0" presId="urn:microsoft.com/office/officeart/2005/8/layout/vList2"/>
    <dgm:cxn modelId="{CEFCBAEE-A278-4711-995A-E36308A38CEE}" type="presParOf" srcId="{9DECAFDF-3249-4043-A2E3-58C2FFA7594B}" destId="{0535EDA3-3283-4C62-BF5F-97F1A4EEA84E}" srcOrd="0" destOrd="0" presId="urn:microsoft.com/office/officeart/2005/8/layout/vList2"/>
    <dgm:cxn modelId="{8CADAF26-123D-433C-882A-CF445C96370D}" type="presParOf" srcId="{9DECAFDF-3249-4043-A2E3-58C2FFA7594B}" destId="{081EE63F-90D7-476E-9C20-1A412F374ED8}" srcOrd="1" destOrd="0" presId="urn:microsoft.com/office/officeart/2005/8/layout/vList2"/>
    <dgm:cxn modelId="{251DDC9E-1423-4F93-8FDC-8275D2D76F96}" type="presParOf" srcId="{9DECAFDF-3249-4043-A2E3-58C2FFA7594B}" destId="{C40FBAD5-80A8-48CC-81A6-62B5DEA8E6D0}" srcOrd="2" destOrd="0" presId="urn:microsoft.com/office/officeart/2005/8/layout/vList2"/>
    <dgm:cxn modelId="{7389823E-50BB-4C30-B4AA-80A5A67615A0}" type="presParOf" srcId="{9DECAFDF-3249-4043-A2E3-58C2FFA7594B}" destId="{C41C9F4D-7764-4AE7-BB3D-8FD886F87A89}" srcOrd="3" destOrd="0" presId="urn:microsoft.com/office/officeart/2005/8/layout/vList2"/>
    <dgm:cxn modelId="{843DEB21-3985-42B0-A7A3-55AA829EF262}" type="presParOf" srcId="{9DECAFDF-3249-4043-A2E3-58C2FFA7594B}" destId="{109C760C-4377-41C2-9428-41307DF3B8F7}" srcOrd="4" destOrd="0" presId="urn:microsoft.com/office/officeart/2005/8/layout/vList2"/>
    <dgm:cxn modelId="{D2968C6E-2AB0-4F64-B8B4-45FE585694BF}" type="presParOf" srcId="{9DECAFDF-3249-4043-A2E3-58C2FFA7594B}" destId="{5E8A0FB0-FEBD-4FCF-AFD6-90BB474CA893}" srcOrd="5" destOrd="0" presId="urn:microsoft.com/office/officeart/2005/8/layout/vList2"/>
    <dgm:cxn modelId="{BF6A316B-F6A3-4894-A7CC-F5E09D6346CB}" type="presParOf" srcId="{9DECAFDF-3249-4043-A2E3-58C2FFA7594B}" destId="{AD6A6431-1AC6-4AE1-9B98-17B1553F178E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AD8184E-23A7-4178-B042-62D8EF51D30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7B84117F-7038-4B1C-9D26-5C4A10F4F473}">
      <dgm:prSet/>
      <dgm:spPr/>
      <dgm:t>
        <a:bodyPr/>
        <a:lstStyle/>
        <a:p>
          <a:pPr>
            <a:lnSpc>
              <a:spcPct val="100000"/>
            </a:lnSpc>
          </a:pPr>
          <a:r>
            <a:rPr lang="pt-BR"/>
            <a:t>• prj/docker-compose.yml</a:t>
          </a:r>
          <a:endParaRPr lang="en-US"/>
        </a:p>
      </dgm:t>
    </dgm:pt>
    <dgm:pt modelId="{26475141-20D3-41DD-A34A-B59C07963028}" type="parTrans" cxnId="{7E4BC879-AC75-42B1-96F3-0B10D7366D53}">
      <dgm:prSet/>
      <dgm:spPr/>
      <dgm:t>
        <a:bodyPr/>
        <a:lstStyle/>
        <a:p>
          <a:endParaRPr lang="en-US"/>
        </a:p>
      </dgm:t>
    </dgm:pt>
    <dgm:pt modelId="{9341B61C-DC3A-482E-A5CD-8D902EDFCEAC}" type="sibTrans" cxnId="{7E4BC879-AC75-42B1-96F3-0B10D7366D53}">
      <dgm:prSet/>
      <dgm:spPr/>
      <dgm:t>
        <a:bodyPr/>
        <a:lstStyle/>
        <a:p>
          <a:endParaRPr lang="en-US"/>
        </a:p>
      </dgm:t>
    </dgm:pt>
    <dgm:pt modelId="{55214B01-AE8C-48CE-862E-4525F30522EC}">
      <dgm:prSet/>
      <dgm:spPr/>
      <dgm:t>
        <a:bodyPr/>
        <a:lstStyle/>
        <a:p>
          <a:pPr>
            <a:lnSpc>
              <a:spcPct val="100000"/>
            </a:lnSpc>
          </a:pPr>
          <a:r>
            <a:rPr lang="pt-BR"/>
            <a:t>• prj/rsc/init.js</a:t>
          </a:r>
          <a:endParaRPr lang="en-US"/>
        </a:p>
      </dgm:t>
    </dgm:pt>
    <dgm:pt modelId="{A11A582F-33BA-483C-904D-AE0AD016B64C}" type="parTrans" cxnId="{8F82B42B-FFEB-4CB8-A1C5-D9BDEC76D867}">
      <dgm:prSet/>
      <dgm:spPr/>
      <dgm:t>
        <a:bodyPr/>
        <a:lstStyle/>
        <a:p>
          <a:endParaRPr lang="en-US"/>
        </a:p>
      </dgm:t>
    </dgm:pt>
    <dgm:pt modelId="{A78B8F0F-A902-427E-ACEE-161A8B5D673B}" type="sibTrans" cxnId="{8F82B42B-FFEB-4CB8-A1C5-D9BDEC76D867}">
      <dgm:prSet/>
      <dgm:spPr/>
      <dgm:t>
        <a:bodyPr/>
        <a:lstStyle/>
        <a:p>
          <a:endParaRPr lang="en-US"/>
        </a:p>
      </dgm:t>
    </dgm:pt>
    <dgm:pt modelId="{DF563B76-B43C-4BF4-9D9F-4B0267DF6B9C}" type="pres">
      <dgm:prSet presAssocID="{BAD8184E-23A7-4178-B042-62D8EF51D300}" presName="root" presStyleCnt="0">
        <dgm:presLayoutVars>
          <dgm:dir/>
          <dgm:resizeHandles val="exact"/>
        </dgm:presLayoutVars>
      </dgm:prSet>
      <dgm:spPr/>
    </dgm:pt>
    <dgm:pt modelId="{D8CD96CB-D43E-4563-A932-2BB917EBA689}" type="pres">
      <dgm:prSet presAssocID="{7B84117F-7038-4B1C-9D26-5C4A10F4F473}" presName="compNode" presStyleCnt="0"/>
      <dgm:spPr/>
    </dgm:pt>
    <dgm:pt modelId="{F08E793C-B0F9-4685-B26C-1A88B458B629}" type="pres">
      <dgm:prSet presAssocID="{7B84117F-7038-4B1C-9D26-5C4A10F4F473}" presName="bgRect" presStyleLbl="bgShp" presStyleIdx="0" presStyleCnt="2"/>
      <dgm:spPr/>
    </dgm:pt>
    <dgm:pt modelId="{D1B12E23-F2BA-4B1D-A32C-FF6D2AB479BC}" type="pres">
      <dgm:prSet presAssocID="{7B84117F-7038-4B1C-9D26-5C4A10F4F473}" presName="iconRect" presStyleLbl="node1" presStyleIdx="0" presStyleCnt="2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ixa com preenchimento sólido"/>
        </a:ext>
      </dgm:extLst>
    </dgm:pt>
    <dgm:pt modelId="{3D3AA07B-AE21-407F-9F65-894CF0702AB8}" type="pres">
      <dgm:prSet presAssocID="{7B84117F-7038-4B1C-9D26-5C4A10F4F473}" presName="spaceRect" presStyleCnt="0"/>
      <dgm:spPr/>
    </dgm:pt>
    <dgm:pt modelId="{89621DE8-9ABA-4295-A736-099699E3C9FF}" type="pres">
      <dgm:prSet presAssocID="{7B84117F-7038-4B1C-9D26-5C4A10F4F473}" presName="parTx" presStyleLbl="revTx" presStyleIdx="0" presStyleCnt="2">
        <dgm:presLayoutVars>
          <dgm:chMax val="0"/>
          <dgm:chPref val="0"/>
        </dgm:presLayoutVars>
      </dgm:prSet>
      <dgm:spPr/>
    </dgm:pt>
    <dgm:pt modelId="{FAB439CD-5B56-450B-9887-FDBB5ED05901}" type="pres">
      <dgm:prSet presAssocID="{9341B61C-DC3A-482E-A5CD-8D902EDFCEAC}" presName="sibTrans" presStyleCnt="0"/>
      <dgm:spPr/>
    </dgm:pt>
    <dgm:pt modelId="{B732123D-B068-4729-9023-60D5EA4C4FAB}" type="pres">
      <dgm:prSet presAssocID="{55214B01-AE8C-48CE-862E-4525F30522EC}" presName="compNode" presStyleCnt="0"/>
      <dgm:spPr/>
    </dgm:pt>
    <dgm:pt modelId="{E0E456E5-F8B3-4847-BBBB-15794991809A}" type="pres">
      <dgm:prSet presAssocID="{55214B01-AE8C-48CE-862E-4525F30522EC}" presName="bgRect" presStyleLbl="bgShp" presStyleIdx="1" presStyleCnt="2"/>
      <dgm:spPr/>
    </dgm:pt>
    <dgm:pt modelId="{7B85D5DD-37D2-4BA6-A5E8-D6B06CAD6163}" type="pres">
      <dgm:prSet presAssocID="{55214B01-AE8C-48CE-862E-4525F30522EC}" presName="iconRect" presStyleLbl="node1" presStyleIdx="1" presStyleCnt="2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ixa com preenchimento sólido"/>
        </a:ext>
      </dgm:extLst>
    </dgm:pt>
    <dgm:pt modelId="{209A73DD-3ED0-4F14-8641-A98D4A7CE4C0}" type="pres">
      <dgm:prSet presAssocID="{55214B01-AE8C-48CE-862E-4525F30522EC}" presName="spaceRect" presStyleCnt="0"/>
      <dgm:spPr/>
    </dgm:pt>
    <dgm:pt modelId="{589AFA9F-53CB-4845-9904-C920F27E831F}" type="pres">
      <dgm:prSet presAssocID="{55214B01-AE8C-48CE-862E-4525F30522EC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8F82B42B-FFEB-4CB8-A1C5-D9BDEC76D867}" srcId="{BAD8184E-23A7-4178-B042-62D8EF51D300}" destId="{55214B01-AE8C-48CE-862E-4525F30522EC}" srcOrd="1" destOrd="0" parTransId="{A11A582F-33BA-483C-904D-AE0AD016B64C}" sibTransId="{A78B8F0F-A902-427E-ACEE-161A8B5D673B}"/>
    <dgm:cxn modelId="{7E4BC879-AC75-42B1-96F3-0B10D7366D53}" srcId="{BAD8184E-23A7-4178-B042-62D8EF51D300}" destId="{7B84117F-7038-4B1C-9D26-5C4A10F4F473}" srcOrd="0" destOrd="0" parTransId="{26475141-20D3-41DD-A34A-B59C07963028}" sibTransId="{9341B61C-DC3A-482E-A5CD-8D902EDFCEAC}"/>
    <dgm:cxn modelId="{F984AFC9-7AF9-4F98-B8C4-6E03A9E245BC}" type="presOf" srcId="{7B84117F-7038-4B1C-9D26-5C4A10F4F473}" destId="{89621DE8-9ABA-4295-A736-099699E3C9FF}" srcOrd="0" destOrd="0" presId="urn:microsoft.com/office/officeart/2018/2/layout/IconVerticalSolidList"/>
    <dgm:cxn modelId="{D42FF9D2-BD82-4851-8C28-4C024612821F}" type="presOf" srcId="{BAD8184E-23A7-4178-B042-62D8EF51D300}" destId="{DF563B76-B43C-4BF4-9D9F-4B0267DF6B9C}" srcOrd="0" destOrd="0" presId="urn:microsoft.com/office/officeart/2018/2/layout/IconVerticalSolidList"/>
    <dgm:cxn modelId="{A70935F9-866A-4EC4-9917-D4DD1F23C21B}" type="presOf" srcId="{55214B01-AE8C-48CE-862E-4525F30522EC}" destId="{589AFA9F-53CB-4845-9904-C920F27E831F}" srcOrd="0" destOrd="0" presId="urn:microsoft.com/office/officeart/2018/2/layout/IconVerticalSolidList"/>
    <dgm:cxn modelId="{5FDBC307-4FB4-4B9C-97F8-C905DA044531}" type="presParOf" srcId="{DF563B76-B43C-4BF4-9D9F-4B0267DF6B9C}" destId="{D8CD96CB-D43E-4563-A932-2BB917EBA689}" srcOrd="0" destOrd="0" presId="urn:microsoft.com/office/officeart/2018/2/layout/IconVerticalSolidList"/>
    <dgm:cxn modelId="{4F107B30-D6AE-47FF-8240-0E44AA0A2B42}" type="presParOf" srcId="{D8CD96CB-D43E-4563-A932-2BB917EBA689}" destId="{F08E793C-B0F9-4685-B26C-1A88B458B629}" srcOrd="0" destOrd="0" presId="urn:microsoft.com/office/officeart/2018/2/layout/IconVerticalSolidList"/>
    <dgm:cxn modelId="{7B6D63F3-5928-4C81-852B-79E92C345C71}" type="presParOf" srcId="{D8CD96CB-D43E-4563-A932-2BB917EBA689}" destId="{D1B12E23-F2BA-4B1D-A32C-FF6D2AB479BC}" srcOrd="1" destOrd="0" presId="urn:microsoft.com/office/officeart/2018/2/layout/IconVerticalSolidList"/>
    <dgm:cxn modelId="{ED52C2BB-5842-4BD5-92F8-0820BD104743}" type="presParOf" srcId="{D8CD96CB-D43E-4563-A932-2BB917EBA689}" destId="{3D3AA07B-AE21-407F-9F65-894CF0702AB8}" srcOrd="2" destOrd="0" presId="urn:microsoft.com/office/officeart/2018/2/layout/IconVerticalSolidList"/>
    <dgm:cxn modelId="{E605E4AF-B5CF-43EA-AA68-3F727F371430}" type="presParOf" srcId="{D8CD96CB-D43E-4563-A932-2BB917EBA689}" destId="{89621DE8-9ABA-4295-A736-099699E3C9FF}" srcOrd="3" destOrd="0" presId="urn:microsoft.com/office/officeart/2018/2/layout/IconVerticalSolidList"/>
    <dgm:cxn modelId="{4A3784CE-05A0-40A0-B356-29A43001ADD3}" type="presParOf" srcId="{DF563B76-B43C-4BF4-9D9F-4B0267DF6B9C}" destId="{FAB439CD-5B56-450B-9887-FDBB5ED05901}" srcOrd="1" destOrd="0" presId="urn:microsoft.com/office/officeart/2018/2/layout/IconVerticalSolidList"/>
    <dgm:cxn modelId="{CADF55AD-E53C-4A6D-8A9B-F1F9D1DFED87}" type="presParOf" srcId="{DF563B76-B43C-4BF4-9D9F-4B0267DF6B9C}" destId="{B732123D-B068-4729-9023-60D5EA4C4FAB}" srcOrd="2" destOrd="0" presId="urn:microsoft.com/office/officeart/2018/2/layout/IconVerticalSolidList"/>
    <dgm:cxn modelId="{AC560326-6BFC-4679-B784-8FC830AC7419}" type="presParOf" srcId="{B732123D-B068-4729-9023-60D5EA4C4FAB}" destId="{E0E456E5-F8B3-4847-BBBB-15794991809A}" srcOrd="0" destOrd="0" presId="urn:microsoft.com/office/officeart/2018/2/layout/IconVerticalSolidList"/>
    <dgm:cxn modelId="{1017FFF6-80DF-4CE2-9963-43AD7451D4C4}" type="presParOf" srcId="{B732123D-B068-4729-9023-60D5EA4C4FAB}" destId="{7B85D5DD-37D2-4BA6-A5E8-D6B06CAD6163}" srcOrd="1" destOrd="0" presId="urn:microsoft.com/office/officeart/2018/2/layout/IconVerticalSolidList"/>
    <dgm:cxn modelId="{6F6A0203-AA0E-421C-810C-092F83D78AE2}" type="presParOf" srcId="{B732123D-B068-4729-9023-60D5EA4C4FAB}" destId="{209A73DD-3ED0-4F14-8641-A98D4A7CE4C0}" srcOrd="2" destOrd="0" presId="urn:microsoft.com/office/officeart/2018/2/layout/IconVerticalSolidList"/>
    <dgm:cxn modelId="{DDB294C3-DA72-4E90-9AC9-0FB26C5E6960}" type="presParOf" srcId="{B732123D-B068-4729-9023-60D5EA4C4FAB}" destId="{589AFA9F-53CB-4845-9904-C920F27E831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A4F5ADD-3EA2-4CB2-BCFC-A5D918FA6091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CD29437-ED38-4903-A0D5-158A154E2F9F}">
      <dgm:prSet custT="1"/>
      <dgm:spPr/>
      <dgm:t>
        <a:bodyPr/>
        <a:lstStyle/>
        <a:p>
          <a:pPr algn="l"/>
          <a:r>
            <a:rPr lang="en-US" sz="2700" dirty="0"/>
            <a:t>MongoDB </a:t>
          </a:r>
          <a:r>
            <a:rPr lang="en-US" sz="2400" dirty="0"/>
            <a:t>uses</a:t>
          </a:r>
          <a:r>
            <a:rPr lang="en-US" sz="2700" dirty="0"/>
            <a:t> a JavaScript initialization file instead of </a:t>
          </a:r>
          <a:r>
            <a:rPr lang="en-US" sz="2700" dirty="0" err="1"/>
            <a:t>init.sql</a:t>
          </a:r>
          <a:r>
            <a:rPr lang="en-US" sz="2700" dirty="0"/>
            <a:t>.</a:t>
          </a:r>
        </a:p>
      </dgm:t>
    </dgm:pt>
    <dgm:pt modelId="{A960D12C-E757-4462-84BB-E23FA8181A08}" type="parTrans" cxnId="{E5C3DCC4-D6D5-4B6A-9428-3BBB9B305B50}">
      <dgm:prSet/>
      <dgm:spPr/>
      <dgm:t>
        <a:bodyPr/>
        <a:lstStyle/>
        <a:p>
          <a:endParaRPr lang="en-US"/>
        </a:p>
      </dgm:t>
    </dgm:pt>
    <dgm:pt modelId="{36C63A75-7AAF-4C1D-87D6-E5CE3ADE96F0}" type="sibTrans" cxnId="{E5C3DCC4-D6D5-4B6A-9428-3BBB9B305B50}">
      <dgm:prSet/>
      <dgm:spPr/>
      <dgm:t>
        <a:bodyPr/>
        <a:lstStyle/>
        <a:p>
          <a:endParaRPr lang="en-US"/>
        </a:p>
      </dgm:t>
    </dgm:pt>
    <dgm:pt modelId="{B1D9AA8B-9B31-47E1-BB1E-1178F17C34A6}">
      <dgm:prSet custT="1"/>
      <dgm:spPr/>
      <dgm:t>
        <a:bodyPr/>
        <a:lstStyle/>
        <a:p>
          <a:r>
            <a:rPr lang="en-US" sz="2400" dirty="0"/>
            <a:t>Inspect it – what is being done?</a:t>
          </a:r>
        </a:p>
      </dgm:t>
    </dgm:pt>
    <dgm:pt modelId="{C29C5862-D13D-49E5-8006-97A43AD5C954}" type="parTrans" cxnId="{8EB26EC2-BDAB-4711-8004-C4C7A1500A94}">
      <dgm:prSet/>
      <dgm:spPr/>
      <dgm:t>
        <a:bodyPr/>
        <a:lstStyle/>
        <a:p>
          <a:endParaRPr lang="en-US"/>
        </a:p>
      </dgm:t>
    </dgm:pt>
    <dgm:pt modelId="{693C47DA-2D54-4473-8571-66DCC5D1E3E4}" type="sibTrans" cxnId="{8EB26EC2-BDAB-4711-8004-C4C7A1500A94}">
      <dgm:prSet/>
      <dgm:spPr/>
      <dgm:t>
        <a:bodyPr/>
        <a:lstStyle/>
        <a:p>
          <a:endParaRPr lang="en-US"/>
        </a:p>
      </dgm:t>
    </dgm:pt>
    <dgm:pt modelId="{41C162D2-51CF-49C8-86D6-EC8AD2775FF8}" type="pres">
      <dgm:prSet presAssocID="{6A4F5ADD-3EA2-4CB2-BCFC-A5D918FA6091}" presName="outerComposite" presStyleCnt="0">
        <dgm:presLayoutVars>
          <dgm:chMax val="5"/>
          <dgm:dir/>
          <dgm:resizeHandles val="exact"/>
        </dgm:presLayoutVars>
      </dgm:prSet>
      <dgm:spPr/>
    </dgm:pt>
    <dgm:pt modelId="{353502A4-389D-49D7-AABA-3D920F85D7E3}" type="pres">
      <dgm:prSet presAssocID="{6A4F5ADD-3EA2-4CB2-BCFC-A5D918FA6091}" presName="dummyMaxCanvas" presStyleCnt="0">
        <dgm:presLayoutVars/>
      </dgm:prSet>
      <dgm:spPr/>
    </dgm:pt>
    <dgm:pt modelId="{D2597E59-0961-4C65-BCB2-E4EA17E4B704}" type="pres">
      <dgm:prSet presAssocID="{6A4F5ADD-3EA2-4CB2-BCFC-A5D918FA6091}" presName="TwoNodes_1" presStyleLbl="node1" presStyleIdx="0" presStyleCnt="2">
        <dgm:presLayoutVars>
          <dgm:bulletEnabled val="1"/>
        </dgm:presLayoutVars>
      </dgm:prSet>
      <dgm:spPr/>
    </dgm:pt>
    <dgm:pt modelId="{6F540759-EEBD-4820-874C-5B8733F4BA44}" type="pres">
      <dgm:prSet presAssocID="{6A4F5ADD-3EA2-4CB2-BCFC-A5D918FA6091}" presName="TwoNodes_2" presStyleLbl="node1" presStyleIdx="1" presStyleCnt="2" custLinFactNeighborX="-3885" custLinFactNeighborY="0">
        <dgm:presLayoutVars>
          <dgm:bulletEnabled val="1"/>
        </dgm:presLayoutVars>
      </dgm:prSet>
      <dgm:spPr/>
    </dgm:pt>
    <dgm:pt modelId="{D1AF40D4-DE03-4F2C-8586-2A24C82439CB}" type="pres">
      <dgm:prSet presAssocID="{6A4F5ADD-3EA2-4CB2-BCFC-A5D918FA6091}" presName="TwoConn_1-2" presStyleLbl="fgAccFollowNode1" presStyleIdx="0" presStyleCnt="1">
        <dgm:presLayoutVars>
          <dgm:bulletEnabled val="1"/>
        </dgm:presLayoutVars>
      </dgm:prSet>
      <dgm:spPr/>
    </dgm:pt>
    <dgm:pt modelId="{38663C9A-D68F-451D-B2BA-C883866E799A}" type="pres">
      <dgm:prSet presAssocID="{6A4F5ADD-3EA2-4CB2-BCFC-A5D918FA6091}" presName="TwoNodes_1_text" presStyleLbl="node1" presStyleIdx="1" presStyleCnt="2">
        <dgm:presLayoutVars>
          <dgm:bulletEnabled val="1"/>
        </dgm:presLayoutVars>
      </dgm:prSet>
      <dgm:spPr/>
    </dgm:pt>
    <dgm:pt modelId="{3D25171A-639A-4991-8B61-F7F18B3C87C5}" type="pres">
      <dgm:prSet presAssocID="{6A4F5ADD-3EA2-4CB2-BCFC-A5D918FA6091}" presName="TwoNodes_2_text" presStyleLbl="node1" presStyleIdx="1" presStyleCnt="2">
        <dgm:presLayoutVars>
          <dgm:bulletEnabled val="1"/>
        </dgm:presLayoutVars>
      </dgm:prSet>
      <dgm:spPr/>
    </dgm:pt>
  </dgm:ptLst>
  <dgm:cxnLst>
    <dgm:cxn modelId="{17127F47-18EA-4445-9E03-4F1714BB7501}" type="presOf" srcId="{B1D9AA8B-9B31-47E1-BB1E-1178F17C34A6}" destId="{3D25171A-639A-4991-8B61-F7F18B3C87C5}" srcOrd="1" destOrd="0" presId="urn:microsoft.com/office/officeart/2005/8/layout/vProcess5"/>
    <dgm:cxn modelId="{8EB26EC2-BDAB-4711-8004-C4C7A1500A94}" srcId="{6A4F5ADD-3EA2-4CB2-BCFC-A5D918FA6091}" destId="{B1D9AA8B-9B31-47E1-BB1E-1178F17C34A6}" srcOrd="1" destOrd="0" parTransId="{C29C5862-D13D-49E5-8006-97A43AD5C954}" sibTransId="{693C47DA-2D54-4473-8571-66DCC5D1E3E4}"/>
    <dgm:cxn modelId="{E5C3DCC4-D6D5-4B6A-9428-3BBB9B305B50}" srcId="{6A4F5ADD-3EA2-4CB2-BCFC-A5D918FA6091}" destId="{8CD29437-ED38-4903-A0D5-158A154E2F9F}" srcOrd="0" destOrd="0" parTransId="{A960D12C-E757-4462-84BB-E23FA8181A08}" sibTransId="{36C63A75-7AAF-4C1D-87D6-E5CE3ADE96F0}"/>
    <dgm:cxn modelId="{5EDFEBC9-55E5-4532-95EF-157583F76D0F}" type="presOf" srcId="{B1D9AA8B-9B31-47E1-BB1E-1178F17C34A6}" destId="{6F540759-EEBD-4820-874C-5B8733F4BA44}" srcOrd="0" destOrd="0" presId="urn:microsoft.com/office/officeart/2005/8/layout/vProcess5"/>
    <dgm:cxn modelId="{DD4913D3-E995-44AC-9965-C531079628C4}" type="presOf" srcId="{36C63A75-7AAF-4C1D-87D6-E5CE3ADE96F0}" destId="{D1AF40D4-DE03-4F2C-8586-2A24C82439CB}" srcOrd="0" destOrd="0" presId="urn:microsoft.com/office/officeart/2005/8/layout/vProcess5"/>
    <dgm:cxn modelId="{FFE8AFD6-FFAC-4F4C-8CF9-16FCC32AF396}" type="presOf" srcId="{8CD29437-ED38-4903-A0D5-158A154E2F9F}" destId="{D2597E59-0961-4C65-BCB2-E4EA17E4B704}" srcOrd="0" destOrd="0" presId="urn:microsoft.com/office/officeart/2005/8/layout/vProcess5"/>
    <dgm:cxn modelId="{9C5682DC-13FA-4B72-9028-79F63B4A8FCF}" type="presOf" srcId="{6A4F5ADD-3EA2-4CB2-BCFC-A5D918FA6091}" destId="{41C162D2-51CF-49C8-86D6-EC8AD2775FF8}" srcOrd="0" destOrd="0" presId="urn:microsoft.com/office/officeart/2005/8/layout/vProcess5"/>
    <dgm:cxn modelId="{7FD86EEF-A6AF-4644-AA70-9A7A19D10BEB}" type="presOf" srcId="{8CD29437-ED38-4903-A0D5-158A154E2F9F}" destId="{38663C9A-D68F-451D-B2BA-C883866E799A}" srcOrd="1" destOrd="0" presId="urn:microsoft.com/office/officeart/2005/8/layout/vProcess5"/>
    <dgm:cxn modelId="{10EE3295-EC89-4A29-BCE3-70A10C741C86}" type="presParOf" srcId="{41C162D2-51CF-49C8-86D6-EC8AD2775FF8}" destId="{353502A4-389D-49D7-AABA-3D920F85D7E3}" srcOrd="0" destOrd="0" presId="urn:microsoft.com/office/officeart/2005/8/layout/vProcess5"/>
    <dgm:cxn modelId="{884C90FC-89A1-47C0-9696-154017200136}" type="presParOf" srcId="{41C162D2-51CF-49C8-86D6-EC8AD2775FF8}" destId="{D2597E59-0961-4C65-BCB2-E4EA17E4B704}" srcOrd="1" destOrd="0" presId="urn:microsoft.com/office/officeart/2005/8/layout/vProcess5"/>
    <dgm:cxn modelId="{AB90DAEF-3AF3-402C-B13B-8B449C8A5295}" type="presParOf" srcId="{41C162D2-51CF-49C8-86D6-EC8AD2775FF8}" destId="{6F540759-EEBD-4820-874C-5B8733F4BA44}" srcOrd="2" destOrd="0" presId="urn:microsoft.com/office/officeart/2005/8/layout/vProcess5"/>
    <dgm:cxn modelId="{D1B83B73-B52E-458E-A3C6-D4826B969FD0}" type="presParOf" srcId="{41C162D2-51CF-49C8-86D6-EC8AD2775FF8}" destId="{D1AF40D4-DE03-4F2C-8586-2A24C82439CB}" srcOrd="3" destOrd="0" presId="urn:microsoft.com/office/officeart/2005/8/layout/vProcess5"/>
    <dgm:cxn modelId="{4375B313-733A-4ABE-8834-897333B81A64}" type="presParOf" srcId="{41C162D2-51CF-49C8-86D6-EC8AD2775FF8}" destId="{38663C9A-D68F-451D-B2BA-C883866E799A}" srcOrd="4" destOrd="0" presId="urn:microsoft.com/office/officeart/2005/8/layout/vProcess5"/>
    <dgm:cxn modelId="{E38ECEE9-7B01-46B9-A7AE-B93C0E56B90E}" type="presParOf" srcId="{41C162D2-51CF-49C8-86D6-EC8AD2775FF8}" destId="{3D25171A-639A-4991-8B61-F7F18B3C87C5}" srcOrd="5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827788-587A-43E0-A54E-A83C53497025}">
      <dsp:nvSpPr>
        <dsp:cNvPr id="0" name=""/>
        <dsp:cNvSpPr/>
      </dsp:nvSpPr>
      <dsp:spPr>
        <a:xfrm rot="5400000">
          <a:off x="5709268" y="-2287622"/>
          <a:ext cx="1017301" cy="5852159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600" kern="1200"/>
            <a:t>db.students.find({})</a:t>
          </a:r>
          <a:endParaRPr lang="en-US" sz="1600" kern="1200"/>
        </a:p>
      </dsp:txBody>
      <dsp:txXfrm rot="-5400000">
        <a:off x="3291840" y="179467"/>
        <a:ext cx="5802498" cy="917979"/>
      </dsp:txXfrm>
    </dsp:sp>
    <dsp:sp modelId="{9BBAAAB7-C88E-4B61-8969-F42158C252C5}">
      <dsp:nvSpPr>
        <dsp:cNvPr id="0" name=""/>
        <dsp:cNvSpPr/>
      </dsp:nvSpPr>
      <dsp:spPr>
        <a:xfrm>
          <a:off x="0" y="2643"/>
          <a:ext cx="3291839" cy="1271627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/>
            <a:t>Retrieve </a:t>
          </a:r>
          <a:r>
            <a:rPr lang="pt-BR" sz="1600" b="1" kern="1200"/>
            <a:t>all documents</a:t>
          </a:r>
          <a:r>
            <a:rPr lang="pt-BR" sz="1600" kern="1200"/>
            <a:t>:</a:t>
          </a:r>
          <a:endParaRPr lang="en-US" sz="1600" kern="1200"/>
        </a:p>
      </dsp:txBody>
      <dsp:txXfrm>
        <a:off x="62076" y="64719"/>
        <a:ext cx="3167687" cy="1147475"/>
      </dsp:txXfrm>
    </dsp:sp>
    <dsp:sp modelId="{20989A61-280F-4556-898C-6FA5216D8615}">
      <dsp:nvSpPr>
        <dsp:cNvPr id="0" name=""/>
        <dsp:cNvSpPr/>
      </dsp:nvSpPr>
      <dsp:spPr>
        <a:xfrm rot="5400000">
          <a:off x="5709268" y="-952413"/>
          <a:ext cx="1017301" cy="5852159"/>
        </a:xfrm>
        <a:prstGeom prst="round2SameRect">
          <a:avLst/>
        </a:prstGeom>
        <a:solidFill>
          <a:schemeClr val="accent2">
            <a:tint val="40000"/>
            <a:alpha val="90000"/>
            <a:hueOff val="1675274"/>
            <a:satOff val="-1459"/>
            <a:lumOff val="-2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1675274"/>
              <a:satOff val="-1459"/>
              <a:lumOff val="-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600" kern="1200"/>
            <a:t>db.students.find({ status: "active" })</a:t>
          </a:r>
          <a:endParaRPr lang="en-US" sz="1600" kern="1200"/>
        </a:p>
      </dsp:txBody>
      <dsp:txXfrm rot="-5400000">
        <a:off x="3291840" y="1514676"/>
        <a:ext cx="5802498" cy="917979"/>
      </dsp:txXfrm>
    </dsp:sp>
    <dsp:sp modelId="{4175ABD1-6927-4E8E-A9F4-15D46B5C31D6}">
      <dsp:nvSpPr>
        <dsp:cNvPr id="0" name=""/>
        <dsp:cNvSpPr/>
      </dsp:nvSpPr>
      <dsp:spPr>
        <a:xfrm>
          <a:off x="0" y="1337852"/>
          <a:ext cx="3291839" cy="1271627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/>
            <a:t>Retrieve documents by </a:t>
          </a:r>
          <a:r>
            <a:rPr lang="pt-BR" sz="1600" b="1" kern="1200"/>
            <a:t>one field</a:t>
          </a:r>
          <a:r>
            <a:rPr lang="pt-BR" sz="1600" kern="1200"/>
            <a:t>: </a:t>
          </a:r>
          <a:endParaRPr lang="en-US" sz="1600" kern="1200"/>
        </a:p>
      </dsp:txBody>
      <dsp:txXfrm>
        <a:off x="62076" y="1399928"/>
        <a:ext cx="3167687" cy="1147475"/>
      </dsp:txXfrm>
    </dsp:sp>
    <dsp:sp modelId="{855D454C-4134-44A5-ADB2-ABF653527FEB}">
      <dsp:nvSpPr>
        <dsp:cNvPr id="0" name=""/>
        <dsp:cNvSpPr/>
      </dsp:nvSpPr>
      <dsp:spPr>
        <a:xfrm rot="5400000">
          <a:off x="5709268" y="382794"/>
          <a:ext cx="1017301" cy="5852159"/>
        </a:xfrm>
        <a:prstGeom prst="round2SameRect">
          <a:avLst/>
        </a:prstGeom>
        <a:solidFill>
          <a:schemeClr val="accent2">
            <a:tint val="40000"/>
            <a:alpha val="90000"/>
            <a:hueOff val="3350547"/>
            <a:satOff val="-2919"/>
            <a:lumOff val="-4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3350547"/>
              <a:satOff val="-2919"/>
              <a:lumOff val="-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600" kern="1200"/>
            <a:t>db.students.find({ status: "active", age: 20 })</a:t>
          </a:r>
          <a:endParaRPr lang="en-US" sz="1600" kern="1200"/>
        </a:p>
      </dsp:txBody>
      <dsp:txXfrm rot="-5400000">
        <a:off x="3291840" y="2849884"/>
        <a:ext cx="5802498" cy="917979"/>
      </dsp:txXfrm>
    </dsp:sp>
    <dsp:sp modelId="{90409245-D2AF-46D4-B369-39F10DF4E9DC}">
      <dsp:nvSpPr>
        <dsp:cNvPr id="0" name=""/>
        <dsp:cNvSpPr/>
      </dsp:nvSpPr>
      <dsp:spPr>
        <a:xfrm>
          <a:off x="0" y="2673060"/>
          <a:ext cx="3291839" cy="1271627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 err="1"/>
            <a:t>Retrieve</a:t>
          </a:r>
          <a:r>
            <a:rPr lang="pt-BR" sz="1600" kern="1200" dirty="0"/>
            <a:t> </a:t>
          </a:r>
          <a:r>
            <a:rPr lang="pt-BR" sz="1600" kern="1200" dirty="0" err="1"/>
            <a:t>documents</a:t>
          </a:r>
          <a:r>
            <a:rPr lang="pt-BR" sz="1600" kern="1200" dirty="0"/>
            <a:t> </a:t>
          </a:r>
          <a:r>
            <a:rPr lang="pt-BR" sz="1600" kern="1200" dirty="0" err="1"/>
            <a:t>by</a:t>
          </a:r>
          <a:r>
            <a:rPr lang="pt-BR" sz="1600" kern="1200" dirty="0"/>
            <a:t> </a:t>
          </a:r>
          <a:r>
            <a:rPr lang="pt-BR" sz="1600" b="1" kern="1200" dirty="0" err="1"/>
            <a:t>multiple</a:t>
          </a:r>
          <a:r>
            <a:rPr lang="pt-BR" sz="1600" b="1" kern="1200" dirty="0"/>
            <a:t> </a:t>
          </a:r>
          <a:r>
            <a:rPr lang="pt-BR" sz="1600" b="1" kern="1200" dirty="0" err="1"/>
            <a:t>fields</a:t>
          </a:r>
          <a:r>
            <a:rPr lang="pt-BR" sz="1600" kern="1200" dirty="0"/>
            <a:t>: </a:t>
          </a:r>
          <a:endParaRPr lang="en-US" sz="1600" kern="1200" dirty="0"/>
        </a:p>
      </dsp:txBody>
      <dsp:txXfrm>
        <a:off x="62076" y="2735136"/>
        <a:ext cx="3167687" cy="1147475"/>
      </dsp:txXfrm>
    </dsp:sp>
    <dsp:sp modelId="{2E308116-D881-4773-AABA-5B0DBD857192}">
      <dsp:nvSpPr>
        <dsp:cNvPr id="0" name=""/>
        <dsp:cNvSpPr/>
      </dsp:nvSpPr>
      <dsp:spPr>
        <a:xfrm rot="5400000">
          <a:off x="5709268" y="1718002"/>
          <a:ext cx="1017301" cy="5852159"/>
        </a:xfrm>
        <a:prstGeom prst="round2SameRect">
          <a:avLst/>
        </a:prstGeom>
        <a:solidFill>
          <a:schemeClr val="accent2">
            <a:tint val="40000"/>
            <a:alpha val="90000"/>
            <a:hueOff val="5025821"/>
            <a:satOff val="-4378"/>
            <a:lumOff val="-6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5025821"/>
              <a:satOff val="-4378"/>
              <a:lumOff val="-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600" kern="1200"/>
            <a:t>db.students.find({}, { full_name: 1, _id: 0 })</a:t>
          </a:r>
          <a:endParaRPr lang="en-US" sz="1600" kern="1200"/>
        </a:p>
      </dsp:txBody>
      <dsp:txXfrm rot="-5400000">
        <a:off x="3291840" y="4185092"/>
        <a:ext cx="5802498" cy="917979"/>
      </dsp:txXfrm>
    </dsp:sp>
    <dsp:sp modelId="{442B1865-149A-4F62-9FEC-ECAE67D43C29}">
      <dsp:nvSpPr>
        <dsp:cNvPr id="0" name=""/>
        <dsp:cNvSpPr/>
      </dsp:nvSpPr>
      <dsp:spPr>
        <a:xfrm>
          <a:off x="0" y="4008269"/>
          <a:ext cx="3291839" cy="1271627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/>
            <a:t>Return only </a:t>
          </a:r>
          <a:r>
            <a:rPr lang="pt-BR" sz="1600" b="1" kern="1200"/>
            <a:t>specific fields</a:t>
          </a:r>
          <a:r>
            <a:rPr lang="pt-BR" sz="1600" kern="1200"/>
            <a:t>: </a:t>
          </a:r>
          <a:endParaRPr lang="en-US" sz="1600" kern="1200"/>
        </a:p>
      </dsp:txBody>
      <dsp:txXfrm>
        <a:off x="62076" y="4070345"/>
        <a:ext cx="3167687" cy="11474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35EDA3-3283-4C62-BF5F-97F1A4EEA84E}">
      <dsp:nvSpPr>
        <dsp:cNvPr id="0" name=""/>
        <dsp:cNvSpPr/>
      </dsp:nvSpPr>
      <dsp:spPr>
        <a:xfrm>
          <a:off x="0" y="54331"/>
          <a:ext cx="5000124" cy="1286634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• Create a project directory – name it however you like it or </a:t>
          </a:r>
          <a:r>
            <a:rPr lang="en-US" sz="2300" kern="1200" dirty="0" err="1"/>
            <a:t>prj</a:t>
          </a:r>
          <a:endParaRPr lang="en-US" sz="2300" kern="1200" dirty="0"/>
        </a:p>
      </dsp:txBody>
      <dsp:txXfrm>
        <a:off x="62808" y="117139"/>
        <a:ext cx="4874508" cy="1161018"/>
      </dsp:txXfrm>
    </dsp:sp>
    <dsp:sp modelId="{C40FBAD5-80A8-48CC-81A6-62B5DEA8E6D0}">
      <dsp:nvSpPr>
        <dsp:cNvPr id="0" name=""/>
        <dsp:cNvSpPr/>
      </dsp:nvSpPr>
      <dsp:spPr>
        <a:xfrm>
          <a:off x="0" y="1407205"/>
          <a:ext cx="5000124" cy="1286634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• Create directory named </a:t>
          </a:r>
          <a:r>
            <a:rPr lang="en-US" sz="2300" kern="1200" dirty="0" err="1"/>
            <a:t>rsc</a:t>
          </a:r>
          <a:endParaRPr lang="en-US" sz="2300" kern="1200" dirty="0"/>
        </a:p>
      </dsp:txBody>
      <dsp:txXfrm>
        <a:off x="62808" y="1470013"/>
        <a:ext cx="4874508" cy="1161018"/>
      </dsp:txXfrm>
    </dsp:sp>
    <dsp:sp modelId="{109C760C-4377-41C2-9428-41307DF3B8F7}">
      <dsp:nvSpPr>
        <dsp:cNvPr id="0" name=""/>
        <dsp:cNvSpPr/>
      </dsp:nvSpPr>
      <dsp:spPr>
        <a:xfrm>
          <a:off x="0" y="2760080"/>
          <a:ext cx="5000124" cy="1286634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• Inside project, docker-</a:t>
          </a:r>
          <a:r>
            <a:rPr lang="en-US" sz="2300" kern="1200" dirty="0" err="1"/>
            <a:t>compose.yml</a:t>
          </a:r>
          <a:r>
            <a:rPr lang="en-US" sz="2300" kern="1200" dirty="0"/>
            <a:t> stays at the root and init.js stays inside </a:t>
          </a:r>
          <a:r>
            <a:rPr lang="en-US" sz="2300" kern="1200" dirty="0" err="1"/>
            <a:t>rsc</a:t>
          </a:r>
          <a:r>
            <a:rPr lang="en-US" sz="2300" kern="1200" dirty="0"/>
            <a:t>.</a:t>
          </a:r>
        </a:p>
      </dsp:txBody>
      <dsp:txXfrm>
        <a:off x="62808" y="2822888"/>
        <a:ext cx="4874508" cy="1161018"/>
      </dsp:txXfrm>
    </dsp:sp>
    <dsp:sp modelId="{AD6A6431-1AC6-4AE1-9B98-17B1553F178E}">
      <dsp:nvSpPr>
        <dsp:cNvPr id="0" name=""/>
        <dsp:cNvSpPr/>
      </dsp:nvSpPr>
      <dsp:spPr>
        <a:xfrm>
          <a:off x="0" y="4112954"/>
          <a:ext cx="5000124" cy="1286634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This practice follows the same workflow used before with PostgreSQL, but now using MongoDB.</a:t>
          </a:r>
        </a:p>
      </dsp:txBody>
      <dsp:txXfrm>
        <a:off x="62808" y="4175762"/>
        <a:ext cx="4874508" cy="116101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8E793C-B0F9-4685-B26C-1A88B458B629}">
      <dsp:nvSpPr>
        <dsp:cNvPr id="0" name=""/>
        <dsp:cNvSpPr/>
      </dsp:nvSpPr>
      <dsp:spPr>
        <a:xfrm>
          <a:off x="0" y="681330"/>
          <a:ext cx="8195871" cy="125784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B12E23-F2BA-4B1D-A32C-FF6D2AB479BC}">
      <dsp:nvSpPr>
        <dsp:cNvPr id="0" name=""/>
        <dsp:cNvSpPr/>
      </dsp:nvSpPr>
      <dsp:spPr>
        <a:xfrm>
          <a:off x="380497" y="964345"/>
          <a:ext cx="691812" cy="69181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621DE8-9ABA-4295-A736-099699E3C9FF}">
      <dsp:nvSpPr>
        <dsp:cNvPr id="0" name=""/>
        <dsp:cNvSpPr/>
      </dsp:nvSpPr>
      <dsp:spPr>
        <a:xfrm>
          <a:off x="1452806" y="681330"/>
          <a:ext cx="6743064" cy="12578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122" tIns="133122" rIns="133122" bIns="13312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500" kern="1200"/>
            <a:t>• prj/docker-compose.yml</a:t>
          </a:r>
          <a:endParaRPr lang="en-US" sz="2500" kern="1200"/>
        </a:p>
      </dsp:txBody>
      <dsp:txXfrm>
        <a:off x="1452806" y="681330"/>
        <a:ext cx="6743064" cy="1257841"/>
      </dsp:txXfrm>
    </dsp:sp>
    <dsp:sp modelId="{E0E456E5-F8B3-4847-BBBB-15794991809A}">
      <dsp:nvSpPr>
        <dsp:cNvPr id="0" name=""/>
        <dsp:cNvSpPr/>
      </dsp:nvSpPr>
      <dsp:spPr>
        <a:xfrm>
          <a:off x="0" y="2253632"/>
          <a:ext cx="8195871" cy="125784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85D5DD-37D2-4BA6-A5E8-D6B06CAD6163}">
      <dsp:nvSpPr>
        <dsp:cNvPr id="0" name=""/>
        <dsp:cNvSpPr/>
      </dsp:nvSpPr>
      <dsp:spPr>
        <a:xfrm>
          <a:off x="380497" y="2536647"/>
          <a:ext cx="691812" cy="69181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9AFA9F-53CB-4845-9904-C920F27E831F}">
      <dsp:nvSpPr>
        <dsp:cNvPr id="0" name=""/>
        <dsp:cNvSpPr/>
      </dsp:nvSpPr>
      <dsp:spPr>
        <a:xfrm>
          <a:off x="1452806" y="2253632"/>
          <a:ext cx="6743064" cy="12578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122" tIns="133122" rIns="133122" bIns="13312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500" kern="1200"/>
            <a:t>• prj/rsc/init.js</a:t>
          </a:r>
          <a:endParaRPr lang="en-US" sz="2500" kern="1200"/>
        </a:p>
      </dsp:txBody>
      <dsp:txXfrm>
        <a:off x="1452806" y="2253632"/>
        <a:ext cx="6743064" cy="125784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597E59-0961-4C65-BCB2-E4EA17E4B704}">
      <dsp:nvSpPr>
        <dsp:cNvPr id="0" name=""/>
        <dsp:cNvSpPr/>
      </dsp:nvSpPr>
      <dsp:spPr>
        <a:xfrm>
          <a:off x="0" y="0"/>
          <a:ext cx="6412858" cy="143044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MongoDB </a:t>
          </a:r>
          <a:r>
            <a:rPr lang="en-US" sz="2400" kern="1200" dirty="0"/>
            <a:t>uses</a:t>
          </a:r>
          <a:r>
            <a:rPr lang="en-US" sz="2700" kern="1200" dirty="0"/>
            <a:t> a JavaScript initialization file instead of </a:t>
          </a:r>
          <a:r>
            <a:rPr lang="en-US" sz="2700" kern="1200" dirty="0" err="1"/>
            <a:t>init.sql</a:t>
          </a:r>
          <a:r>
            <a:rPr lang="en-US" sz="2700" kern="1200" dirty="0"/>
            <a:t>.</a:t>
          </a:r>
        </a:p>
      </dsp:txBody>
      <dsp:txXfrm>
        <a:off x="41896" y="41896"/>
        <a:ext cx="4934383" cy="1346651"/>
      </dsp:txXfrm>
    </dsp:sp>
    <dsp:sp modelId="{6F540759-EEBD-4820-874C-5B8733F4BA44}">
      <dsp:nvSpPr>
        <dsp:cNvPr id="0" name=""/>
        <dsp:cNvSpPr/>
      </dsp:nvSpPr>
      <dsp:spPr>
        <a:xfrm>
          <a:off x="882541" y="1748320"/>
          <a:ext cx="6412858" cy="1430443"/>
        </a:xfrm>
        <a:prstGeom prst="roundRect">
          <a:avLst>
            <a:gd name="adj" fmla="val 10000"/>
          </a:avLst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Inspect it – what is being done?</a:t>
          </a:r>
        </a:p>
      </dsp:txBody>
      <dsp:txXfrm>
        <a:off x="924437" y="1790216"/>
        <a:ext cx="4267596" cy="1346651"/>
      </dsp:txXfrm>
    </dsp:sp>
    <dsp:sp modelId="{D1AF40D4-DE03-4F2C-8586-2A24C82439CB}">
      <dsp:nvSpPr>
        <dsp:cNvPr id="0" name=""/>
        <dsp:cNvSpPr/>
      </dsp:nvSpPr>
      <dsp:spPr>
        <a:xfrm>
          <a:off x="5483069" y="1124487"/>
          <a:ext cx="929788" cy="929788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5692271" y="1124487"/>
        <a:ext cx="511384" cy="6996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ítulo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31A694-0DE1-4903-855C-E603DA625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99CB2D1-5F2E-F00E-162C-B23D5259EC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9360120-D031-5793-E487-BE8F95AB0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F4EA3EC-6935-7CB9-54AE-A815A91CB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F24BA51-8D9F-B8CE-61DD-04E2CE41F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483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gvp" TargetMode="External"/><Relationship Id="rId2" Type="http://schemas.openxmlformats.org/officeDocument/2006/relationships/hyperlink" Target="mailto:p7392@ulusofona.p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ngodb.com/docs/manual/reference/method/db.collection.findOne/" TargetMode="External"/><Relationship Id="rId7" Type="http://schemas.openxmlformats.org/officeDocument/2006/relationships/hyperlink" Target="https://pymongo.readthedocs.io/en/stable/" TargetMode="External"/><Relationship Id="rId2" Type="http://schemas.openxmlformats.org/officeDocument/2006/relationships/hyperlink" Target="https://www.mongodb.com/docs/manual/reference/method/db.collection.find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ongodb.com/docs/manual/reference/method/db.collection.updateOne/" TargetMode="External"/><Relationship Id="rId5" Type="http://schemas.openxmlformats.org/officeDocument/2006/relationships/hyperlink" Target="https://www.mongodb.com/docs/manual/reference/method/db.collection.update/" TargetMode="External"/><Relationship Id="rId4" Type="http://schemas.openxmlformats.org/officeDocument/2006/relationships/hyperlink" Target="https://www.mongodb.com/docs/manual/reference/method/db.collection.aggregate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-22693"/>
            <a:ext cx="9143998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384720" y="-2407841"/>
            <a:ext cx="4374557" cy="9144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55756" y="-2236808"/>
            <a:ext cx="4374128" cy="880235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-22690"/>
            <a:ext cx="6406863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4459073" y="-1032053"/>
            <a:ext cx="3742610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35314EC-3866-C16D-AABF-509E855EA7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6118" y="735106"/>
            <a:ext cx="7540322" cy="2928470"/>
          </a:xfrm>
        </p:spPr>
        <p:txBody>
          <a:bodyPr anchor="b">
            <a:normAutofit/>
          </a:bodyPr>
          <a:lstStyle/>
          <a:p>
            <a:pPr algn="l"/>
            <a:r>
              <a:rPr lang="pt-PT" sz="4200">
                <a:solidFill>
                  <a:srgbClr val="FFFFFF"/>
                </a:solidFill>
              </a:rPr>
              <a:t>Fundamentals in Data Engineering</a:t>
            </a:r>
            <a:endParaRPr lang="pt-BR" sz="4200">
              <a:solidFill>
                <a:srgbClr val="FFFFFF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6368529-A030-BD38-C8C9-50A22C8AEC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3011" y="4870824"/>
            <a:ext cx="7504463" cy="1458258"/>
          </a:xfrm>
        </p:spPr>
        <p:txBody>
          <a:bodyPr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pt-PT" sz="2700" b="1"/>
              <a:t>Thiago de Paiva</a:t>
            </a:r>
          </a:p>
          <a:p>
            <a:pPr algn="l">
              <a:lnSpc>
                <a:spcPct val="90000"/>
              </a:lnSpc>
            </a:pPr>
            <a:r>
              <a:rPr lang="pt-PT" sz="2700" b="1">
                <a:hlinkClick r:id="rId2"/>
              </a:rPr>
              <a:t>p7392@ulusofona.pt</a:t>
            </a:r>
            <a:endParaRPr lang="pt-PT" sz="2700" b="1"/>
          </a:p>
          <a:p>
            <a:pPr algn="l">
              <a:lnSpc>
                <a:spcPct val="90000"/>
              </a:lnSpc>
            </a:pPr>
            <a:r>
              <a:rPr lang="pt-PT" sz="2700" b="1">
                <a:hlinkClick r:id="rId3"/>
              </a:rPr>
              <a:t>https://github.com/tgvp</a:t>
            </a:r>
            <a:endParaRPr lang="pt-BR" sz="2700" b="1"/>
          </a:p>
        </p:txBody>
      </p:sp>
    </p:spTree>
    <p:extLst>
      <p:ext uri="{BB962C8B-B14F-4D97-AF65-F5344CB8AC3E}">
        <p14:creationId xmlns:p14="http://schemas.microsoft.com/office/powerpoint/2010/main" val="2786318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336136" y="1336710"/>
            <a:ext cx="6858000" cy="418458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88181" y="1092216"/>
            <a:ext cx="6346209" cy="418206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33933" y="3515977"/>
            <a:ext cx="2501979" cy="418206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76002" y="1496845"/>
            <a:ext cx="6858001" cy="386430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74277" y="1668285"/>
            <a:ext cx="4318303" cy="3238727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797" y="586855"/>
            <a:ext cx="3172575" cy="3387497"/>
          </a:xfrm>
        </p:spPr>
        <p:txBody>
          <a:bodyPr anchor="b">
            <a:normAutofit/>
          </a:bodyPr>
          <a:lstStyle/>
          <a:p>
            <a:r>
              <a:rPr lang="pt-PT" sz="3500" dirty="0" err="1">
                <a:solidFill>
                  <a:srgbClr val="FFFFFF"/>
                </a:solidFill>
              </a:rPr>
              <a:t>NoSQL</a:t>
            </a:r>
            <a:endParaRPr lang="pt-PT" sz="3500" dirty="0">
              <a:solidFill>
                <a:srgbClr val="FFFFFF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75954" y="0"/>
            <a:ext cx="4967472" cy="6847859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400" dirty="0"/>
              <a:t>Foundations for NoSQL databases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9828C7-89AF-A8CE-255B-EF4A94D59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188390-8693-2C0B-5D38-08462F8F6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9BA773-190E-A221-4C6B-A00E7E0B14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98AB6B-BE0F-6C62-2434-A7BAE1688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27FBC0-B657-A8BF-E4CF-921F7A1D4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7D90C1-BD3C-8EB5-5103-F684F2CDD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PT" sz="3500" dirty="0">
                <a:solidFill>
                  <a:srgbClr val="FFFFFF"/>
                </a:solidFill>
              </a:rPr>
              <a:t>W</a:t>
            </a:r>
            <a:r>
              <a:rPr lang="pt-BR" sz="3500" dirty="0" err="1">
                <a:solidFill>
                  <a:srgbClr val="FFFFFF"/>
                </a:solidFill>
              </a:rPr>
              <a:t>hy</a:t>
            </a:r>
            <a:r>
              <a:rPr lang="pt-BR" sz="3500" dirty="0">
                <a:solidFill>
                  <a:srgbClr val="FFFFFF"/>
                </a:solidFill>
              </a:rPr>
              <a:t> </a:t>
            </a:r>
            <a:r>
              <a:rPr lang="pt-BR" sz="3500" dirty="0" err="1">
                <a:solidFill>
                  <a:srgbClr val="FFFFFF"/>
                </a:solidFill>
              </a:rPr>
              <a:t>not</a:t>
            </a:r>
            <a:r>
              <a:rPr lang="pt-BR" sz="3500" dirty="0">
                <a:solidFill>
                  <a:srgbClr val="FFFFFF"/>
                </a:solidFill>
              </a:rPr>
              <a:t> use </a:t>
            </a:r>
            <a:r>
              <a:rPr lang="pt-BR" sz="3500" dirty="0" err="1">
                <a:solidFill>
                  <a:srgbClr val="FFFFFF"/>
                </a:solidFill>
              </a:rPr>
              <a:t>semi-structured</a:t>
            </a:r>
            <a:r>
              <a:rPr lang="pt-BR" sz="3500" dirty="0">
                <a:solidFill>
                  <a:srgbClr val="FFFFFF"/>
                </a:solidFill>
              </a:rPr>
              <a:t> data?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C89500C-9890-EDDC-7560-98F5A2CBA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321" y="2829515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Semi-structured models existed even before structured models.</a:t>
            </a:r>
          </a:p>
          <a:p>
            <a:r>
              <a:rPr lang="en-US" dirty="0"/>
              <a:t>However, </a:t>
            </a:r>
            <a:r>
              <a:rPr lang="en-US" b="1" dirty="0"/>
              <a:t>relational databases eventually “won” in the long term.</a:t>
            </a:r>
          </a:p>
          <a:p>
            <a:endParaRPr lang="pt-PT" dirty="0"/>
          </a:p>
          <a:p>
            <a:endParaRPr lang="pt-PT" dirty="0"/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864516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662A9C-CFE5-015C-3FA8-C27C885F7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2960D4F-CD3D-9C21-B6AA-AAC771D601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E4A42B-EFC7-D5C3-F472-D261042A4F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B06810-0E1E-AF1C-5A45-BBEDE45DC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99800E-4F0F-5945-2285-54C9874502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6E637-B089-0B0D-6323-A00978D60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PT" sz="3500" dirty="0">
                <a:solidFill>
                  <a:srgbClr val="FFFFFF"/>
                </a:solidFill>
              </a:rPr>
              <a:t>W</a:t>
            </a:r>
            <a:r>
              <a:rPr lang="pt-BR" sz="3500" dirty="0" err="1">
                <a:solidFill>
                  <a:srgbClr val="FFFFFF"/>
                </a:solidFill>
              </a:rPr>
              <a:t>hy</a:t>
            </a:r>
            <a:r>
              <a:rPr lang="pt-BR" sz="3500" dirty="0">
                <a:solidFill>
                  <a:srgbClr val="FFFFFF"/>
                </a:solidFill>
              </a:rPr>
              <a:t> </a:t>
            </a:r>
            <a:r>
              <a:rPr lang="pt-BR" sz="3500" dirty="0" err="1">
                <a:solidFill>
                  <a:srgbClr val="FFFFFF"/>
                </a:solidFill>
              </a:rPr>
              <a:t>not</a:t>
            </a:r>
            <a:r>
              <a:rPr lang="pt-BR" sz="3500" dirty="0">
                <a:solidFill>
                  <a:srgbClr val="FFFFFF"/>
                </a:solidFill>
              </a:rPr>
              <a:t> use </a:t>
            </a:r>
            <a:r>
              <a:rPr lang="pt-BR" sz="3500" dirty="0" err="1">
                <a:solidFill>
                  <a:srgbClr val="FFFFFF"/>
                </a:solidFill>
              </a:rPr>
              <a:t>semi-structured</a:t>
            </a:r>
            <a:r>
              <a:rPr lang="pt-BR" sz="3500" dirty="0">
                <a:solidFill>
                  <a:srgbClr val="FFFFFF"/>
                </a:solidFill>
              </a:rPr>
              <a:t> data?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71943D3-FA15-EB16-E181-73217C068E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24820"/>
            <a:ext cx="8229600" cy="4525963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Complex navigation of nested structures</a:t>
            </a:r>
            <a:endParaRPr lang="en-US" dirty="0"/>
          </a:p>
          <a:p>
            <a:pPr lvl="1"/>
            <a:r>
              <a:rPr lang="en-US" dirty="0"/>
              <a:t>Queries often require traversing multiple levels of hierarchy</a:t>
            </a:r>
          </a:p>
          <a:p>
            <a:pPr lvl="1"/>
            <a:r>
              <a:rPr lang="en-US" dirty="0"/>
              <a:t>Example: navigating a movie → cast → actor information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b="1" dirty="0"/>
              <a:t>Mixing logical and physical data organization</a:t>
            </a:r>
            <a:endParaRPr lang="en-US" dirty="0"/>
          </a:p>
          <a:p>
            <a:pPr lvl="1"/>
            <a:r>
              <a:rPr lang="en-US" dirty="0"/>
              <a:t>In relational databases, the </a:t>
            </a:r>
            <a:r>
              <a:rPr lang="en-US" b="1" dirty="0"/>
              <a:t>logical schema is independent of how data is stored on disk</a:t>
            </a:r>
            <a:endParaRPr lang="en-US" dirty="0"/>
          </a:p>
          <a:p>
            <a:pPr lvl="1"/>
            <a:r>
              <a:rPr lang="en-US" dirty="0"/>
              <a:t>This allows the database system to </a:t>
            </a:r>
            <a:r>
              <a:rPr lang="en-US" b="1" dirty="0"/>
              <a:t>optimize storage and queries</a:t>
            </a:r>
            <a:endParaRPr lang="en-US" dirty="0"/>
          </a:p>
          <a:p>
            <a:pPr lvl="1"/>
            <a:r>
              <a:rPr lang="en-US" dirty="0"/>
              <a:t>In nested models, the structure of the data is tightly coupled with its storage format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b="1" dirty="0"/>
              <a:t>High redundancy</a:t>
            </a:r>
            <a:endParaRPr lang="en-US" dirty="0"/>
          </a:p>
          <a:p>
            <a:pPr lvl="1"/>
            <a:r>
              <a:rPr lang="en-US" dirty="0"/>
              <a:t>The same information may be duplicated across documents</a:t>
            </a:r>
          </a:p>
          <a:p>
            <a:pPr lvl="1"/>
            <a:r>
              <a:rPr lang="en-US" dirty="0"/>
              <a:t>This can lead to </a:t>
            </a:r>
            <a:r>
              <a:rPr lang="en-US" b="1" dirty="0"/>
              <a:t>update and deletion </a:t>
            </a:r>
            <a:r>
              <a:rPr lang="en-US" b="1" dirty="0" err="1"/>
              <a:t>anomalie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6558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FED612-4929-8AEE-64A8-09244F3E9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53D03A8-FA2C-F17C-C254-5FCFD2B6C6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CBB08C-0E05-F271-2F82-B4BDF9F7C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4906FB-BCFE-7097-BC27-0B64C87B67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9340E2-2D68-A4C8-DC92-AAD4E588F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CEB79D-6501-A865-D1E3-0618CA95F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PT" sz="3500" dirty="0">
                <a:solidFill>
                  <a:srgbClr val="FFFFFF"/>
                </a:solidFill>
              </a:rPr>
              <a:t>W</a:t>
            </a:r>
            <a:r>
              <a:rPr lang="pt-BR" sz="3500" dirty="0" err="1">
                <a:solidFill>
                  <a:srgbClr val="FFFFFF"/>
                </a:solidFill>
              </a:rPr>
              <a:t>hy</a:t>
            </a:r>
            <a:r>
              <a:rPr lang="pt-BR" sz="3500" dirty="0">
                <a:solidFill>
                  <a:srgbClr val="FFFFFF"/>
                </a:solidFill>
              </a:rPr>
              <a:t> </a:t>
            </a:r>
            <a:r>
              <a:rPr lang="pt-BR" sz="3500" dirty="0" err="1">
                <a:solidFill>
                  <a:srgbClr val="FFFFFF"/>
                </a:solidFill>
              </a:rPr>
              <a:t>not</a:t>
            </a:r>
            <a:r>
              <a:rPr lang="pt-BR" sz="3500" dirty="0">
                <a:solidFill>
                  <a:srgbClr val="FFFFFF"/>
                </a:solidFill>
              </a:rPr>
              <a:t> use </a:t>
            </a:r>
            <a:r>
              <a:rPr lang="pt-BR" sz="3500" dirty="0" err="1">
                <a:solidFill>
                  <a:srgbClr val="FFFFFF"/>
                </a:solidFill>
              </a:rPr>
              <a:t>semi-structured</a:t>
            </a:r>
            <a:r>
              <a:rPr lang="pt-BR" sz="3500" dirty="0">
                <a:solidFill>
                  <a:srgbClr val="FFFFFF"/>
                </a:solidFill>
              </a:rPr>
              <a:t> data?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574CA50-1455-64D0-A16F-57034FB17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406" y="2506717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Despite these limitations, </a:t>
            </a:r>
            <a:r>
              <a:rPr lang="en-US" b="1" dirty="0"/>
              <a:t>semi-structured data is widely used today</a:t>
            </a:r>
            <a:r>
              <a:rPr lang="en-US" dirty="0"/>
              <a:t>, especially in:</a:t>
            </a:r>
          </a:p>
          <a:p>
            <a:r>
              <a:rPr lang="en-US" b="1" dirty="0"/>
              <a:t>Data ingestion pipelines</a:t>
            </a:r>
            <a:endParaRPr lang="en-US" dirty="0"/>
          </a:p>
          <a:p>
            <a:r>
              <a:rPr lang="en-US" b="1" dirty="0"/>
              <a:t>Data lakes and </a:t>
            </a:r>
            <a:r>
              <a:rPr lang="en-US" b="1" dirty="0" err="1"/>
              <a:t>lakehouses</a:t>
            </a:r>
            <a:endParaRPr lang="en-US" dirty="0"/>
          </a:p>
          <a:p>
            <a:r>
              <a:rPr lang="en-US" b="1" dirty="0"/>
              <a:t>APIs and web data</a:t>
            </a:r>
            <a:endParaRPr lang="en-US" dirty="0"/>
          </a:p>
          <a:p>
            <a:r>
              <a:rPr lang="en-US" b="1" dirty="0"/>
              <a:t>NoSQL systems such as MongoDB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969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1D7295-EC21-AF27-4CDC-3AA063571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99989D-57DC-ABE9-D024-A9D62AA28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6EFE65-6F35-1298-FEAE-DE11CB42C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390D8A-4B96-751C-0C7A-3AC7C1483A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B31CFB-7818-D191-7A59-85AF0A577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5C64CB-4994-9A25-2FFB-A9A922190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PT" sz="3500" dirty="0">
                <a:solidFill>
                  <a:srgbClr val="FFFFFF"/>
                </a:solidFill>
              </a:rPr>
              <a:t>W</a:t>
            </a:r>
            <a:r>
              <a:rPr lang="pt-BR" sz="3500" dirty="0" err="1">
                <a:solidFill>
                  <a:srgbClr val="FFFFFF"/>
                </a:solidFill>
              </a:rPr>
              <a:t>hy</a:t>
            </a:r>
            <a:r>
              <a:rPr lang="pt-BR" sz="3500" dirty="0">
                <a:solidFill>
                  <a:srgbClr val="FFFFFF"/>
                </a:solidFill>
              </a:rPr>
              <a:t> </a:t>
            </a:r>
            <a:r>
              <a:rPr lang="pt-BR" sz="3500" dirty="0" err="1">
                <a:solidFill>
                  <a:srgbClr val="FFFFFF"/>
                </a:solidFill>
              </a:rPr>
              <a:t>not</a:t>
            </a:r>
            <a:r>
              <a:rPr lang="pt-BR" sz="3500" dirty="0">
                <a:solidFill>
                  <a:srgbClr val="FFFFFF"/>
                </a:solidFill>
              </a:rPr>
              <a:t> use </a:t>
            </a:r>
            <a:r>
              <a:rPr lang="pt-BR" sz="3500" dirty="0" err="1">
                <a:solidFill>
                  <a:srgbClr val="FFFFFF"/>
                </a:solidFill>
              </a:rPr>
              <a:t>semi-structured</a:t>
            </a:r>
            <a:r>
              <a:rPr lang="pt-BR" sz="3500" dirty="0">
                <a:solidFill>
                  <a:srgbClr val="FFFFFF"/>
                </a:solidFill>
              </a:rPr>
              <a:t> data?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3937FD8-F2FB-BF12-65F8-120136B5C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019" y="1807535"/>
            <a:ext cx="8707987" cy="522514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Relational databases separate </a:t>
            </a:r>
            <a:r>
              <a:rPr lang="en-US" i="1" dirty="0"/>
              <a:t>how data is stored</a:t>
            </a:r>
            <a:r>
              <a:rPr lang="en-US" dirty="0"/>
              <a:t> from </a:t>
            </a:r>
            <a:r>
              <a:rPr lang="en-US" i="1" dirty="0"/>
              <a:t>how we query it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Semi-structured models usually mix both.</a:t>
            </a:r>
            <a:endParaRPr lang="en-US" b="1" dirty="0"/>
          </a:p>
          <a:p>
            <a:endParaRPr lang="en-US" b="1" dirty="0"/>
          </a:p>
          <a:p>
            <a:r>
              <a:rPr lang="en-US" b="1" dirty="0"/>
              <a:t>Further reading:</a:t>
            </a:r>
          </a:p>
          <a:p>
            <a:pPr lvl="1"/>
            <a:r>
              <a:rPr lang="en-US" dirty="0"/>
              <a:t>Bailis, Hellerstein, Stonebraker. </a:t>
            </a:r>
            <a:r>
              <a:rPr lang="en-US" i="1" dirty="0"/>
              <a:t>Red Book / Readings in Database Systems.</a:t>
            </a:r>
            <a:endParaRPr lang="en-US" dirty="0"/>
          </a:p>
          <a:p>
            <a:pPr lvl="1"/>
            <a:r>
              <a:rPr lang="en-US" dirty="0"/>
              <a:t>Hellerstein and Stonebraker. </a:t>
            </a:r>
            <a:r>
              <a:rPr lang="en-US" i="1" dirty="0"/>
              <a:t>What Goes Around Comes Around.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3195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EB5604-ECE5-ABAA-F99B-3EF09B719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E93B18E-E82A-3790-84FC-0A6BFC897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D9E4D9-E1EF-969D-F3BF-CB8F24E13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37BA42-FEA2-2059-96FA-2753568F64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A074DF-8F49-CBD2-08BD-5D906A6F9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8C30A-234B-5FBC-E8C8-D2AF45D97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>
                <a:solidFill>
                  <a:srgbClr val="FFFFFF"/>
                </a:solidFill>
              </a:rPr>
              <a:t>NO-SQL: </a:t>
            </a:r>
            <a:r>
              <a:rPr lang="pt-BR" sz="3500" dirty="0" err="1">
                <a:solidFill>
                  <a:srgbClr val="FFFFFF"/>
                </a:solidFill>
              </a:rPr>
              <a:t>Motivation</a:t>
            </a:r>
            <a:endParaRPr lang="pt-BR" sz="3500" dirty="0">
              <a:solidFill>
                <a:srgbClr val="FFFFFF"/>
              </a:solidFill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18E656D-CBCF-6EA1-2DC8-47AAFB11E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70321"/>
            <a:ext cx="8229600" cy="4525963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NoSQL</a:t>
            </a:r>
            <a:r>
              <a:rPr lang="en-US" dirty="0"/>
              <a:t> is a well-known term for </a:t>
            </a:r>
            <a:r>
              <a:rPr lang="en-US" b="1" dirty="0"/>
              <a:t>document-based data storage</a:t>
            </a:r>
            <a:r>
              <a:rPr lang="en-US" dirty="0"/>
              <a:t>.</a:t>
            </a:r>
          </a:p>
          <a:p>
            <a:r>
              <a:rPr lang="en-US" dirty="0"/>
              <a:t>Ability to store </a:t>
            </a:r>
            <a:r>
              <a:rPr lang="en-US" b="1" dirty="0"/>
              <a:t>semi-structured and structured data</a:t>
            </a:r>
            <a:r>
              <a:rPr lang="en-US" dirty="0"/>
              <a:t>.</a:t>
            </a:r>
          </a:p>
          <a:p>
            <a:r>
              <a:rPr lang="en-US" b="1" dirty="0"/>
              <a:t>Reduced functionality</a:t>
            </a:r>
            <a:r>
              <a:rPr lang="en-US" dirty="0"/>
              <a:t> with a simpler data model.</a:t>
            </a:r>
          </a:p>
          <a:p>
            <a:r>
              <a:rPr lang="en-US" b="1" dirty="0"/>
              <a:t>Restricted queries/updates</a:t>
            </a:r>
            <a:r>
              <a:rPr lang="en-US" dirty="0"/>
              <a:t>, but optimized for </a:t>
            </a:r>
            <a:r>
              <a:rPr lang="en-US" b="1" dirty="0"/>
              <a:t>querying and scaling</a:t>
            </a:r>
            <a:r>
              <a:rPr lang="en-US" dirty="0"/>
              <a:t>.</a:t>
            </a:r>
          </a:p>
          <a:p>
            <a:r>
              <a:rPr lang="en-US" dirty="0"/>
              <a:t>NoSQL emerged in the </a:t>
            </a:r>
            <a:r>
              <a:rPr lang="en-US" b="1" dirty="0"/>
              <a:t>late 2000s</a:t>
            </a:r>
            <a:r>
              <a:rPr lang="en-US" dirty="0"/>
              <a:t> (although related ideas existed since the 1960s).</a:t>
            </a:r>
          </a:p>
          <a:p>
            <a:r>
              <a:rPr lang="en-US" dirty="0"/>
              <a:t>Mainly motivated by the </a:t>
            </a:r>
            <a:r>
              <a:rPr lang="en-US" b="1" dirty="0"/>
              <a:t>boom of Web 2.0 applications</a:t>
            </a:r>
            <a:r>
              <a:rPr lang="en-US" dirty="0"/>
              <a:t>: Facebook, Amazon, etc.</a:t>
            </a:r>
          </a:p>
          <a:p>
            <a:endParaRPr lang="en-US" b="1" dirty="0"/>
          </a:p>
          <a:p>
            <a:r>
              <a:rPr lang="en-US" b="1" dirty="0"/>
              <a:t>Constantly changing data requirements</a:t>
            </a:r>
            <a:endParaRPr lang="en-US" dirty="0"/>
          </a:p>
          <a:p>
            <a:pPr lvl="1"/>
            <a:r>
              <a:rPr lang="en-US" dirty="0"/>
              <a:t>Example: Adding a new attribute to a Facebook profile</a:t>
            </a:r>
          </a:p>
          <a:p>
            <a:pPr lvl="1"/>
            <a:r>
              <a:rPr lang="en-US" dirty="0"/>
              <a:t>Rapid data changes are not compatible with defining the schema in advance, and </a:t>
            </a:r>
            <a:r>
              <a:rPr lang="en-US" b="1" dirty="0"/>
              <a:t>changing the schema can be expensive</a:t>
            </a:r>
            <a:endParaRPr lang="en-US" dirty="0"/>
          </a:p>
          <a:p>
            <a:r>
              <a:rPr lang="en-US" b="1" dirty="0"/>
              <a:t>Data loading compatible with large-scale systems</a:t>
            </a:r>
            <a:endParaRPr lang="en-US" dirty="0"/>
          </a:p>
          <a:p>
            <a:pPr lvl="1"/>
            <a:r>
              <a:rPr lang="en-US" dirty="0"/>
              <a:t>Startups and rapidly growing customer databases worldwide</a:t>
            </a:r>
          </a:p>
          <a:p>
            <a:pPr lvl="1"/>
            <a:r>
              <a:rPr lang="en-US" dirty="0"/>
              <a:t>Example: Ensuring fast access for users both in the EU and in Asia, even while traveling</a:t>
            </a:r>
          </a:p>
          <a:p>
            <a:pPr lvl="1"/>
            <a:r>
              <a:rPr lang="en-US" dirty="0"/>
              <a:t>Example: Guaranteeing write access for each individual customer</a:t>
            </a:r>
          </a:p>
        </p:txBody>
      </p:sp>
    </p:spTree>
    <p:extLst>
      <p:ext uri="{BB962C8B-B14F-4D97-AF65-F5344CB8AC3E}">
        <p14:creationId xmlns:p14="http://schemas.microsoft.com/office/powerpoint/2010/main" val="1125184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50EBB0-A6CE-D1D7-C4AD-D26A0043F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97E7F3F-2E0D-8107-26E3-61E55D1D70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81ACB1-6434-226E-7F0B-6DB176D256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110233-2946-C646-9232-E930F51B7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12A9C2-1D7B-A7EA-F9AE-4A9B06DC4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11714D-AC61-3482-D383-6E20EA03C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>
                <a:solidFill>
                  <a:srgbClr val="FFFFFF"/>
                </a:solidFill>
              </a:rPr>
              <a:t>SQL x </a:t>
            </a:r>
            <a:r>
              <a:rPr lang="pt-BR" sz="3500" dirty="0" err="1">
                <a:solidFill>
                  <a:srgbClr val="FFFFFF"/>
                </a:solidFill>
              </a:rPr>
              <a:t>NoSQL</a:t>
            </a:r>
            <a:r>
              <a:rPr lang="pt-BR" sz="3500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24C509-679A-F108-20F9-E74D1A10B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70321"/>
            <a:ext cx="822960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goal is to build a service for </a:t>
            </a:r>
            <a:r>
              <a:rPr lang="en-US" b="1" dirty="0"/>
              <a:t>tens of millions of Amazon customers</a:t>
            </a:r>
            <a:r>
              <a:rPr lang="en-US" dirty="0"/>
              <a:t> that stores the </a:t>
            </a:r>
            <a:r>
              <a:rPr lang="en-US" b="1" dirty="0"/>
              <a:t>last 100 products viewed by each user</a:t>
            </a:r>
            <a:r>
              <a:rPr lang="en-US" dirty="0"/>
              <a:t>.</a:t>
            </a:r>
          </a:p>
          <a:p>
            <a:r>
              <a:rPr lang="en-US" dirty="0"/>
              <a:t>The stored data depends on each customer and will be used for </a:t>
            </a:r>
            <a:r>
              <a:rPr lang="en-US" b="1" dirty="0"/>
              <a:t>targeted advertising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It is acceptable if the data becomes </a:t>
            </a:r>
            <a:r>
              <a:rPr lang="en-US" b="1" dirty="0"/>
              <a:t>slightly outdated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4243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8900AD-C4F3-AB9C-BA46-C90F33FE5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B2B64DE-1420-080F-5848-0306217854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D02940-C8A9-4708-486F-39017766FF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BF076C-40D9-DCED-D921-94E200C8C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C8570A-8135-83EC-E98C-44622A496A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8DF701-F6B8-5C6E-82CB-2099E1C0B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>
                <a:solidFill>
                  <a:srgbClr val="FFFFFF"/>
                </a:solidFill>
              </a:rPr>
              <a:t>SQL x </a:t>
            </a:r>
            <a:r>
              <a:rPr lang="pt-BR" sz="3500" dirty="0" err="1">
                <a:solidFill>
                  <a:srgbClr val="FFFFFF"/>
                </a:solidFill>
              </a:rPr>
              <a:t>NoSQL</a:t>
            </a:r>
            <a:r>
              <a:rPr lang="pt-BR" sz="3500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8BFA397-6768-198D-FF83-8657A356B5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506717"/>
            <a:ext cx="8229600" cy="4525963"/>
          </a:xfrm>
        </p:spPr>
        <p:txBody>
          <a:bodyPr>
            <a:normAutofit/>
          </a:bodyPr>
          <a:lstStyle/>
          <a:p>
            <a:r>
              <a:rPr lang="en-US" b="1" dirty="0"/>
              <a:t>Recommended choice: NoSQL</a:t>
            </a:r>
            <a:endParaRPr lang="en-US" dirty="0"/>
          </a:p>
          <a:p>
            <a:r>
              <a:rPr lang="en-US" dirty="0"/>
              <a:t>Reason:</a:t>
            </a:r>
          </a:p>
          <a:p>
            <a:pPr lvl="1"/>
            <a:r>
              <a:rPr lang="en-US" dirty="0"/>
              <a:t>High scalability</a:t>
            </a:r>
          </a:p>
          <a:p>
            <a:pPr lvl="1"/>
            <a:r>
              <a:rPr lang="en-US" dirty="0"/>
              <a:t>Simple data model</a:t>
            </a:r>
          </a:p>
          <a:p>
            <a:pPr lvl="1"/>
            <a:r>
              <a:rPr lang="en-US" dirty="0"/>
              <a:t>Eventual consistency is acceptable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19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BD523C-6BA5-0B60-F133-54863A405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0C0DB12-2388-230D-F065-98807167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804A2F-C160-1CA4-F65E-6A8BEC50F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A30805-975F-9CCE-6D5D-7C85007BD5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662ABC-BCD7-8E36-9A93-90FC554F6F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6AF20A-609F-7884-6697-7F89438DC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>
                <a:solidFill>
                  <a:srgbClr val="FFFFFF"/>
                </a:solidFill>
              </a:rPr>
              <a:t>SQL x </a:t>
            </a:r>
            <a:r>
              <a:rPr lang="pt-BR" sz="3500" dirty="0" err="1">
                <a:solidFill>
                  <a:srgbClr val="FFFFFF"/>
                </a:solidFill>
              </a:rPr>
              <a:t>NoSQL</a:t>
            </a:r>
            <a:r>
              <a:rPr lang="pt-BR" sz="3500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ED5DEDB-3CE2-A000-560A-5D93AD35C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36866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The goal is to build a </a:t>
            </a:r>
            <a:r>
              <a:rPr lang="en-US" b="1" dirty="0"/>
              <a:t>PayPal loan service</a:t>
            </a:r>
            <a:r>
              <a:rPr lang="en-US" dirty="0"/>
              <a:t> that allows users to apply for loans through the application.</a:t>
            </a:r>
          </a:p>
          <a:p>
            <a:r>
              <a:rPr lang="en-US" dirty="0"/>
              <a:t>The system must store:</a:t>
            </a:r>
          </a:p>
          <a:p>
            <a:pPr lvl="1"/>
            <a:r>
              <a:rPr lang="en-US" dirty="0"/>
              <a:t>loan requests</a:t>
            </a:r>
          </a:p>
          <a:p>
            <a:pPr lvl="1"/>
            <a:r>
              <a:rPr lang="en-US" dirty="0"/>
              <a:t>current user balance</a:t>
            </a:r>
          </a:p>
          <a:p>
            <a:pPr lvl="1"/>
            <a:r>
              <a:rPr lang="en-US" dirty="0"/>
              <a:t>transaction history</a:t>
            </a:r>
          </a:p>
        </p:txBody>
      </p:sp>
    </p:spTree>
    <p:extLst>
      <p:ext uri="{BB962C8B-B14F-4D97-AF65-F5344CB8AC3E}">
        <p14:creationId xmlns:p14="http://schemas.microsoft.com/office/powerpoint/2010/main" val="42102772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D02640-DFA4-0CBD-A316-85E10751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43FB24-0FCC-989A-D5D7-EFC67F198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B75376-4F1C-C1B5-C7DD-3CD7D7281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7AF50D-E49A-9D97-2422-A5AA67DEC9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6B6E7E-C1DA-5EE3-62B7-C91FF21E7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43F828-C3DD-7313-3E49-B67A8769E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>
                <a:solidFill>
                  <a:srgbClr val="FFFFFF"/>
                </a:solidFill>
              </a:rPr>
              <a:t>SQL x </a:t>
            </a:r>
            <a:r>
              <a:rPr lang="pt-BR" sz="3500" dirty="0" err="1">
                <a:solidFill>
                  <a:srgbClr val="FFFFFF"/>
                </a:solidFill>
              </a:rPr>
              <a:t>NoSQL</a:t>
            </a:r>
            <a:r>
              <a:rPr lang="pt-BR" sz="3500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E6ADEE9-B50F-6D88-4169-CCA7875C9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506717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Hints:</a:t>
            </a:r>
          </a:p>
          <a:p>
            <a:pPr lvl="1"/>
            <a:r>
              <a:rPr lang="en-US" dirty="0"/>
              <a:t>In financial applications </a:t>
            </a:r>
            <a:r>
              <a:rPr lang="en-US" b="1" dirty="0"/>
              <a:t>data consistency is critical</a:t>
            </a:r>
            <a:endParaRPr lang="en-US" dirty="0"/>
          </a:p>
          <a:p>
            <a:pPr lvl="1"/>
            <a:r>
              <a:rPr lang="en-US" dirty="0"/>
              <a:t>Loan, balance, and transaction data </a:t>
            </a:r>
            <a:r>
              <a:rPr lang="en-US" b="1" dirty="0"/>
              <a:t>have strong relationships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8727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B31D2-B88D-D44E-CA60-A960E124F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42811F1-E9FE-1311-C8AE-FEAD59C029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56D151-1109-BDF4-984F-9E9936E2F7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4F14D4-B1C8-064D-4DD8-34CB78FFF0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DEE155-3318-1D2E-47BC-F2F91F61E4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B2F62F-4AB1-E252-876C-DA38E08C8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>
                <a:solidFill>
                  <a:srgbClr val="FFFFFF"/>
                </a:solidFill>
              </a:rPr>
              <a:t>SQL x </a:t>
            </a:r>
            <a:r>
              <a:rPr lang="pt-BR" sz="3500" dirty="0" err="1">
                <a:solidFill>
                  <a:srgbClr val="FFFFFF"/>
                </a:solidFill>
              </a:rPr>
              <a:t>NoSQL</a:t>
            </a:r>
            <a:r>
              <a:rPr lang="pt-BR" sz="3500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8350381-D4C7-0501-171C-694905DA0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406" y="2506717"/>
            <a:ext cx="8229600" cy="4525963"/>
          </a:xfrm>
        </p:spPr>
        <p:txBody>
          <a:bodyPr>
            <a:normAutofit/>
          </a:bodyPr>
          <a:lstStyle/>
          <a:p>
            <a:r>
              <a:rPr lang="en-US" b="1" dirty="0"/>
              <a:t>Recommended choice: SQL</a:t>
            </a:r>
            <a:endParaRPr lang="en-US" dirty="0"/>
          </a:p>
          <a:p>
            <a:r>
              <a:rPr lang="en-US" dirty="0"/>
              <a:t>Reason:</a:t>
            </a:r>
          </a:p>
          <a:p>
            <a:pPr lvl="1"/>
            <a:r>
              <a:rPr lang="en-US" dirty="0"/>
              <a:t>ACID transactions</a:t>
            </a:r>
          </a:p>
          <a:p>
            <a:pPr lvl="1"/>
            <a:r>
              <a:rPr lang="en-US" dirty="0"/>
              <a:t>Strong consistency</a:t>
            </a:r>
          </a:p>
          <a:p>
            <a:pPr lvl="1"/>
            <a:r>
              <a:rPr lang="en-US" dirty="0"/>
              <a:t>Relational data model</a:t>
            </a:r>
          </a:p>
        </p:txBody>
      </p:sp>
    </p:spTree>
    <p:extLst>
      <p:ext uri="{BB962C8B-B14F-4D97-AF65-F5344CB8AC3E}">
        <p14:creationId xmlns:p14="http://schemas.microsoft.com/office/powerpoint/2010/main" val="3973297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36ED2A-F83F-8FE2-7515-59F8526DD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37F7648-E147-038E-8B6A-52E138E4D8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AEB783-5C99-AE03-6A1A-E0C7E9293D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0745B4-A230-FB8E-08DC-8590D13117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0EF24C-CB10-827E-635A-C3B2373C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D53163-2237-A5B4-949B-9A0CACBBA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>
                <a:solidFill>
                  <a:srgbClr val="FFFFFF"/>
                </a:solidFill>
              </a:rPr>
              <a:t>SQL x </a:t>
            </a:r>
            <a:r>
              <a:rPr lang="pt-BR" sz="3500" dirty="0" err="1">
                <a:solidFill>
                  <a:srgbClr val="FFFFFF"/>
                </a:solidFill>
              </a:rPr>
              <a:t>NoSQL</a:t>
            </a:r>
            <a:r>
              <a:rPr lang="pt-BR" sz="3500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7E99F4C-B296-C336-6C0A-CD1057F71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181" y="2477714"/>
            <a:ext cx="8654825" cy="5107860"/>
          </a:xfrm>
        </p:spPr>
        <p:txBody>
          <a:bodyPr>
            <a:normAutofit/>
          </a:bodyPr>
          <a:lstStyle/>
          <a:p>
            <a:r>
              <a:rPr lang="en-US" dirty="0"/>
              <a:t>SQL databases prioritize </a:t>
            </a:r>
            <a:r>
              <a:rPr lang="en-US" b="1" dirty="0"/>
              <a:t>consistency and relationships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  <a:p>
            <a:r>
              <a:rPr lang="en-US" dirty="0"/>
              <a:t>NoSQL prioritizes </a:t>
            </a:r>
            <a:r>
              <a:rPr lang="en-US" b="1" dirty="0"/>
              <a:t>scalability and flexibility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9138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302872-6208-5083-FEFE-467056AC4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57FAAB9-1F2F-C242-C644-65B7D076E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E8917C-4398-CD92-7C97-A19CF40CF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452B02-4065-7637-3BC0-EB1101D7B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8B891E-0F5B-1B41-4401-C4755A304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8108EC-31F8-9CD1-88D4-BFAA478AA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 err="1">
                <a:solidFill>
                  <a:srgbClr val="FFFFFF"/>
                </a:solidFill>
              </a:rPr>
              <a:t>MongoDB</a:t>
            </a:r>
            <a:r>
              <a:rPr lang="pt-BR" sz="3500" dirty="0">
                <a:solidFill>
                  <a:srgbClr val="FFFFFF"/>
                </a:solidFill>
              </a:rPr>
              <a:t>: </a:t>
            </a:r>
            <a:r>
              <a:rPr lang="pt-BR" sz="3500" dirty="0" err="1">
                <a:solidFill>
                  <a:srgbClr val="FFFFFF"/>
                </a:solidFill>
              </a:rPr>
              <a:t>Document</a:t>
            </a:r>
            <a:r>
              <a:rPr lang="pt-BR" sz="3500" dirty="0">
                <a:solidFill>
                  <a:srgbClr val="FFFFFF"/>
                </a:solidFill>
              </a:rPr>
              <a:t> </a:t>
            </a:r>
            <a:r>
              <a:rPr lang="pt-BR" sz="3500" dirty="0" err="1">
                <a:solidFill>
                  <a:srgbClr val="FFFFFF"/>
                </a:solidFill>
              </a:rPr>
              <a:t>Storage</a:t>
            </a:r>
            <a:endParaRPr lang="pt-BR" sz="3500" dirty="0">
              <a:solidFill>
                <a:srgbClr val="FFFFFF"/>
              </a:solidFill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A97CD7E-197C-0F16-E368-48A6647BA4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181" y="1662802"/>
            <a:ext cx="8654825" cy="510786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The name comes from </a:t>
            </a:r>
            <a:r>
              <a:rPr lang="en-US" b="1" dirty="0"/>
              <a:t>“hu</a:t>
            </a:r>
            <a:r>
              <a:rPr lang="en-US" b="1" dirty="0">
                <a:solidFill>
                  <a:srgbClr val="92D050"/>
                </a:solidFill>
              </a:rPr>
              <a:t>mongo</a:t>
            </a:r>
            <a:r>
              <a:rPr lang="en-US" b="1" dirty="0"/>
              <a:t>us” – (huge + monstrous)</a:t>
            </a:r>
            <a:endParaRPr lang="en-US" dirty="0"/>
          </a:p>
          <a:p>
            <a:r>
              <a:rPr lang="en-US" dirty="0"/>
              <a:t>First version released in </a:t>
            </a:r>
            <a:r>
              <a:rPr lang="en-US" b="1" dirty="0"/>
              <a:t>2009</a:t>
            </a:r>
            <a:endParaRPr lang="en-US" dirty="0"/>
          </a:p>
          <a:p>
            <a:pPr lvl="1"/>
            <a:r>
              <a:rPr lang="en-US" dirty="0"/>
              <a:t>Facebook surpasses </a:t>
            </a:r>
            <a:r>
              <a:rPr lang="en-US" b="1" dirty="0"/>
              <a:t>150 million users</a:t>
            </a:r>
            <a:endParaRPr lang="en-US" dirty="0"/>
          </a:p>
          <a:p>
            <a:pPr lvl="1"/>
            <a:r>
              <a:rPr lang="en-US" dirty="0"/>
              <a:t>Amazon profits increase by </a:t>
            </a:r>
            <a:r>
              <a:rPr lang="en-US" b="1" dirty="0"/>
              <a:t>~70%</a:t>
            </a:r>
            <a:endParaRPr lang="en-US" dirty="0"/>
          </a:p>
          <a:p>
            <a:r>
              <a:rPr lang="en-US" b="1" dirty="0"/>
              <a:t>IPO in 2017</a:t>
            </a:r>
            <a:endParaRPr lang="en-US" dirty="0"/>
          </a:p>
          <a:p>
            <a:r>
              <a:rPr lang="en-US" dirty="0"/>
              <a:t>MongoDB quickly </a:t>
            </a:r>
            <a:r>
              <a:rPr lang="en-US" b="1" dirty="0"/>
              <a:t>evolved to address a real need</a:t>
            </a:r>
            <a:r>
              <a:rPr lang="en-US" dirty="0"/>
              <a:t>.</a:t>
            </a:r>
          </a:p>
          <a:p>
            <a:r>
              <a:rPr lang="en-US" dirty="0"/>
              <a:t>Early versions focused on </a:t>
            </a:r>
            <a:r>
              <a:rPr lang="en-US" b="1" dirty="0"/>
              <a:t>storing and querying JSON documents quickly</a:t>
            </a:r>
            <a:endParaRPr lang="en-US" dirty="0"/>
          </a:p>
          <a:p>
            <a:pPr lvl="1"/>
            <a:r>
              <a:rPr lang="en-US" b="1" dirty="0"/>
              <a:t>No joins</a:t>
            </a:r>
            <a:endParaRPr lang="en-US" dirty="0"/>
          </a:p>
          <a:p>
            <a:pPr lvl="1"/>
            <a:r>
              <a:rPr lang="en-US" b="1" dirty="0"/>
              <a:t>Limited query capabilities</a:t>
            </a:r>
            <a:endParaRPr lang="en-US" dirty="0"/>
          </a:p>
          <a:p>
            <a:r>
              <a:rPr lang="en-US" dirty="0"/>
              <a:t>Today it is designed to use </a:t>
            </a:r>
            <a:r>
              <a:rPr lang="en-US" b="1" dirty="0"/>
              <a:t>JSON-like schemas</a:t>
            </a:r>
            <a:endParaRPr lang="en-US" dirty="0"/>
          </a:p>
          <a:p>
            <a:pPr lvl="1"/>
            <a:r>
              <a:rPr lang="en-US" dirty="0"/>
              <a:t>Supports </a:t>
            </a:r>
            <a:r>
              <a:rPr lang="en-US" b="1" dirty="0"/>
              <a:t>left outer joins</a:t>
            </a:r>
            <a:endParaRPr lang="en-US" dirty="0"/>
          </a:p>
          <a:p>
            <a:pPr lvl="1"/>
            <a:r>
              <a:rPr lang="en-US" dirty="0"/>
              <a:t>Still </a:t>
            </a:r>
            <a:r>
              <a:rPr lang="en-US" b="1" dirty="0"/>
              <a:t>some limitations for complex queries</a:t>
            </a:r>
            <a:endParaRPr lang="en-US" dirty="0"/>
          </a:p>
          <a:p>
            <a:endParaRPr lang="en-US" dirty="0"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  <p:extLst>
      <p:ext uri="{BB962C8B-B14F-4D97-AF65-F5344CB8AC3E}">
        <p14:creationId xmlns:p14="http://schemas.microsoft.com/office/powerpoint/2010/main" val="4653875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FA53DE-FF23-3942-EBCA-B58015C6E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338600C-039A-49DB-2C81-B5544E5F35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13AD32-63BF-DF80-A9E1-E2E8D743A2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63606D-4534-9218-449C-F9BB79259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65F9CFC-F665-31EC-7FD4-B0AF0CE69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483083-A967-FCA0-A8C1-4528B1481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 err="1">
                <a:solidFill>
                  <a:srgbClr val="FFFFFF"/>
                </a:solidFill>
              </a:rPr>
              <a:t>MongoDB</a:t>
            </a:r>
            <a:r>
              <a:rPr lang="pt-BR" sz="3500" dirty="0">
                <a:solidFill>
                  <a:srgbClr val="FFFFFF"/>
                </a:solidFill>
              </a:rPr>
              <a:t>: </a:t>
            </a:r>
            <a:r>
              <a:rPr lang="pt-BR" sz="3500" dirty="0" err="1">
                <a:solidFill>
                  <a:srgbClr val="FFFFFF"/>
                </a:solidFill>
              </a:rPr>
              <a:t>Document</a:t>
            </a:r>
            <a:r>
              <a:rPr lang="pt-BR" sz="3500" dirty="0">
                <a:solidFill>
                  <a:srgbClr val="FFFFFF"/>
                </a:solidFill>
              </a:rPr>
              <a:t> </a:t>
            </a:r>
            <a:r>
              <a:rPr lang="pt-BR" sz="3500" dirty="0" err="1">
                <a:solidFill>
                  <a:srgbClr val="FFFFFF"/>
                </a:solidFill>
              </a:rPr>
              <a:t>Storage</a:t>
            </a:r>
            <a:endParaRPr lang="pt-BR" sz="3500" dirty="0">
              <a:solidFill>
                <a:srgbClr val="FFFFFF"/>
              </a:solidFill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5515D19-2975-080C-ED59-475E0DF9C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181" y="2477714"/>
            <a:ext cx="8654825" cy="5107860"/>
          </a:xfrm>
        </p:spPr>
        <p:txBody>
          <a:bodyPr>
            <a:normAutofit/>
          </a:bodyPr>
          <a:lstStyle/>
          <a:p>
            <a:endParaRPr lang="en-US" dirty="0">
              <a:latin typeface="Roboto Light"/>
              <a:ea typeface="Roboto Light"/>
              <a:cs typeface="Roboto Light"/>
              <a:sym typeface="Roboto Light"/>
            </a:endParaRPr>
          </a:p>
          <a:p>
            <a:endParaRPr lang="en-US" dirty="0">
              <a:latin typeface="Roboto Light"/>
              <a:ea typeface="Roboto Light"/>
              <a:cs typeface="Roboto Light"/>
              <a:sym typeface="Roboto Light"/>
            </a:endParaRPr>
          </a:p>
          <a:p>
            <a:endParaRPr lang="en-US" dirty="0">
              <a:latin typeface="Roboto Light"/>
              <a:ea typeface="Roboto Light"/>
              <a:cs typeface="Roboto Light"/>
              <a:sym typeface="Roboto Light"/>
            </a:endParaRPr>
          </a:p>
          <a:p>
            <a:endParaRPr lang="en-US" dirty="0">
              <a:latin typeface="Roboto Light"/>
              <a:ea typeface="Roboto Light"/>
              <a:cs typeface="Roboto Light"/>
              <a:sym typeface="Roboto Light"/>
            </a:endParaRPr>
          </a:p>
          <a:p>
            <a:endParaRPr lang="en-US" dirty="0">
              <a:latin typeface="Roboto Light"/>
              <a:ea typeface="Roboto Light"/>
              <a:cs typeface="Roboto Light"/>
              <a:sym typeface="Roboto Light"/>
            </a:endParaRPr>
          </a:p>
          <a:p>
            <a:endParaRPr lang="en-US" dirty="0">
              <a:latin typeface="Roboto Light"/>
              <a:ea typeface="Roboto Light"/>
              <a:cs typeface="Roboto Light"/>
              <a:sym typeface="Roboto Light"/>
            </a:endParaRPr>
          </a:p>
          <a:p>
            <a:pPr marL="0" indent="0" algn="ctr">
              <a:buNone/>
            </a:pPr>
            <a:r>
              <a:rPr lang="en-US" dirty="0">
                <a:latin typeface="Roboto Light"/>
                <a:ea typeface="Roboto Light"/>
                <a:cs typeface="Roboto Light"/>
                <a:sym typeface="Roboto Light"/>
              </a:rPr>
              <a:t>$24B Market Capital as of 2023!</a:t>
            </a:r>
          </a:p>
          <a:p>
            <a:endParaRPr lang="en-US" dirty="0"/>
          </a:p>
        </p:txBody>
      </p:sp>
      <p:pic>
        <p:nvPicPr>
          <p:cNvPr id="3" name="Google Shape;243;p40">
            <a:extLst>
              <a:ext uri="{FF2B5EF4-FFF2-40B4-BE49-F238E27FC236}">
                <a16:creationId xmlns:a16="http://schemas.microsoft.com/office/drawing/2014/main" id="{EFA15EB8-2224-9698-5ED0-FAD3A5D03F5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61799" y="3379039"/>
            <a:ext cx="7735634" cy="2523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248;p40">
            <a:extLst>
              <a:ext uri="{FF2B5EF4-FFF2-40B4-BE49-F238E27FC236}">
                <a16:creationId xmlns:a16="http://schemas.microsoft.com/office/drawing/2014/main" id="{B58CF6CA-2AA4-B3AC-84DB-B7DA462EF1D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72765" y="2423553"/>
            <a:ext cx="3313701" cy="9013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784757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BB446B-270F-576D-39A5-74A8BB130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E1E2AA6-845C-5610-6C7E-E41B94715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A30CA-51DE-A2D6-0B43-1506FB7F5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5187F1-6C94-1C6A-F057-1DABBC0BD3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D8AEFA-7B96-9277-379F-FD158CC383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A64A9E-77D3-CF24-DA61-42D577E25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 err="1">
                <a:solidFill>
                  <a:srgbClr val="FFFFFF"/>
                </a:solidFill>
              </a:rPr>
              <a:t>MongoDB</a:t>
            </a:r>
            <a:r>
              <a:rPr lang="pt-BR" sz="3500" dirty="0">
                <a:solidFill>
                  <a:srgbClr val="FFFFFF"/>
                </a:solidFill>
              </a:rPr>
              <a:t>: </a:t>
            </a:r>
            <a:r>
              <a:rPr lang="pt-BR" sz="3500" dirty="0" err="1">
                <a:solidFill>
                  <a:srgbClr val="FFFFFF"/>
                </a:solidFill>
              </a:rPr>
              <a:t>Collections</a:t>
            </a:r>
            <a:r>
              <a:rPr lang="pt-BR" sz="3500" dirty="0">
                <a:solidFill>
                  <a:srgbClr val="FFFFFF"/>
                </a:solidFill>
              </a:rPr>
              <a:t> </a:t>
            </a:r>
            <a:r>
              <a:rPr lang="pt-BR" sz="3500" dirty="0" err="1">
                <a:solidFill>
                  <a:srgbClr val="FFFFFF"/>
                </a:solidFill>
              </a:rPr>
              <a:t>and</a:t>
            </a:r>
            <a:r>
              <a:rPr lang="pt-BR" sz="3500" dirty="0">
                <a:solidFill>
                  <a:srgbClr val="FFFFFF"/>
                </a:solidFill>
              </a:rPr>
              <a:t> </a:t>
            </a:r>
            <a:r>
              <a:rPr lang="pt-BR" sz="3500" dirty="0" err="1">
                <a:solidFill>
                  <a:srgbClr val="FFFFFF"/>
                </a:solidFill>
              </a:rPr>
              <a:t>Documents</a:t>
            </a:r>
            <a:endParaRPr lang="pt-BR" sz="3500" dirty="0">
              <a:solidFill>
                <a:srgbClr val="FFFFFF"/>
              </a:solidFill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080FE11-23C8-EFA6-7CE9-D0BCE8B95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181" y="2477714"/>
            <a:ext cx="8654825" cy="5107860"/>
          </a:xfrm>
        </p:spPr>
        <p:txBody>
          <a:bodyPr>
            <a:normAutofit/>
          </a:bodyPr>
          <a:lstStyle/>
          <a:p>
            <a:r>
              <a:rPr lang="en-US" b="1" dirty="0"/>
              <a:t>MongoDB Collections and Documents</a:t>
            </a:r>
          </a:p>
          <a:p>
            <a:r>
              <a:rPr lang="en-US" dirty="0"/>
              <a:t>MongoDB stores data in </a:t>
            </a:r>
            <a:r>
              <a:rPr lang="en-US" b="1" dirty="0"/>
              <a:t>collections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collection contains multiple </a:t>
            </a:r>
            <a:r>
              <a:rPr lang="en-US" b="1" dirty="0"/>
              <a:t>documents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b="1" dirty="0"/>
              <a:t>document</a:t>
            </a:r>
            <a:r>
              <a:rPr lang="en-US" dirty="0"/>
              <a:t> is a JSON-like structure composed of </a:t>
            </a:r>
            <a:r>
              <a:rPr lang="en-US" b="1" dirty="0"/>
              <a:t>key–value pairs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  <p:extLst>
      <p:ext uri="{BB962C8B-B14F-4D97-AF65-F5344CB8AC3E}">
        <p14:creationId xmlns:p14="http://schemas.microsoft.com/office/powerpoint/2010/main" val="4257082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C026C-B80D-276B-CD9F-F06103FA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AF42FB6-7D4C-811B-A783-42908988C5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C4F8F5-CB28-6E9E-C874-2E2D4F31F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E730031-F8BB-3D3C-08EC-C17706F9AE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046480-D4BB-CD05-E5BC-CFA905253C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D7F12E-2A52-438D-13DA-6A5FCB68E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 err="1">
                <a:solidFill>
                  <a:srgbClr val="FFFFFF"/>
                </a:solidFill>
              </a:rPr>
              <a:t>MongoDB</a:t>
            </a:r>
            <a:r>
              <a:rPr lang="pt-BR" sz="3500" dirty="0">
                <a:solidFill>
                  <a:srgbClr val="FFFFFF"/>
                </a:solidFill>
              </a:rPr>
              <a:t>: </a:t>
            </a:r>
            <a:r>
              <a:rPr lang="pt-BR" sz="3500" dirty="0" err="1">
                <a:solidFill>
                  <a:srgbClr val="FFFFFF"/>
                </a:solidFill>
              </a:rPr>
              <a:t>Collections</a:t>
            </a:r>
            <a:r>
              <a:rPr lang="pt-BR" sz="3500" dirty="0">
                <a:solidFill>
                  <a:srgbClr val="FFFFFF"/>
                </a:solidFill>
              </a:rPr>
              <a:t> </a:t>
            </a:r>
            <a:r>
              <a:rPr lang="pt-BR" sz="3500" dirty="0" err="1">
                <a:solidFill>
                  <a:srgbClr val="FFFFFF"/>
                </a:solidFill>
              </a:rPr>
              <a:t>and</a:t>
            </a:r>
            <a:r>
              <a:rPr lang="pt-BR" sz="3500" dirty="0">
                <a:solidFill>
                  <a:srgbClr val="FFFFFF"/>
                </a:solidFill>
              </a:rPr>
              <a:t> </a:t>
            </a:r>
            <a:r>
              <a:rPr lang="pt-BR" sz="3500" dirty="0" err="1">
                <a:solidFill>
                  <a:srgbClr val="FFFFFF"/>
                </a:solidFill>
              </a:rPr>
              <a:t>Documents</a:t>
            </a:r>
            <a:endParaRPr lang="pt-BR" sz="3500" dirty="0">
              <a:solidFill>
                <a:srgbClr val="FFFFFF"/>
              </a:solidFill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F78635E-7CEA-CC2E-FFB6-55A81F0FC3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586" y="1750468"/>
            <a:ext cx="8654825" cy="510786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latin typeface="Roboto Light"/>
                <a:ea typeface="Roboto Light"/>
                <a:cs typeface="Roboto Light"/>
                <a:sym typeface="Roboto Light"/>
              </a:rPr>
              <a:t>Movies Collection</a:t>
            </a:r>
          </a:p>
          <a:p>
            <a:pPr marL="0" indent="0">
              <a:buNone/>
            </a:pPr>
            <a:endParaRPr lang="en-US" dirty="0">
              <a:latin typeface="Roboto Light"/>
              <a:ea typeface="Roboto Light"/>
              <a:cs typeface="Roboto Light"/>
              <a:sym typeface="Roboto Light"/>
            </a:endParaRPr>
          </a:p>
          <a:p>
            <a:pPr marL="0" indent="0">
              <a:buNone/>
            </a:pPr>
            <a:endParaRPr lang="en-US" dirty="0"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87BE738-7CFF-FF3C-B348-744EF261A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8750" y="2429846"/>
            <a:ext cx="4986495" cy="319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51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BD59AC-0842-FA74-4182-1DB905D1D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A352F5B-5EE5-B886-CF5E-81BB472F8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EBD941-0419-F58D-9A3C-777ACCBDB5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0BB551-B935-06B5-6DA0-92704DE72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DA8793-9435-525A-0EBC-2990B38F6F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CEC945-6F9B-FF85-43C3-F85ABBD1B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 err="1">
                <a:solidFill>
                  <a:srgbClr val="FFFFFF"/>
                </a:solidFill>
              </a:rPr>
              <a:t>MongoDB</a:t>
            </a:r>
            <a:r>
              <a:rPr lang="pt-BR" sz="3500" dirty="0">
                <a:solidFill>
                  <a:srgbClr val="FFFFFF"/>
                </a:solidFill>
              </a:rPr>
              <a:t>: </a:t>
            </a:r>
            <a:r>
              <a:rPr lang="pt-BR" sz="3500" dirty="0" err="1">
                <a:solidFill>
                  <a:srgbClr val="FFFFFF"/>
                </a:solidFill>
              </a:rPr>
              <a:t>Collections</a:t>
            </a:r>
            <a:r>
              <a:rPr lang="pt-BR" sz="3500" dirty="0">
                <a:solidFill>
                  <a:srgbClr val="FFFFFF"/>
                </a:solidFill>
              </a:rPr>
              <a:t> </a:t>
            </a:r>
            <a:r>
              <a:rPr lang="pt-BR" sz="3500" dirty="0" err="1">
                <a:solidFill>
                  <a:srgbClr val="FFFFFF"/>
                </a:solidFill>
              </a:rPr>
              <a:t>and</a:t>
            </a:r>
            <a:r>
              <a:rPr lang="pt-BR" sz="3500" dirty="0">
                <a:solidFill>
                  <a:srgbClr val="FFFFFF"/>
                </a:solidFill>
              </a:rPr>
              <a:t> </a:t>
            </a:r>
            <a:r>
              <a:rPr lang="pt-BR" sz="3500" dirty="0" err="1">
                <a:solidFill>
                  <a:srgbClr val="FFFFFF"/>
                </a:solidFill>
              </a:rPr>
              <a:t>Documents</a:t>
            </a:r>
            <a:endParaRPr lang="pt-BR" sz="3500" dirty="0">
              <a:solidFill>
                <a:srgbClr val="FFFFFF"/>
              </a:solidFill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F2EE715-A4F7-EF19-C60F-99EF5C658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586" y="1750468"/>
            <a:ext cx="8654825" cy="51078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• Documents are </a:t>
            </a:r>
            <a:r>
              <a:rPr lang="en-US" b="1" dirty="0"/>
              <a:t>JSON-like objects</a:t>
            </a:r>
            <a:r>
              <a:rPr lang="en-US" dirty="0"/>
              <a:t> (internally stored as BSON)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• Documents in the same collection </a:t>
            </a:r>
            <a:r>
              <a:rPr lang="en-US" b="1" dirty="0"/>
              <a:t>do not need to have exactly the same fields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• Collections are similar to </a:t>
            </a:r>
            <a:r>
              <a:rPr lang="en-US" b="1" dirty="0"/>
              <a:t>tables in relational databases</a:t>
            </a:r>
            <a:endParaRPr lang="en-US" dirty="0"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  <p:extLst>
      <p:ext uri="{BB962C8B-B14F-4D97-AF65-F5344CB8AC3E}">
        <p14:creationId xmlns:p14="http://schemas.microsoft.com/office/powerpoint/2010/main" val="1625584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5D5FB2-48BF-9A1B-BCB0-2FCA6E149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1A659F2-DA37-E5D6-35D9-2C0BA16B0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829D3F-CBA4-D90A-6C94-882CE52C2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2160C3-B498-D472-37D3-F04BE0E4B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86DA45-2DDF-07BA-1429-27473915E4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BD4E0F-EA7C-8464-E5C5-F401A4873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 err="1">
                <a:solidFill>
                  <a:srgbClr val="FFFFFF"/>
                </a:solidFill>
              </a:rPr>
              <a:t>MongoDB</a:t>
            </a:r>
            <a:r>
              <a:rPr lang="pt-BR" sz="3500" dirty="0">
                <a:solidFill>
                  <a:srgbClr val="FFFFFF"/>
                </a:solidFill>
              </a:rPr>
              <a:t>: </a:t>
            </a:r>
            <a:r>
              <a:rPr lang="pt-BR" sz="3500" dirty="0" err="1">
                <a:solidFill>
                  <a:srgbClr val="FFFFFF"/>
                </a:solidFill>
              </a:rPr>
              <a:t>Collections</a:t>
            </a:r>
            <a:r>
              <a:rPr lang="pt-BR" sz="3500" dirty="0">
                <a:solidFill>
                  <a:srgbClr val="FFFFFF"/>
                </a:solidFill>
              </a:rPr>
              <a:t> </a:t>
            </a:r>
            <a:r>
              <a:rPr lang="pt-BR" sz="3500" dirty="0" err="1">
                <a:solidFill>
                  <a:srgbClr val="FFFFFF"/>
                </a:solidFill>
              </a:rPr>
              <a:t>and</a:t>
            </a:r>
            <a:r>
              <a:rPr lang="pt-BR" sz="3500" dirty="0">
                <a:solidFill>
                  <a:srgbClr val="FFFFFF"/>
                </a:solidFill>
              </a:rPr>
              <a:t> </a:t>
            </a:r>
            <a:r>
              <a:rPr lang="pt-BR" sz="3500" dirty="0" err="1">
                <a:solidFill>
                  <a:srgbClr val="FFFFFF"/>
                </a:solidFill>
              </a:rPr>
              <a:t>Documents</a:t>
            </a:r>
            <a:endParaRPr lang="pt-BR" sz="3500" dirty="0">
              <a:solidFill>
                <a:srgbClr val="FFFFFF"/>
              </a:solidFill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B0722F6-95FF-59DD-B920-4121255D0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586" y="1750468"/>
            <a:ext cx="8654825" cy="510786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Roboto Light"/>
              <a:ea typeface="Roboto Light"/>
              <a:cs typeface="Roboto Light"/>
              <a:sym typeface="Roboto Light"/>
            </a:endParaRP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2671EB29-B400-B174-DD06-4C7339B74C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611463"/>
              </p:ext>
            </p:extLst>
          </p:nvPr>
        </p:nvGraphicFramePr>
        <p:xfrm>
          <a:off x="1280093" y="2802602"/>
          <a:ext cx="8229600" cy="32004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389714411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4229239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3600" dirty="0"/>
                        <a:t>SQL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3600"/>
                        <a:t>MongoDB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75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3600"/>
                        <a:t>Database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3600"/>
                        <a:t>Database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76852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3600"/>
                        <a:t>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3600"/>
                        <a:t>Collection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20026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3600"/>
                        <a:t>Row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3600"/>
                        <a:t>Document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7314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3600"/>
                        <a:t>Column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3600" dirty="0"/>
                        <a:t>Field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6873411"/>
                  </a:ext>
                </a:extLst>
              </a:tr>
            </a:tbl>
          </a:graphicData>
        </a:graphic>
      </p:graphicFrame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26C29910-6E24-85B1-AF1D-E52E4C8C9DB4}"/>
              </a:ext>
            </a:extLst>
          </p:cNvPr>
          <p:cNvSpPr/>
          <p:nvPr/>
        </p:nvSpPr>
        <p:spPr>
          <a:xfrm>
            <a:off x="3668614" y="4240333"/>
            <a:ext cx="1212112" cy="276447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700FDC2-35B6-F6A6-6E78-2D9194CA3A37}"/>
              </a:ext>
            </a:extLst>
          </p:cNvPr>
          <p:cNvSpPr/>
          <p:nvPr/>
        </p:nvSpPr>
        <p:spPr>
          <a:xfrm>
            <a:off x="1028697" y="2551814"/>
            <a:ext cx="2309808" cy="3593805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2F55AE0-20EF-B096-BF45-9F64E6B27336}"/>
              </a:ext>
            </a:extLst>
          </p:cNvPr>
          <p:cNvSpPr/>
          <p:nvPr/>
        </p:nvSpPr>
        <p:spPr>
          <a:xfrm>
            <a:off x="5210836" y="2551814"/>
            <a:ext cx="2309808" cy="3593805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76601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0AB3A9-F99D-7985-8C58-E13BF4C89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3B561CD-95AE-A092-B728-0938DE0BBA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51F1B0-2A6E-7356-6ACD-FC187A6320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A8BAFF-7CC5-A804-43CF-83F9ABA51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E91033-817A-09DD-E523-90C28836D4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122ED7-2465-19E8-2E60-895239045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 err="1">
                <a:solidFill>
                  <a:srgbClr val="FFFFFF"/>
                </a:solidFill>
              </a:rPr>
              <a:t>MongoDB</a:t>
            </a:r>
            <a:r>
              <a:rPr lang="pt-BR" sz="3500" dirty="0">
                <a:solidFill>
                  <a:srgbClr val="FFFFFF"/>
                </a:solidFill>
              </a:rPr>
              <a:t> Query </a:t>
            </a:r>
            <a:r>
              <a:rPr lang="pt-BR" sz="3500" dirty="0" err="1">
                <a:solidFill>
                  <a:srgbClr val="FFFFFF"/>
                </a:solidFill>
              </a:rPr>
              <a:t>Language</a:t>
            </a:r>
            <a:r>
              <a:rPr lang="pt-BR" sz="3500" dirty="0">
                <a:solidFill>
                  <a:srgbClr val="FFFFFF"/>
                </a:solidFill>
              </a:rPr>
              <a:t> (MQL)</a:t>
            </a:r>
          </a:p>
        </p:txBody>
      </p:sp>
      <p:sp>
        <p:nvSpPr>
          <p:cNvPr id="5" name="Google Shape;254;p41">
            <a:extLst>
              <a:ext uri="{FF2B5EF4-FFF2-40B4-BE49-F238E27FC236}">
                <a16:creationId xmlns:a16="http://schemas.microsoft.com/office/drawing/2014/main" id="{121EC06F-ACFE-92AA-38C6-60AE21F7533B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" y="1467138"/>
            <a:ext cx="8655050" cy="5041997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61950" algn="l" rtl="0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-US" sz="1800" b="1" dirty="0"/>
              <a:t>Select Queries:</a:t>
            </a:r>
            <a:endParaRPr sz="1800" b="1" dirty="0"/>
          </a:p>
          <a:p>
            <a:pPr marL="914400" lvl="1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○"/>
            </a:pPr>
            <a:r>
              <a:rPr lang="en-US" sz="1800" u="sng" dirty="0">
                <a:solidFill>
                  <a:schemeClr val="hlink"/>
                </a:solidFill>
                <a:hlinkClick r:id="rId2"/>
              </a:rPr>
              <a:t>https://www.mongodb.com/docs/manual/reference/method/db.collection.find/</a:t>
            </a:r>
            <a:r>
              <a:rPr lang="en-US" sz="1800" dirty="0"/>
              <a:t> </a:t>
            </a:r>
            <a:endParaRPr sz="1800" dirty="0"/>
          </a:p>
          <a:p>
            <a:pPr marL="914400" lvl="1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○"/>
            </a:pPr>
            <a:r>
              <a:rPr lang="en-US" sz="1800" u="sng" dirty="0">
                <a:solidFill>
                  <a:schemeClr val="hlink"/>
                </a:solidFill>
                <a:hlinkClick r:id="rId3"/>
              </a:rPr>
              <a:t>https://www.mongodb.com/docs/manual/reference/method/db.collection.findOne/</a:t>
            </a:r>
            <a:endParaRPr sz="1800" dirty="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US" sz="1800" b="1" dirty="0"/>
              <a:t>Aggregation Queries</a:t>
            </a:r>
            <a:r>
              <a:rPr lang="en-US" sz="1800" dirty="0"/>
              <a:t>:</a:t>
            </a:r>
            <a:endParaRPr sz="1800" dirty="0"/>
          </a:p>
          <a:p>
            <a:pPr marL="914400" lvl="1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○"/>
            </a:pPr>
            <a:r>
              <a:rPr lang="en-US" sz="1800" u="sng" dirty="0">
                <a:solidFill>
                  <a:schemeClr val="hlink"/>
                </a:solidFill>
                <a:hlinkClick r:id="rId4"/>
              </a:rPr>
              <a:t>https://www.mongodb.com/docs/manual/reference/method/db.collection.aggregate/</a:t>
            </a:r>
            <a:r>
              <a:rPr lang="en-US" sz="1800" dirty="0"/>
              <a:t> </a:t>
            </a:r>
            <a:endParaRPr sz="1800" dirty="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US" sz="1800" b="1" dirty="0"/>
              <a:t>Update Queries:</a:t>
            </a:r>
            <a:endParaRPr sz="1800" b="1" dirty="0"/>
          </a:p>
          <a:p>
            <a:pPr marL="914400" lvl="1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○"/>
            </a:pPr>
            <a:r>
              <a:rPr lang="en-US" sz="1800" u="sng" dirty="0">
                <a:solidFill>
                  <a:schemeClr val="hlink"/>
                </a:solidFill>
                <a:hlinkClick r:id="rId5"/>
              </a:rPr>
              <a:t>https://www.mongodb.com/docs/manual/reference/method/db.collection.update/</a:t>
            </a:r>
            <a:endParaRPr sz="1800" dirty="0"/>
          </a:p>
          <a:p>
            <a:pPr marL="914400" lvl="1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○"/>
            </a:pPr>
            <a:r>
              <a:rPr lang="en-US" sz="1800" u="sng" dirty="0">
                <a:solidFill>
                  <a:schemeClr val="hlink"/>
                </a:solidFill>
                <a:hlinkClick r:id="rId6"/>
              </a:rPr>
              <a:t>https://www.mongodb.com/docs/manual/reference/method/db.collection.updateOne/</a:t>
            </a:r>
            <a:r>
              <a:rPr lang="en-US" sz="1800" dirty="0"/>
              <a:t> </a:t>
            </a:r>
            <a:endParaRPr sz="1800"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sz="1800"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	</a:t>
            </a:r>
            <a:r>
              <a:rPr lang="en-US" sz="1800" b="1" dirty="0" err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PyMongo</a:t>
            </a:r>
            <a:r>
              <a:rPr lang="en-US" sz="1800" dirty="0"/>
              <a:t>: </a:t>
            </a:r>
            <a:r>
              <a:rPr lang="en-US" sz="1800" u="sng" dirty="0">
                <a:solidFill>
                  <a:schemeClr val="hlink"/>
                </a:solidFill>
                <a:hlinkClick r:id="rId7"/>
              </a:rPr>
              <a:t>https://pymongo.readthedocs.io/en/stable/</a:t>
            </a:r>
            <a:r>
              <a:rPr lang="en-US" sz="1800" dirty="0"/>
              <a:t> </a:t>
            </a:r>
            <a:endParaRPr sz="1800"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sz="1800"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sz="1800"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sz="1800" dirty="0"/>
          </a:p>
        </p:txBody>
      </p:sp>
    </p:spTree>
    <p:extLst>
      <p:ext uri="{BB962C8B-B14F-4D97-AF65-F5344CB8AC3E}">
        <p14:creationId xmlns:p14="http://schemas.microsoft.com/office/powerpoint/2010/main" val="33725846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C0932C-8B7D-0968-D479-01AD17C65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DE22FA1-843B-7D39-3850-773792720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2CC420-E2AC-01C9-C652-9EF3A7DA13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C4F7716-FE77-37D2-C02D-E993EC430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B71A54-3A2A-580C-A917-363A4B59D3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ECB56D-C289-5572-B6EB-60418DC9E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>
                <a:solidFill>
                  <a:srgbClr val="FFFFFF"/>
                </a:solidFill>
              </a:rPr>
              <a:t>Basic </a:t>
            </a:r>
            <a:r>
              <a:rPr lang="pt-BR" sz="3500" dirty="0" err="1">
                <a:solidFill>
                  <a:srgbClr val="FFFFFF"/>
                </a:solidFill>
              </a:rPr>
              <a:t>Retrieval</a:t>
            </a:r>
            <a:endParaRPr lang="pt-BR" sz="3500" dirty="0">
              <a:solidFill>
                <a:srgbClr val="FFFFFF"/>
              </a:solidFill>
            </a:endParaRPr>
          </a:p>
        </p:txBody>
      </p:sp>
      <p:graphicFrame>
        <p:nvGraphicFramePr>
          <p:cNvPr id="6" name="Espaço Reservado para Conteúdo 2">
            <a:extLst>
              <a:ext uri="{FF2B5EF4-FFF2-40B4-BE49-F238E27FC236}">
                <a16:creationId xmlns:a16="http://schemas.microsoft.com/office/drawing/2014/main" id="{B6121BEA-ED42-5EA6-0225-434CBCFACA3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2709665"/>
              </p:ext>
            </p:extLst>
          </p:nvPr>
        </p:nvGraphicFramePr>
        <p:xfrm>
          <a:off x="1" y="1575460"/>
          <a:ext cx="9143999" cy="52825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118875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AD35E6D-26E1-F188-FAD2-C3BF0DCD0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2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Practice  Docker Mongo</a:t>
            </a:r>
          </a:p>
        </p:txBody>
      </p:sp>
      <p:graphicFrame>
        <p:nvGraphicFramePr>
          <p:cNvPr id="23" name="Espaço Reservado para Texto 2">
            <a:extLst>
              <a:ext uri="{FF2B5EF4-FFF2-40B4-BE49-F238E27FC236}">
                <a16:creationId xmlns:a16="http://schemas.microsoft.com/office/drawing/2014/main" id="{0D19A2F9-2BC8-EEEE-C19F-0D24793802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9518913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786999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1D757E-EBDD-3692-4C82-6B276CA76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514786"/>
            <a:ext cx="7533018" cy="877729"/>
          </a:xfrm>
        </p:spPr>
        <p:txBody>
          <a:bodyPr vert="horz" lIns="91440" tIns="45720" rIns="91440" bIns="45720" rtlCol="0"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Practice - Project Structure</a:t>
            </a:r>
            <a:b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5" name="Espaço Reservado para Texto 2">
            <a:extLst>
              <a:ext uri="{FF2B5EF4-FFF2-40B4-BE49-F238E27FC236}">
                <a16:creationId xmlns:a16="http://schemas.microsoft.com/office/drawing/2014/main" id="{23D2BE5B-1F9C-CD7F-02E1-7E839F37E96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13413437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907712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428D1D-A613-E83A-BC03-82A4A4571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Practice</a:t>
            </a:r>
            <a:r>
              <a:rPr lang="pt-BR" dirty="0"/>
              <a:t> - </a:t>
            </a:r>
            <a:r>
              <a:rPr lang="pt-BR" dirty="0" err="1"/>
              <a:t>docker-compose.yml</a:t>
            </a:r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D520F92-86B9-FD3D-AA1E-366FC2459588}"/>
              </a:ext>
            </a:extLst>
          </p:cNvPr>
          <p:cNvSpPr txBox="1"/>
          <p:nvPr/>
        </p:nvSpPr>
        <p:spPr>
          <a:xfrm>
            <a:off x="508000" y="1143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 dirty="0"/>
              <a:t>The compose file starts MongoDB, like in previous weeks we did with PostgreSQL.</a:t>
            </a:r>
            <a:endParaRPr lang="pt-BR" sz="20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E0FB931-B84B-99C7-E6E7-A9EFEE17F3E7}"/>
              </a:ext>
            </a:extLst>
          </p:cNvPr>
          <p:cNvSpPr txBox="1"/>
          <p:nvPr/>
        </p:nvSpPr>
        <p:spPr>
          <a:xfrm>
            <a:off x="508000" y="1841500"/>
            <a:ext cx="7874000" cy="3949799"/>
          </a:xfrm>
          <a:prstGeom prst="rect">
            <a:avLst/>
          </a:prstGeom>
          <a:solidFill>
            <a:srgbClr val="F2F2F2"/>
          </a:solidFill>
          <a:ln/>
        </p:spPr>
        <p:txBody>
          <a:bodyPr vert="horz" lIns="152400" tIns="127000" rIns="152400" bIns="127000" rtlCol="0">
            <a:spAutoFit/>
          </a:bodyPr>
          <a:lstStyle/>
          <a:p>
            <a:r>
              <a:rPr lang="pt-BR" sz="1500" dirty="0" err="1">
                <a:latin typeface="Consolas" panose="020B0609020204030204" pitchFamily="49" charset="0"/>
              </a:rPr>
              <a:t>services</a:t>
            </a:r>
            <a:r>
              <a:rPr lang="pt-BR" sz="1500" dirty="0">
                <a:latin typeface="Consolas" panose="020B0609020204030204" pitchFamily="49" charset="0"/>
              </a:rPr>
              <a:t>:
  mongo:
    </a:t>
            </a:r>
            <a:r>
              <a:rPr lang="pt-BR" sz="1500" dirty="0" err="1">
                <a:latin typeface="Consolas" panose="020B0609020204030204" pitchFamily="49" charset="0"/>
              </a:rPr>
              <a:t>image</a:t>
            </a:r>
            <a:r>
              <a:rPr lang="pt-BR" sz="1500" dirty="0">
                <a:latin typeface="Consolas" panose="020B0609020204030204" pitchFamily="49" charset="0"/>
              </a:rPr>
              <a:t>: mongo:8
    </a:t>
            </a:r>
            <a:r>
              <a:rPr lang="pt-BR" sz="1500" dirty="0" err="1">
                <a:latin typeface="Consolas" panose="020B0609020204030204" pitchFamily="49" charset="0"/>
              </a:rPr>
              <a:t>container_name</a:t>
            </a:r>
            <a:r>
              <a:rPr lang="pt-BR" sz="1500" dirty="0">
                <a:latin typeface="Consolas" panose="020B0609020204030204" pitchFamily="49" charset="0"/>
              </a:rPr>
              <a:t>: </a:t>
            </a:r>
            <a:r>
              <a:rPr lang="pt-BR" sz="1500" dirty="0" err="1">
                <a:latin typeface="Consolas" panose="020B0609020204030204" pitchFamily="49" charset="0"/>
              </a:rPr>
              <a:t>lab</a:t>
            </a:r>
            <a:r>
              <a:rPr lang="pt-BR" sz="1500" dirty="0">
                <a:latin typeface="Consolas" panose="020B0609020204030204" pitchFamily="49" charset="0"/>
              </a:rPr>
              <a:t>-mongo
    </a:t>
            </a:r>
            <a:r>
              <a:rPr lang="pt-BR" sz="1500" dirty="0" err="1">
                <a:latin typeface="Consolas" panose="020B0609020204030204" pitchFamily="49" charset="0"/>
              </a:rPr>
              <a:t>restart</a:t>
            </a:r>
            <a:r>
              <a:rPr lang="pt-BR" sz="1500" dirty="0">
                <a:latin typeface="Consolas" panose="020B0609020204030204" pitchFamily="49" charset="0"/>
              </a:rPr>
              <a:t>: </a:t>
            </a:r>
            <a:r>
              <a:rPr lang="pt-BR" sz="1500" dirty="0" err="1">
                <a:latin typeface="Consolas" panose="020B0609020204030204" pitchFamily="49" charset="0"/>
              </a:rPr>
              <a:t>unless-stopped</a:t>
            </a:r>
            <a:r>
              <a:rPr lang="pt-BR" sz="1500" dirty="0">
                <a:latin typeface="Consolas" panose="020B0609020204030204" pitchFamily="49" charset="0"/>
              </a:rPr>
              <a:t>
    </a:t>
            </a:r>
            <a:r>
              <a:rPr lang="pt-BR" sz="1500" dirty="0" err="1">
                <a:latin typeface="Consolas" panose="020B0609020204030204" pitchFamily="49" charset="0"/>
              </a:rPr>
              <a:t>environment</a:t>
            </a:r>
            <a:r>
              <a:rPr lang="pt-BR" sz="1500" dirty="0">
                <a:latin typeface="Consolas" panose="020B0609020204030204" pitchFamily="49" charset="0"/>
              </a:rPr>
              <a:t>:
      MONGO_INITDB_ROOT_USERNAME: </a:t>
            </a:r>
            <a:r>
              <a:rPr lang="pt-BR" sz="1500" dirty="0" err="1">
                <a:latin typeface="Consolas" panose="020B0609020204030204" pitchFamily="49" charset="0"/>
              </a:rPr>
              <a:t>labuser</a:t>
            </a:r>
            <a:r>
              <a:rPr lang="pt-BR" sz="1500" dirty="0">
                <a:latin typeface="Consolas" panose="020B0609020204030204" pitchFamily="49" charset="0"/>
              </a:rPr>
              <a:t>
      MONGO_INITDB_ROOT_PASSWORD: </a:t>
            </a:r>
            <a:r>
              <a:rPr lang="pt-BR" sz="1500" dirty="0" err="1">
                <a:latin typeface="Consolas" panose="020B0609020204030204" pitchFamily="49" charset="0"/>
              </a:rPr>
              <a:t>labpass</a:t>
            </a:r>
            <a:r>
              <a:rPr lang="pt-BR" sz="1500" dirty="0">
                <a:latin typeface="Consolas" panose="020B0609020204030204" pitchFamily="49" charset="0"/>
              </a:rPr>
              <a:t>
    </a:t>
            </a:r>
            <a:r>
              <a:rPr lang="pt-BR" sz="1500" dirty="0" err="1">
                <a:latin typeface="Consolas" panose="020B0609020204030204" pitchFamily="49" charset="0"/>
              </a:rPr>
              <a:t>ports</a:t>
            </a:r>
            <a:r>
              <a:rPr lang="pt-BR" sz="1500" dirty="0">
                <a:latin typeface="Consolas" panose="020B0609020204030204" pitchFamily="49" charset="0"/>
              </a:rPr>
              <a:t>:
      - "27017:27017"
    volumes:
      - </a:t>
            </a:r>
            <a:r>
              <a:rPr lang="pt-BR" sz="1500" dirty="0" err="1">
                <a:latin typeface="Consolas" panose="020B0609020204030204" pitchFamily="49" charset="0"/>
              </a:rPr>
              <a:t>mongo_data</a:t>
            </a:r>
            <a:r>
              <a:rPr lang="pt-BR" sz="1500" dirty="0">
                <a:latin typeface="Consolas" panose="020B0609020204030204" pitchFamily="49" charset="0"/>
              </a:rPr>
              <a:t>:/data/</a:t>
            </a:r>
            <a:r>
              <a:rPr lang="pt-BR" sz="1500" dirty="0" err="1">
                <a:latin typeface="Consolas" panose="020B0609020204030204" pitchFamily="49" charset="0"/>
              </a:rPr>
              <a:t>db</a:t>
            </a:r>
            <a:r>
              <a:rPr lang="pt-BR" sz="1500" dirty="0">
                <a:latin typeface="Consolas" panose="020B0609020204030204" pitchFamily="49" charset="0"/>
              </a:rPr>
              <a:t>
      - ./</a:t>
            </a:r>
            <a:r>
              <a:rPr lang="pt-BR" sz="1500" dirty="0" err="1">
                <a:latin typeface="Consolas" panose="020B0609020204030204" pitchFamily="49" charset="0"/>
              </a:rPr>
              <a:t>rsc</a:t>
            </a:r>
            <a:r>
              <a:rPr lang="pt-BR" sz="1500" dirty="0">
                <a:latin typeface="Consolas" panose="020B0609020204030204" pitchFamily="49" charset="0"/>
              </a:rPr>
              <a:t>/init.js:/</a:t>
            </a:r>
            <a:r>
              <a:rPr lang="pt-BR" sz="1500" dirty="0" err="1">
                <a:latin typeface="Consolas" panose="020B0609020204030204" pitchFamily="49" charset="0"/>
              </a:rPr>
              <a:t>docker-entrypoint-initdb.d</a:t>
            </a:r>
            <a:r>
              <a:rPr lang="pt-BR" sz="1500" dirty="0">
                <a:latin typeface="Consolas" panose="020B0609020204030204" pitchFamily="49" charset="0"/>
              </a:rPr>
              <a:t>/</a:t>
            </a:r>
            <a:r>
              <a:rPr lang="pt-BR" sz="1500" dirty="0" err="1">
                <a:latin typeface="Consolas" panose="020B0609020204030204" pitchFamily="49" charset="0"/>
              </a:rPr>
              <a:t>init.js:ro</a:t>
            </a:r>
            <a:r>
              <a:rPr lang="pt-BR" sz="1500" dirty="0">
                <a:latin typeface="Consolas" panose="020B0609020204030204" pitchFamily="49" charset="0"/>
              </a:rPr>
              <a:t>
volumes:
  </a:t>
            </a:r>
            <a:r>
              <a:rPr lang="pt-BR" sz="1500" dirty="0" err="1">
                <a:latin typeface="Consolas" panose="020B0609020204030204" pitchFamily="49" charset="0"/>
              </a:rPr>
              <a:t>mongo_data</a:t>
            </a:r>
            <a:r>
              <a:rPr lang="pt-BR" sz="1500" dirty="0">
                <a:latin typeface="Consolas" panose="020B0609020204030204" pitchFamily="49" charset="0"/>
              </a:rPr>
              <a:t>: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FD2862F-C83D-E778-A128-DEC7A28FF407}"/>
              </a:ext>
            </a:extLst>
          </p:cNvPr>
          <p:cNvSpPr txBox="1"/>
          <p:nvPr/>
        </p:nvSpPr>
        <p:spPr>
          <a:xfrm>
            <a:off x="457200" y="5821425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 dirty="0"/>
              <a:t>You can improve this by creating your own .env file like we did in previous practices…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19307461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6D15B7-A096-E69D-BEB7-1C996363C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Practice - init.js</a:t>
            </a:r>
          </a:p>
        </p:txBody>
      </p:sp>
      <p:graphicFrame>
        <p:nvGraphicFramePr>
          <p:cNvPr id="6" name="CaixaDeTexto 2">
            <a:extLst>
              <a:ext uri="{FF2B5EF4-FFF2-40B4-BE49-F238E27FC236}">
                <a16:creationId xmlns:a16="http://schemas.microsoft.com/office/drawing/2014/main" id="{CD06CCCF-A895-FBAC-F0AA-68C878755E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64316196"/>
              </p:ext>
            </p:extLst>
          </p:nvPr>
        </p:nvGraphicFramePr>
        <p:xfrm>
          <a:off x="483042" y="2615980"/>
          <a:ext cx="7544539" cy="317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7417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511D5F-3F37-8322-550A-F0BEED9E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96743CD-09A6-8AE8-2038-4AB47D16A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2D31A6-2F74-D36B-FEEF-C762C58BA3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A3244B-99BA-8B8D-5CF4-DA121D816B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60807B-A91D-CF82-4F67-F0EA5AC729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E2AACD-5344-4647-7BEE-2C577778D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Practice - init.js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7BEC626-2311-D231-6295-80C551AE6418}"/>
              </a:ext>
            </a:extLst>
          </p:cNvPr>
          <p:cNvSpPr txBox="1"/>
          <p:nvPr/>
        </p:nvSpPr>
        <p:spPr>
          <a:xfrm>
            <a:off x="955453" y="2245636"/>
            <a:ext cx="7233093" cy="4488408"/>
          </a:xfrm>
          <a:prstGeom prst="rect">
            <a:avLst/>
          </a:prstGeom>
          <a:solidFill>
            <a:srgbClr val="F2F2F2"/>
          </a:solidFill>
          <a:ln/>
        </p:spPr>
        <p:txBody>
          <a:bodyPr vert="horz" wrap="square" lIns="152400" tIns="127000" rIns="152400" bIns="127000" rtlCol="0">
            <a:spAutoFit/>
          </a:bodyPr>
          <a:lstStyle/>
          <a:p>
            <a:pPr>
              <a:spcAft>
                <a:spcPts val="600"/>
              </a:spcAft>
            </a:pPr>
            <a:r>
              <a:rPr lang="pt-BR" sz="1500" dirty="0" err="1">
                <a:latin typeface="Consolas" panose="020B0609020204030204" pitchFamily="49" charset="0"/>
              </a:rPr>
              <a:t>db</a:t>
            </a:r>
            <a:r>
              <a:rPr lang="pt-BR" sz="1500" dirty="0">
                <a:latin typeface="Consolas" panose="020B0609020204030204" pitchFamily="49" charset="0"/>
              </a:rPr>
              <a:t> = </a:t>
            </a:r>
            <a:r>
              <a:rPr lang="pt-BR" sz="1500" dirty="0" err="1">
                <a:latin typeface="Consolas" panose="020B0609020204030204" pitchFamily="49" charset="0"/>
              </a:rPr>
              <a:t>db.getSiblingDB</a:t>
            </a:r>
            <a:r>
              <a:rPr lang="pt-BR" sz="1500" dirty="0">
                <a:latin typeface="Consolas" panose="020B0609020204030204" pitchFamily="49" charset="0"/>
              </a:rPr>
              <a:t>("</a:t>
            </a:r>
            <a:r>
              <a:rPr lang="pt-BR" sz="1500" dirty="0" err="1">
                <a:latin typeface="Consolas" panose="020B0609020204030204" pitchFamily="49" charset="0"/>
              </a:rPr>
              <a:t>university_mongo</a:t>
            </a:r>
            <a:r>
              <a:rPr lang="pt-BR" sz="1500" dirty="0">
                <a:latin typeface="Consolas" panose="020B0609020204030204" pitchFamily="49" charset="0"/>
              </a:rPr>
              <a:t>");
</a:t>
            </a:r>
            <a:r>
              <a:rPr lang="pt-BR" sz="1500" dirty="0" err="1">
                <a:latin typeface="Consolas" panose="020B0609020204030204" pitchFamily="49" charset="0"/>
              </a:rPr>
              <a:t>db.students.insertMany</a:t>
            </a:r>
            <a:r>
              <a:rPr lang="pt-BR" sz="1500" dirty="0">
                <a:latin typeface="Consolas" panose="020B0609020204030204" pitchFamily="49" charset="0"/>
              </a:rPr>
              <a:t>([
  {
    </a:t>
            </a:r>
            <a:r>
              <a:rPr lang="pt-BR" sz="1500" dirty="0" err="1">
                <a:latin typeface="Consolas" panose="020B0609020204030204" pitchFamily="49" charset="0"/>
              </a:rPr>
              <a:t>student_number</a:t>
            </a:r>
            <a:r>
              <a:rPr lang="pt-BR" sz="1500" dirty="0">
                <a:latin typeface="Consolas" panose="020B0609020204030204" pitchFamily="49" charset="0"/>
              </a:rPr>
              <a:t>: "S2024001",
    </a:t>
            </a:r>
            <a:r>
              <a:rPr lang="pt-BR" sz="1500" dirty="0" err="1">
                <a:latin typeface="Consolas" panose="020B0609020204030204" pitchFamily="49" charset="0"/>
              </a:rPr>
              <a:t>full_name</a:t>
            </a:r>
            <a:r>
              <a:rPr lang="pt-BR" sz="1500" dirty="0">
                <a:latin typeface="Consolas" panose="020B0609020204030204" pitchFamily="49" charset="0"/>
              </a:rPr>
              <a:t>: "Alice Johnson",
    status: "</a:t>
            </a:r>
            <a:r>
              <a:rPr lang="pt-BR" sz="1500" dirty="0" err="1">
                <a:latin typeface="Consolas" panose="020B0609020204030204" pitchFamily="49" charset="0"/>
              </a:rPr>
              <a:t>active</a:t>
            </a:r>
            <a:r>
              <a:rPr lang="pt-BR" sz="1500" dirty="0">
                <a:latin typeface="Consolas" panose="020B0609020204030204" pitchFamily="49" charset="0"/>
              </a:rPr>
              <a:t>",
    </a:t>
            </a:r>
            <a:r>
              <a:rPr lang="pt-BR" sz="1500" dirty="0" err="1">
                <a:latin typeface="Consolas" panose="020B0609020204030204" pitchFamily="49" charset="0"/>
              </a:rPr>
              <a:t>department</a:t>
            </a:r>
            <a:r>
              <a:rPr lang="pt-BR" sz="1500" dirty="0">
                <a:latin typeface="Consolas" panose="020B0609020204030204" pitchFamily="49" charset="0"/>
              </a:rPr>
              <a:t>: { </a:t>
            </a:r>
            <a:r>
              <a:rPr lang="pt-BR" sz="1500" dirty="0" err="1">
                <a:latin typeface="Consolas" panose="020B0609020204030204" pitchFamily="49" charset="0"/>
              </a:rPr>
              <a:t>name</a:t>
            </a:r>
            <a:r>
              <a:rPr lang="pt-BR" sz="1500" dirty="0">
                <a:latin typeface="Consolas" panose="020B0609020204030204" pitchFamily="49" charset="0"/>
              </a:rPr>
              <a:t>: "Computer Science" },
    </a:t>
            </a:r>
            <a:r>
              <a:rPr lang="pt-BR" sz="1500" dirty="0" err="1">
                <a:latin typeface="Consolas" panose="020B0609020204030204" pitchFamily="49" charset="0"/>
              </a:rPr>
              <a:t>enrolled_courses</a:t>
            </a:r>
            <a:r>
              <a:rPr lang="pt-BR" sz="1500" dirty="0">
                <a:latin typeface="Consolas" panose="020B0609020204030204" pitchFamily="49" charset="0"/>
              </a:rPr>
              <a:t>: [
      { </a:t>
            </a:r>
            <a:r>
              <a:rPr lang="pt-BR" sz="1500" dirty="0" err="1">
                <a:latin typeface="Consolas" panose="020B0609020204030204" pitchFamily="49" charset="0"/>
              </a:rPr>
              <a:t>code</a:t>
            </a:r>
            <a:r>
              <a:rPr lang="pt-BR" sz="1500" dirty="0">
                <a:latin typeface="Consolas" panose="020B0609020204030204" pitchFamily="49" charset="0"/>
              </a:rPr>
              <a:t>: "CS101", </a:t>
            </a:r>
            <a:r>
              <a:rPr lang="pt-BR" sz="1500" dirty="0" err="1">
                <a:latin typeface="Consolas" panose="020B0609020204030204" pitchFamily="49" charset="0"/>
              </a:rPr>
              <a:t>title</a:t>
            </a:r>
            <a:r>
              <a:rPr lang="pt-BR" sz="1500" dirty="0">
                <a:latin typeface="Consolas" panose="020B0609020204030204" pitchFamily="49" charset="0"/>
              </a:rPr>
              <a:t>: "</a:t>
            </a:r>
            <a:r>
              <a:rPr lang="pt-BR" sz="1500" dirty="0" err="1">
                <a:latin typeface="Consolas" panose="020B0609020204030204" pitchFamily="49" charset="0"/>
              </a:rPr>
              <a:t>Programming</a:t>
            </a:r>
            <a:r>
              <a:rPr lang="pt-BR" sz="1500" dirty="0">
                <a:latin typeface="Consolas" panose="020B0609020204030204" pitchFamily="49" charset="0"/>
              </a:rPr>
              <a:t> Fundamentals" },
      { </a:t>
            </a:r>
            <a:r>
              <a:rPr lang="pt-BR" sz="1500" dirty="0" err="1">
                <a:latin typeface="Consolas" panose="020B0609020204030204" pitchFamily="49" charset="0"/>
              </a:rPr>
              <a:t>code</a:t>
            </a:r>
            <a:r>
              <a:rPr lang="pt-BR" sz="1500" dirty="0">
                <a:latin typeface="Consolas" panose="020B0609020204030204" pitchFamily="49" charset="0"/>
              </a:rPr>
              <a:t>: "CS102", </a:t>
            </a:r>
            <a:r>
              <a:rPr lang="pt-BR" sz="1500" dirty="0" err="1">
                <a:latin typeface="Consolas" panose="020B0609020204030204" pitchFamily="49" charset="0"/>
              </a:rPr>
              <a:t>title</a:t>
            </a:r>
            <a:r>
              <a:rPr lang="pt-BR" sz="1500" dirty="0">
                <a:latin typeface="Consolas" panose="020B0609020204030204" pitchFamily="49" charset="0"/>
              </a:rPr>
              <a:t>: "</a:t>
            </a:r>
            <a:r>
              <a:rPr lang="pt-BR" sz="1500" dirty="0" err="1">
                <a:latin typeface="Consolas" panose="020B0609020204030204" pitchFamily="49" charset="0"/>
              </a:rPr>
              <a:t>Database</a:t>
            </a:r>
            <a:r>
              <a:rPr lang="pt-BR" sz="1500" dirty="0">
                <a:latin typeface="Consolas" panose="020B0609020204030204" pitchFamily="49" charset="0"/>
              </a:rPr>
              <a:t> Systems" }
    ]
  }
]);</a:t>
            </a:r>
          </a:p>
        </p:txBody>
      </p:sp>
    </p:spTree>
    <p:extLst>
      <p:ext uri="{BB962C8B-B14F-4D97-AF65-F5344CB8AC3E}">
        <p14:creationId xmlns:p14="http://schemas.microsoft.com/office/powerpoint/2010/main" val="770274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8AF3B-D835-5064-0553-F2826351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- Run and Test</a:t>
            </a:r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EF714F8-1C11-EEA4-9ED8-841CB6D6DF09}"/>
              </a:ext>
            </a:extLst>
          </p:cNvPr>
          <p:cNvSpPr txBox="1"/>
          <p:nvPr/>
        </p:nvSpPr>
        <p:spPr>
          <a:xfrm>
            <a:off x="508000" y="1143000"/>
            <a:ext cx="7874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/>
              <a:t>Bring the services up exactly from inside the prj folder.</a:t>
            </a:r>
            <a:endParaRPr lang="pt-BR" sz="200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4444310-8290-B68F-8CE7-157032419F75}"/>
              </a:ext>
            </a:extLst>
          </p:cNvPr>
          <p:cNvSpPr txBox="1"/>
          <p:nvPr/>
        </p:nvSpPr>
        <p:spPr>
          <a:xfrm>
            <a:off x="508000" y="1841500"/>
            <a:ext cx="7874000" cy="3488134"/>
          </a:xfrm>
          <a:prstGeom prst="rect">
            <a:avLst/>
          </a:prstGeom>
          <a:solidFill>
            <a:srgbClr val="F2F2F2"/>
          </a:solidFill>
          <a:ln/>
        </p:spPr>
        <p:txBody>
          <a:bodyPr vert="horz" lIns="152400" tIns="127000" rIns="152400" bIns="127000" rtlCol="0">
            <a:spAutoFit/>
          </a:bodyPr>
          <a:lstStyle/>
          <a:p>
            <a:r>
              <a:rPr lang="pt-BR" sz="1500" dirty="0">
                <a:latin typeface="Consolas" panose="020B0609020204030204" pitchFamily="49" charset="0"/>
              </a:rPr>
              <a:t># </a:t>
            </a:r>
            <a:r>
              <a:rPr lang="pt-BR" sz="1500" dirty="0" err="1">
                <a:latin typeface="Consolas" panose="020B0609020204030204" pitchFamily="49" charset="0"/>
              </a:rPr>
              <a:t>cd</a:t>
            </a:r>
            <a:r>
              <a:rPr lang="pt-BR" sz="1500" dirty="0">
                <a:latin typeface="Consolas" panose="020B0609020204030204" pitchFamily="49" charset="0"/>
              </a:rPr>
              <a:t> </a:t>
            </a:r>
            <a:r>
              <a:rPr lang="pt-BR" sz="1500" dirty="0" err="1">
                <a:latin typeface="Consolas" panose="020B0609020204030204" pitchFamily="49" charset="0"/>
              </a:rPr>
              <a:t>into</a:t>
            </a:r>
            <a:r>
              <a:rPr lang="pt-BR" sz="1500" dirty="0">
                <a:latin typeface="Consolas" panose="020B0609020204030204" pitchFamily="49" charset="0"/>
              </a:rPr>
              <a:t> </a:t>
            </a:r>
            <a:r>
              <a:rPr lang="pt-BR" sz="1500" dirty="0" err="1">
                <a:latin typeface="Consolas" panose="020B0609020204030204" pitchFamily="49" charset="0"/>
              </a:rPr>
              <a:t>your</a:t>
            </a:r>
            <a:r>
              <a:rPr lang="pt-BR" sz="1500" dirty="0">
                <a:latin typeface="Consolas" panose="020B0609020204030204" pitchFamily="49" charset="0"/>
              </a:rPr>
              <a:t> Project root
# start </a:t>
            </a:r>
            <a:r>
              <a:rPr lang="pt-BR" sz="1500" dirty="0" err="1">
                <a:latin typeface="Consolas" panose="020B0609020204030204" pitchFamily="49" charset="0"/>
              </a:rPr>
              <a:t>services</a:t>
            </a:r>
            <a:r>
              <a:rPr lang="pt-BR" sz="1500" dirty="0">
                <a:latin typeface="Consolas" panose="020B0609020204030204" pitchFamily="49" charset="0"/>
              </a:rPr>
              <a:t>
- assumes composse file in Project root</a:t>
            </a:r>
          </a:p>
          <a:p>
            <a:endParaRPr lang="pt-BR" sz="1500" dirty="0">
              <a:latin typeface="Consolas" panose="020B0609020204030204" pitchFamily="49" charset="0"/>
            </a:endParaRPr>
          </a:p>
          <a:p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&gt;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docker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compose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up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 -d --build</a:t>
            </a:r>
            <a:r>
              <a:rPr lang="pt-BR" sz="1500" dirty="0">
                <a:latin typeface="Consolas" panose="020B0609020204030204" pitchFamily="49" charset="0"/>
              </a:rPr>
              <a:t>
# </a:t>
            </a:r>
            <a:r>
              <a:rPr lang="pt-BR" sz="1500" dirty="0" err="1">
                <a:latin typeface="Consolas" panose="020B0609020204030204" pitchFamily="49" charset="0"/>
              </a:rPr>
              <a:t>confirm</a:t>
            </a:r>
            <a:r>
              <a:rPr lang="pt-BR" sz="1500" dirty="0">
                <a:latin typeface="Consolas" panose="020B0609020204030204" pitchFamily="49" charset="0"/>
              </a:rPr>
              <a:t> containers are running
</a:t>
            </a:r>
          </a:p>
          <a:p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&gt;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docker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ps</a:t>
            </a:r>
            <a:r>
              <a:rPr lang="pt-BR" sz="1500" dirty="0">
                <a:latin typeface="Consolas" panose="020B0609020204030204" pitchFamily="49" charset="0"/>
              </a:rPr>
              <a:t>
# open </a:t>
            </a:r>
            <a:r>
              <a:rPr lang="pt-BR" sz="1500" dirty="0" err="1">
                <a:latin typeface="Consolas" panose="020B0609020204030204" pitchFamily="49" charset="0"/>
              </a:rPr>
              <a:t>mongosh</a:t>
            </a:r>
            <a:r>
              <a:rPr lang="pt-BR" sz="1500" dirty="0">
                <a:latin typeface="Consolas" panose="020B0609020204030204" pitchFamily="49" charset="0"/>
              </a:rPr>
              <a:t> </a:t>
            </a:r>
            <a:r>
              <a:rPr lang="pt-BR" sz="1500" dirty="0" err="1">
                <a:latin typeface="Consolas" panose="020B0609020204030204" pitchFamily="49" charset="0"/>
              </a:rPr>
              <a:t>inside</a:t>
            </a:r>
            <a:r>
              <a:rPr lang="pt-BR" sz="1500" dirty="0">
                <a:latin typeface="Consolas" panose="020B0609020204030204" pitchFamily="49" charset="0"/>
              </a:rPr>
              <a:t> </a:t>
            </a:r>
            <a:r>
              <a:rPr lang="pt-BR" sz="1500" dirty="0" err="1">
                <a:latin typeface="Consolas" panose="020B0609020204030204" pitchFamily="49" charset="0"/>
              </a:rPr>
              <a:t>the</a:t>
            </a:r>
            <a:r>
              <a:rPr lang="pt-BR" sz="1500" dirty="0">
                <a:latin typeface="Consolas" panose="020B0609020204030204" pitchFamily="49" charset="0"/>
              </a:rPr>
              <a:t> container
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&gt;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docker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exec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 -it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lab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-mongo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mongosh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 -u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labuser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 -p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labpass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 --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authenticationDatabase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 admin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C177DFD-5813-BA4B-168D-278CE0AF2B42}"/>
              </a:ext>
            </a:extLst>
          </p:cNvPr>
          <p:cNvSpPr txBox="1"/>
          <p:nvPr/>
        </p:nvSpPr>
        <p:spPr>
          <a:xfrm>
            <a:off x="508000" y="5628024"/>
            <a:ext cx="7874000" cy="1410643"/>
          </a:xfrm>
          <a:prstGeom prst="rect">
            <a:avLst/>
          </a:prstGeom>
          <a:solidFill>
            <a:srgbClr val="F2F2F2"/>
          </a:solidFill>
          <a:ln/>
        </p:spPr>
        <p:txBody>
          <a:bodyPr vert="horz" lIns="152400" tIns="127000" rIns="152400" bIns="127000" rtlCol="0">
            <a:spAutoFit/>
          </a:bodyPr>
          <a:lstStyle/>
          <a:p>
            <a:r>
              <a:rPr lang="pt-BR" sz="15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docker</a:t>
            </a:r>
            <a:r>
              <a:rPr lang="pt-BR" sz="1500" b="1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exec</a:t>
            </a:r>
            <a:r>
              <a:rPr lang="pt-BR" sz="1500" b="1" dirty="0">
                <a:solidFill>
                  <a:srgbClr val="FF0000"/>
                </a:solidFill>
                <a:latin typeface="Consolas" panose="020B0609020204030204" pitchFamily="49" charset="0"/>
              </a:rPr>
              <a:t> –it?</a:t>
            </a:r>
          </a:p>
          <a:p>
            <a:r>
              <a:rPr lang="pt-BR" sz="1500" b="1" dirty="0">
                <a:latin typeface="Consolas" panose="020B0609020204030204" pitchFamily="49" charset="0"/>
              </a:rPr>
              <a:t>– </a:t>
            </a:r>
            <a:r>
              <a:rPr lang="pt-BR" sz="1500" b="1" dirty="0" err="1">
                <a:latin typeface="Consolas" panose="020B0609020204030204" pitchFamily="49" charset="0"/>
              </a:rPr>
              <a:t>That</a:t>
            </a:r>
            <a:r>
              <a:rPr lang="pt-BR" sz="1500" b="1" dirty="0"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latin typeface="Consolas" panose="020B0609020204030204" pitchFamily="49" charset="0"/>
              </a:rPr>
              <a:t>is</a:t>
            </a:r>
            <a:r>
              <a:rPr lang="pt-BR" sz="1500" b="1" dirty="0"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latin typeface="Consolas" panose="020B0609020204030204" pitchFamily="49" charset="0"/>
              </a:rPr>
              <a:t>how</a:t>
            </a:r>
            <a:r>
              <a:rPr lang="pt-BR" sz="1500" b="1" dirty="0"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latin typeface="Consolas" panose="020B0609020204030204" pitchFamily="49" charset="0"/>
              </a:rPr>
              <a:t>we</a:t>
            </a:r>
            <a:r>
              <a:rPr lang="pt-BR" sz="1500" b="1" dirty="0"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latin typeface="Consolas" panose="020B0609020204030204" pitchFamily="49" charset="0"/>
              </a:rPr>
              <a:t>enter</a:t>
            </a:r>
            <a:r>
              <a:rPr lang="pt-BR" sz="1500" b="1" dirty="0"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latin typeface="Consolas" panose="020B0609020204030204" pitchFamily="49" charset="0"/>
              </a:rPr>
              <a:t>inside</a:t>
            </a:r>
            <a:r>
              <a:rPr lang="pt-BR" sz="1500" b="1" dirty="0">
                <a:latin typeface="Consolas" panose="020B0609020204030204" pitchFamily="49" charset="0"/>
              </a:rPr>
              <a:t> a container</a:t>
            </a:r>
          </a:p>
          <a:p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-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lab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-mongo </a:t>
            </a:r>
            <a:r>
              <a:rPr lang="pt-BR" sz="1500" b="1" dirty="0" err="1">
                <a:latin typeface="Consolas" panose="020B0609020204030204" pitchFamily="49" charset="0"/>
              </a:rPr>
              <a:t>is</a:t>
            </a:r>
            <a:r>
              <a:rPr lang="pt-BR" sz="1500" b="1" dirty="0"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latin typeface="Consolas" panose="020B0609020204030204" pitchFamily="49" charset="0"/>
              </a:rPr>
              <a:t>the</a:t>
            </a:r>
            <a:r>
              <a:rPr lang="pt-BR" sz="1500" b="1" dirty="0">
                <a:latin typeface="Consolas" panose="020B0609020204030204" pitchFamily="49" charset="0"/>
              </a:rPr>
              <a:t> container</a:t>
            </a:r>
          </a:p>
          <a:p>
            <a:r>
              <a:rPr lang="pt-BR" sz="1500" b="1" dirty="0">
                <a:latin typeface="Consolas" panose="020B0609020204030204" pitchFamily="49" charset="0"/>
              </a:rPr>
              <a:t>-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mongosh</a:t>
            </a:r>
            <a:r>
              <a:rPr lang="pt-BR" sz="1500" b="1" dirty="0"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latin typeface="Consolas" panose="020B0609020204030204" pitchFamily="49" charset="0"/>
              </a:rPr>
              <a:t>is</a:t>
            </a:r>
            <a:r>
              <a:rPr lang="pt-BR" sz="1500" b="1" dirty="0"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latin typeface="Consolas" panose="020B0609020204030204" pitchFamily="49" charset="0"/>
              </a:rPr>
              <a:t>MongoDB’s</a:t>
            </a:r>
            <a:r>
              <a:rPr lang="pt-BR" sz="1500" b="1" dirty="0">
                <a:latin typeface="Consolas" panose="020B0609020204030204" pitchFamily="49" charset="0"/>
              </a:rPr>
              <a:t> prompt/</a:t>
            </a:r>
            <a:r>
              <a:rPr lang="pt-BR" sz="1500" b="1" dirty="0" err="1">
                <a:latin typeface="Consolas" panose="020B0609020204030204" pitchFamily="49" charset="0"/>
              </a:rPr>
              <a:t>shell</a:t>
            </a:r>
            <a:endParaRPr lang="pt-BR" sz="1500" b="1" dirty="0">
              <a:latin typeface="Consolas" panose="020B0609020204030204" pitchFamily="49" charset="0"/>
            </a:endParaRPr>
          </a:p>
          <a:p>
            <a:r>
              <a:rPr lang="pt-BR" sz="1500" b="1" dirty="0">
                <a:latin typeface="Consolas" panose="020B0609020204030204" pitchFamily="49" charset="0"/>
              </a:rPr>
              <a:t>- The </a:t>
            </a:r>
            <a:r>
              <a:rPr lang="pt-BR" sz="1500" b="1" dirty="0" err="1">
                <a:latin typeface="Consolas" panose="020B0609020204030204" pitchFamily="49" charset="0"/>
              </a:rPr>
              <a:t>rest</a:t>
            </a:r>
            <a:r>
              <a:rPr lang="pt-BR" sz="1500" b="1" dirty="0">
                <a:latin typeface="Consolas" panose="020B0609020204030204" pitchFamily="49" charset="0"/>
              </a:rPr>
              <a:t> are </a:t>
            </a:r>
            <a:r>
              <a:rPr lang="pt-BR" sz="1500" b="1" dirty="0" err="1">
                <a:latin typeface="Consolas" panose="020B0609020204030204" pitchFamily="49" charset="0"/>
              </a:rPr>
              <a:t>basically</a:t>
            </a:r>
            <a:r>
              <a:rPr lang="pt-BR" sz="1500" b="1" dirty="0"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latin typeface="Consolas" panose="020B0609020204030204" pitchFamily="49" charset="0"/>
              </a:rPr>
              <a:t>the</a:t>
            </a:r>
            <a:r>
              <a:rPr lang="pt-BR" sz="1500" b="1" dirty="0"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database’s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credentials</a:t>
            </a:r>
            <a:endParaRPr lang="pt-BR" sz="1500" b="1" dirty="0">
              <a:solidFill>
                <a:srgbClr val="00B05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60647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26D2FA1-75BC-8527-1A7F-43BC2EF0D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What </a:t>
            </a:r>
            <a:b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to </a:t>
            </a:r>
            <a:b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Observe</a:t>
            </a:r>
          </a:p>
        </p:txBody>
      </p:sp>
      <p:sp>
        <p:nvSpPr>
          <p:cNvPr id="21" name="Espaço Reservado para Texto 2">
            <a:extLst>
              <a:ext uri="{FF2B5EF4-FFF2-40B4-BE49-F238E27FC236}">
                <a16:creationId xmlns:a16="http://schemas.microsoft.com/office/drawing/2014/main" id="{13F9E40C-956B-7C23-6CFB-F4840A419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7694" y="649480"/>
            <a:ext cx="4916510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MongoDB data is initialized automatically from init.js, similar to what happened with </a:t>
            </a:r>
            <a:r>
              <a:rPr lang="en-US" sz="1700" dirty="0" err="1"/>
              <a:t>init.sql</a:t>
            </a:r>
            <a:r>
              <a:rPr lang="en-US" sz="1700" dirty="0"/>
              <a:t> in PostgreSQL.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Documents are stored inside collections, not tables.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The students collection already contains nested department and </a:t>
            </a:r>
            <a:r>
              <a:rPr lang="en-US" sz="1700" dirty="0" err="1"/>
              <a:t>enrolled_courses</a:t>
            </a:r>
            <a:r>
              <a:rPr lang="en-US" sz="1700" dirty="0"/>
              <a:t> data.</a:t>
            </a:r>
          </a:p>
        </p:txBody>
      </p:sp>
    </p:spTree>
    <p:extLst>
      <p:ext uri="{BB962C8B-B14F-4D97-AF65-F5344CB8AC3E}">
        <p14:creationId xmlns:p14="http://schemas.microsoft.com/office/powerpoint/2010/main" val="28122911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CC0591-0404-0A0B-6856-B5B52346E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Practice</a:t>
            </a:r>
            <a:r>
              <a:rPr lang="pt-BR" dirty="0"/>
              <a:t> - </a:t>
            </a:r>
            <a:r>
              <a:rPr lang="pt-BR" dirty="0" err="1"/>
              <a:t>Very</a:t>
            </a:r>
            <a:r>
              <a:rPr lang="pt-BR" dirty="0"/>
              <a:t> </a:t>
            </a:r>
            <a:r>
              <a:rPr lang="pt-BR" dirty="0" err="1"/>
              <a:t>Simple</a:t>
            </a:r>
            <a:r>
              <a:rPr lang="pt-BR" dirty="0"/>
              <a:t> Queries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B5F938F-5AE0-852C-333D-6CCE09F7CDF6}"/>
              </a:ext>
            </a:extLst>
          </p:cNvPr>
          <p:cNvSpPr txBox="1"/>
          <p:nvPr/>
        </p:nvSpPr>
        <p:spPr>
          <a:xfrm>
            <a:off x="508000" y="1143000"/>
            <a:ext cx="7874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PT" sz="2000" b="1" dirty="0" err="1"/>
              <a:t>Inside</a:t>
            </a:r>
            <a:r>
              <a:rPr lang="pt-PT" sz="2000" b="1" dirty="0"/>
              <a:t> </a:t>
            </a:r>
            <a:r>
              <a:rPr lang="pt-PT" sz="2000" b="1" dirty="0" err="1"/>
              <a:t>the</a:t>
            </a:r>
            <a:r>
              <a:rPr lang="pt-PT" sz="2000" b="1" dirty="0"/>
              <a:t> container </a:t>
            </a:r>
            <a:r>
              <a:rPr lang="pt-PT" sz="2000" b="1" dirty="0" err="1"/>
              <a:t>and</a:t>
            </a:r>
            <a:r>
              <a:rPr lang="pt-PT" sz="2000" b="1" dirty="0"/>
              <a:t> </a:t>
            </a:r>
            <a:r>
              <a:rPr lang="pt-PT" sz="2000" b="1" dirty="0" err="1"/>
              <a:t>the</a:t>
            </a:r>
            <a:r>
              <a:rPr lang="pt-PT" sz="2000" b="1" dirty="0"/>
              <a:t> </a:t>
            </a:r>
            <a:r>
              <a:rPr lang="pt-PT" sz="2000" b="1" dirty="0" err="1"/>
              <a:t>mongosh</a:t>
            </a:r>
            <a:r>
              <a:rPr lang="pt-PT" sz="2000" b="1" dirty="0"/>
              <a:t>, </a:t>
            </a:r>
            <a:r>
              <a:rPr lang="pt-PT" sz="2000" b="1" dirty="0" err="1"/>
              <a:t>run</a:t>
            </a:r>
            <a:r>
              <a:rPr lang="pt-PT" sz="2000" b="1" dirty="0"/>
              <a:t> </a:t>
            </a:r>
            <a:r>
              <a:rPr lang="pt-PT" sz="2000" b="1" dirty="0" err="1"/>
              <a:t>the</a:t>
            </a:r>
            <a:r>
              <a:rPr lang="pt-PT" sz="2000" b="1" dirty="0"/>
              <a:t> </a:t>
            </a:r>
            <a:r>
              <a:rPr lang="pt-PT" sz="2000" b="1" dirty="0" err="1"/>
              <a:t>following</a:t>
            </a:r>
            <a:r>
              <a:rPr lang="pt-PT" sz="2000" b="1" dirty="0"/>
              <a:t> </a:t>
            </a:r>
            <a:r>
              <a:rPr lang="pt-PT" sz="2000" b="1" dirty="0" err="1"/>
              <a:t>commands</a:t>
            </a:r>
            <a:r>
              <a:rPr lang="pt-PT" sz="2000" b="1" dirty="0"/>
              <a:t>:</a:t>
            </a:r>
            <a:endParaRPr lang="pt-BR" sz="2000" b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1B3A034-DA2C-B2E1-C70C-C48C3C4A7B86}"/>
              </a:ext>
            </a:extLst>
          </p:cNvPr>
          <p:cNvSpPr txBox="1"/>
          <p:nvPr/>
        </p:nvSpPr>
        <p:spPr>
          <a:xfrm>
            <a:off x="508000" y="1841500"/>
            <a:ext cx="7874000" cy="4473019"/>
          </a:xfrm>
          <a:prstGeom prst="rect">
            <a:avLst/>
          </a:prstGeom>
          <a:solidFill>
            <a:srgbClr val="F2F2F2"/>
          </a:solidFill>
          <a:ln/>
        </p:spPr>
        <p:txBody>
          <a:bodyPr vert="horz" lIns="152400" tIns="127000" rIns="152400" bIns="127000" rtlCol="0">
            <a:spAutoFit/>
          </a:bodyPr>
          <a:lstStyle/>
          <a:p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&gt; use("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university_mongo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")</a:t>
            </a:r>
            <a:r>
              <a:rPr lang="pt-BR" sz="1500" dirty="0">
                <a:latin typeface="Consolas" panose="020B0609020204030204" pitchFamily="49" charset="0"/>
              </a:rPr>
              <a:t>
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&gt;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db.students.find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  <a:r>
              <a:rPr lang="pt-BR" sz="1500" dirty="0">
                <a:latin typeface="Consolas" panose="020B0609020204030204" pitchFamily="49" charset="0"/>
              </a:rPr>
              <a:t>
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&gt;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db.students.find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(
  {},
  { _id: 0,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student_number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: 1,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full_name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: 1, status: 1 }
)</a:t>
            </a:r>
            <a:r>
              <a:rPr lang="pt-BR" sz="1500" dirty="0">
                <a:latin typeface="Consolas" panose="020B0609020204030204" pitchFamily="49" charset="0"/>
              </a:rPr>
              <a:t>
</a:t>
            </a:r>
            <a:r>
              <a:rPr lang="en-US" dirty="0"/>
              <a:t>{} → no filter, so it returns </a:t>
            </a:r>
            <a:r>
              <a:rPr lang="en-US" b="1" dirty="0"/>
              <a:t>all documents</a:t>
            </a:r>
            <a:r>
              <a:rPr lang="en-US" dirty="0"/>
              <a:t> in the students collection. </a:t>
            </a:r>
          </a:p>
          <a:p>
            <a:r>
              <a:rPr lang="en-US" dirty="0"/>
              <a:t>{ _id: 0, ... } → projection (which fields to show): </a:t>
            </a:r>
          </a:p>
          <a:p>
            <a:pPr lvl="1"/>
            <a:r>
              <a:rPr lang="en-US" dirty="0"/>
              <a:t>excludes _id </a:t>
            </a:r>
          </a:p>
          <a:p>
            <a:pPr lvl="1"/>
            <a:r>
              <a:rPr lang="en-US" dirty="0"/>
              <a:t>includes </a:t>
            </a:r>
            <a:r>
              <a:rPr lang="en-US" dirty="0" err="1"/>
              <a:t>student_number</a:t>
            </a:r>
            <a:r>
              <a:rPr lang="en-US" dirty="0"/>
              <a:t>, </a:t>
            </a:r>
            <a:r>
              <a:rPr lang="en-US" dirty="0" err="1"/>
              <a:t>full_name</a:t>
            </a:r>
            <a:r>
              <a:rPr lang="en-US" dirty="0"/>
              <a:t>, and status </a:t>
            </a:r>
          </a:p>
          <a:p>
            <a:endParaRPr lang="en-US" dirty="0"/>
          </a:p>
          <a:p>
            <a:r>
              <a:rPr lang="en-US" dirty="0"/>
              <a:t>Result: lists all students showing only those three fields.</a:t>
            </a:r>
          </a:p>
          <a:p>
            <a:endParaRPr lang="en-US" sz="1600" dirty="0"/>
          </a:p>
          <a:p>
            <a:endParaRPr lang="pt-BR" sz="15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13318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67579-0473-9F41-8BA8-2155CB2FC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5F920-9B6B-33E5-CE83-D4BA58F87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Practice</a:t>
            </a:r>
            <a:r>
              <a:rPr lang="pt-BR" dirty="0"/>
              <a:t> - </a:t>
            </a:r>
            <a:r>
              <a:rPr lang="pt-BR" dirty="0" err="1"/>
              <a:t>Very</a:t>
            </a:r>
            <a:r>
              <a:rPr lang="pt-BR" dirty="0"/>
              <a:t> </a:t>
            </a:r>
            <a:r>
              <a:rPr lang="pt-BR" dirty="0" err="1"/>
              <a:t>Simple</a:t>
            </a:r>
            <a:r>
              <a:rPr lang="pt-BR" dirty="0"/>
              <a:t> Queries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441B645-0498-6D11-34E2-B7282008019F}"/>
              </a:ext>
            </a:extLst>
          </p:cNvPr>
          <p:cNvSpPr txBox="1"/>
          <p:nvPr/>
        </p:nvSpPr>
        <p:spPr>
          <a:xfrm>
            <a:off x="508000" y="1143000"/>
            <a:ext cx="7874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 b="1" dirty="0"/>
              <a:t>Notice that 0 or 1 indicates if the field will appear or not in the result</a:t>
            </a:r>
            <a:endParaRPr lang="pt-BR" sz="2000" b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2FF10A1-4FFD-DC6C-A986-40058DCC5E88}"/>
              </a:ext>
            </a:extLst>
          </p:cNvPr>
          <p:cNvSpPr txBox="1"/>
          <p:nvPr/>
        </p:nvSpPr>
        <p:spPr>
          <a:xfrm>
            <a:off x="508000" y="1841500"/>
            <a:ext cx="7874000" cy="3811300"/>
          </a:xfrm>
          <a:prstGeom prst="rect">
            <a:avLst/>
          </a:prstGeom>
          <a:solidFill>
            <a:srgbClr val="F2F2F2"/>
          </a:solidFill>
          <a:ln/>
        </p:spPr>
        <p:txBody>
          <a:bodyPr vert="horz" lIns="152400" tIns="127000" rIns="152400" bIns="127000" rtlCol="0">
            <a:spAutoFit/>
          </a:bodyPr>
          <a:lstStyle/>
          <a:p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&gt;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db.students.find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(
  { "department.name": "Computer Science" },
  { _id: 0,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full_name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: 1,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department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: 1 }
)</a:t>
            </a:r>
          </a:p>
          <a:p>
            <a:endParaRPr lang="pt-BR" sz="1500" dirty="0">
              <a:latin typeface="Consolas" panose="020B0609020204030204" pitchFamily="49" charset="0"/>
            </a:endParaRPr>
          </a:p>
          <a:p>
            <a:endParaRPr lang="pt-BR" sz="1500" dirty="0">
              <a:latin typeface="Consolas" panose="020B0609020204030204" pitchFamily="49" charset="0"/>
            </a:endParaRPr>
          </a:p>
          <a:p>
            <a:r>
              <a:rPr lang="en-US" dirty="0"/>
              <a:t>{ "department.name": "Computer Science" } → filters students whose department is </a:t>
            </a:r>
            <a:r>
              <a:rPr lang="en-US" b="1" dirty="0"/>
              <a:t>Computer Science</a:t>
            </a:r>
            <a:r>
              <a:rPr lang="en-US" dirty="0"/>
              <a:t>. </a:t>
            </a:r>
          </a:p>
          <a:p>
            <a:r>
              <a:rPr lang="en-US" dirty="0"/>
              <a:t>Projection: </a:t>
            </a:r>
          </a:p>
          <a:p>
            <a:pPr lvl="1"/>
            <a:r>
              <a:rPr lang="en-US" dirty="0"/>
              <a:t>excludes _id </a:t>
            </a:r>
          </a:p>
          <a:p>
            <a:pPr lvl="1"/>
            <a:r>
              <a:rPr lang="en-US" dirty="0"/>
              <a:t>includes </a:t>
            </a:r>
            <a:r>
              <a:rPr lang="en-US" dirty="0" err="1"/>
              <a:t>full_name</a:t>
            </a:r>
            <a:r>
              <a:rPr lang="en-US" dirty="0"/>
              <a:t> and the department object </a:t>
            </a:r>
          </a:p>
          <a:p>
            <a:r>
              <a:rPr lang="en-US" dirty="0"/>
              <a:t>Result: lists only Computer Science students, showing their name and department details.</a:t>
            </a:r>
          </a:p>
          <a:p>
            <a:endParaRPr lang="pt-BR" sz="15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6671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710E30-39B7-1FCE-D770-63C39FC61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Practice</a:t>
            </a:r>
            <a:r>
              <a:rPr lang="pt-BR" dirty="0"/>
              <a:t> - More Queries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794198F-4EC8-5C26-829D-9304272E0CF1}"/>
              </a:ext>
            </a:extLst>
          </p:cNvPr>
          <p:cNvSpPr txBox="1"/>
          <p:nvPr/>
        </p:nvSpPr>
        <p:spPr>
          <a:xfrm>
            <a:off x="508000" y="1143000"/>
            <a:ext cx="7874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 b="1" dirty="0"/>
              <a:t>Now use one simple filter on arrays and one very small aggregation.</a:t>
            </a:r>
            <a:endParaRPr lang="pt-BR" sz="2000" b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F935917-588E-2732-CCA3-D0B99B5573E6}"/>
              </a:ext>
            </a:extLst>
          </p:cNvPr>
          <p:cNvSpPr txBox="1"/>
          <p:nvPr/>
        </p:nvSpPr>
        <p:spPr>
          <a:xfrm>
            <a:off x="508000" y="1841500"/>
            <a:ext cx="7874000" cy="4642296"/>
          </a:xfrm>
          <a:prstGeom prst="rect">
            <a:avLst/>
          </a:prstGeom>
          <a:solidFill>
            <a:srgbClr val="F2F2F2"/>
          </a:solidFill>
          <a:ln/>
        </p:spPr>
        <p:txBody>
          <a:bodyPr vert="horz" lIns="152400" tIns="127000" rIns="152400" bIns="127000" rtlCol="0">
            <a:spAutoFit/>
          </a:bodyPr>
          <a:lstStyle/>
          <a:p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&gt;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db.students.find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(
  { "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enrolled_courses.code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": "CS101" },
  { _id: 0,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full_name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: 1,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enrolled_courses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: 1 }
)</a:t>
            </a:r>
          </a:p>
          <a:p>
            <a:endParaRPr lang="pt-BR" sz="1500" dirty="0">
              <a:latin typeface="Consolas" panose="020B0609020204030204" pitchFamily="49" charset="0"/>
            </a:endParaRPr>
          </a:p>
          <a:p>
            <a:r>
              <a:rPr lang="pt-BR" sz="1500" b="1" dirty="0">
                <a:latin typeface="Consolas" panose="020B0609020204030204" pitchFamily="49" charset="0"/>
              </a:rPr>
              <a:t>- </a:t>
            </a:r>
            <a:r>
              <a:rPr lang="pt-BR" sz="1500" b="1" dirty="0" err="1">
                <a:latin typeface="Consolas" panose="020B0609020204030204" pitchFamily="49" charset="0"/>
              </a:rPr>
              <a:t>You</a:t>
            </a:r>
            <a:r>
              <a:rPr lang="pt-BR" sz="1500" b="1" dirty="0"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latin typeface="Consolas" panose="020B0609020204030204" pitchFamily="49" charset="0"/>
              </a:rPr>
              <a:t>now</a:t>
            </a:r>
            <a:r>
              <a:rPr lang="pt-BR" sz="1500" b="1" dirty="0"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latin typeface="Consolas" panose="020B0609020204030204" pitchFamily="49" charset="0"/>
              </a:rPr>
              <a:t>already</a:t>
            </a:r>
            <a:r>
              <a:rPr lang="pt-BR" sz="1500" b="1" dirty="0">
                <a:latin typeface="Consolas" panose="020B0609020204030204" pitchFamily="49" charset="0"/>
              </a:rPr>
              <a:t> </a:t>
            </a:r>
            <a:r>
              <a:rPr lang="pt-BR" sz="1500" b="1" dirty="0" err="1">
                <a:latin typeface="Consolas" panose="020B0609020204030204" pitchFamily="49" charset="0"/>
              </a:rPr>
              <a:t>what</a:t>
            </a:r>
            <a:r>
              <a:rPr lang="pt-BR" sz="1500" b="1" dirty="0">
                <a:latin typeface="Consolas" panose="020B0609020204030204" pitchFamily="49" charset="0"/>
              </a:rPr>
              <a:t> it does, </a:t>
            </a:r>
            <a:r>
              <a:rPr lang="pt-BR" sz="1500" b="1" dirty="0" err="1">
                <a:latin typeface="Consolas" panose="020B0609020204030204" pitchFamily="49" charset="0"/>
              </a:rPr>
              <a:t>right</a:t>
            </a:r>
            <a:r>
              <a:rPr lang="pt-BR" sz="1500" b="1" dirty="0">
                <a:latin typeface="Consolas" panose="020B0609020204030204" pitchFamily="49" charset="0"/>
              </a:rPr>
              <a:t>?</a:t>
            </a:r>
            <a:r>
              <a:rPr lang="pt-BR" sz="1500" dirty="0">
                <a:latin typeface="Consolas" panose="020B0609020204030204" pitchFamily="49" charset="0"/>
              </a:rPr>
              <a:t>
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&gt;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db.students.aggregate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([
  {
    $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group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: {
      _id: "$status",
      </a:t>
            </a:r>
            <a:r>
              <a:rPr lang="pt-BR" sz="15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total_students</a:t>
            </a:r>
            <a:r>
              <a:rPr lang="pt-BR" sz="1500" b="1" dirty="0">
                <a:solidFill>
                  <a:srgbClr val="00B050"/>
                </a:solidFill>
                <a:latin typeface="Consolas" panose="020B0609020204030204" pitchFamily="49" charset="0"/>
              </a:rPr>
              <a:t>: { $sum: 1 }
    }
  }
])</a:t>
            </a:r>
          </a:p>
          <a:p>
            <a:endParaRPr lang="pt-BR" sz="1500" dirty="0">
              <a:latin typeface="Consolas" panose="020B0609020204030204" pitchFamily="49" charset="0"/>
            </a:endParaRPr>
          </a:p>
          <a:p>
            <a:r>
              <a:rPr lang="en-US" sz="1500" b="1" dirty="0">
                <a:latin typeface="Consolas" panose="020B0609020204030204" pitchFamily="49" charset="0"/>
              </a:rPr>
              <a:t>- Groups documents by the status field (e.g., active, inactive)</a:t>
            </a:r>
          </a:p>
          <a:p>
            <a:r>
              <a:rPr lang="en-US" sz="1500" b="1" dirty="0">
                <a:latin typeface="Consolas" panose="020B0609020204030204" pitchFamily="49" charset="0"/>
              </a:rPr>
              <a:t>- Counts how many students are in each group:$sum: 1 → adds 1 for each document</a:t>
            </a:r>
            <a:endParaRPr lang="pt-BR" sz="1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4792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5CC4D3-CA7C-6227-607B-91A0B31EE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E140F75-5762-AD51-666B-413338362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7694" y="649480"/>
            <a:ext cx="4916510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b="1" dirty="0"/>
              <a:t>Create a file named queries.txt inside </a:t>
            </a:r>
            <a:r>
              <a:rPr lang="en-US" sz="1700" b="1" dirty="0" err="1"/>
              <a:t>rsc</a:t>
            </a:r>
            <a:r>
              <a:rPr lang="en-US" sz="1700" b="1" dirty="0"/>
              <a:t> directory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b="1" dirty="0"/>
              <a:t>Save the queries or the results inside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b="1" dirty="0"/>
              <a:t>Research the appropriate queries In the documentation or with AI assistance (accountability)</a:t>
            </a:r>
          </a:p>
          <a:p>
            <a:pPr marL="114300" indent="0" defTabSz="914400">
              <a:lnSpc>
                <a:spcPct val="90000"/>
              </a:lnSpc>
              <a:buNone/>
            </a:pPr>
            <a:endParaRPr lang="en-US" sz="1700" dirty="0"/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700" dirty="0"/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1. List all students.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2. Show students and their departments.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3. Count students by status.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4. Show students enrolled in CS101.</a:t>
            </a:r>
          </a:p>
        </p:txBody>
      </p:sp>
    </p:spTree>
    <p:extLst>
      <p:ext uri="{BB962C8B-B14F-4D97-AF65-F5344CB8AC3E}">
        <p14:creationId xmlns:p14="http://schemas.microsoft.com/office/powerpoint/2010/main" val="11965261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AEBB2F-81DA-14EE-138A-05EF399C2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1A39104-7F11-834B-76C4-C42C754CE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7694" y="649480"/>
            <a:ext cx="4916510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/>
              <a:t>5. Show each student together with course code and course title.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/>
              <a:t>6. Find students with no enrolled courses.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/>
              <a:t>7. Find students from Data Science.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/>
              <a:t>8. Find students with status inactive or suspended.</a:t>
            </a:r>
          </a:p>
        </p:txBody>
      </p:sp>
    </p:spTree>
    <p:extLst>
      <p:ext uri="{BB962C8B-B14F-4D97-AF65-F5344CB8AC3E}">
        <p14:creationId xmlns:p14="http://schemas.microsoft.com/office/powerpoint/2010/main" val="815094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4DEBFF-00ED-620A-050F-FF8CCB184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BBA7A80-8BB6-4B57-5076-063EC33572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CEDA34-2C90-12D6-BBAF-A2AC907B31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3B57F86-7942-CB37-98A5-C8FC17A90E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7A838A-D283-240F-D335-C42D789B0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4A714E-BF88-B0FB-735D-6E82D9A35C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C7A048C-8CC2-90C6-1D50-C880737851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243E01-CD82-1198-B903-78FD836E6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4107A34-AA32-4590-AEA9-315394705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4182" y="2483047"/>
            <a:ext cx="2401025" cy="9942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</a:pP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Github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ABA7D81-B07B-1E29-DC24-D3CB41AD8A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28376" y="649480"/>
            <a:ext cx="6113338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You already know what comes, next…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This project must be in a </a:t>
            </a:r>
            <a:r>
              <a:rPr lang="en-US" sz="2000" b="1" dirty="0" err="1"/>
              <a:t>Github</a:t>
            </a:r>
            <a:r>
              <a:rPr lang="en-US" sz="2000" b="1" dirty="0"/>
              <a:t> repository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Invite me as collaborator: </a:t>
            </a:r>
            <a:r>
              <a:rPr lang="en-US" sz="2000" b="1" dirty="0" err="1">
                <a:solidFill>
                  <a:srgbClr val="FF0000"/>
                </a:solidFill>
              </a:rPr>
              <a:t>tgvp</a:t>
            </a:r>
            <a:endParaRPr lang="en-US" sz="2000" b="1" dirty="0">
              <a:solidFill>
                <a:srgbClr val="FF0000"/>
              </a:solidFill>
            </a:endParaRP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</a:rPr>
              <a:t>Deadline: 28/04/2026</a:t>
            </a:r>
          </a:p>
          <a:p>
            <a:pPr marL="114300" indent="0" defTabSz="914400">
              <a:lnSpc>
                <a:spcPct val="90000"/>
              </a:lnSpc>
              <a:buNone/>
            </a:pPr>
            <a:endParaRPr lang="en-US" sz="2000" b="1" dirty="0">
              <a:solidFill>
                <a:srgbClr val="FF0000"/>
              </a:solidFill>
            </a:endParaRPr>
          </a:p>
          <a:p>
            <a:pPr marL="114300" indent="0" defTabSz="914400">
              <a:lnSpc>
                <a:spcPct val="90000"/>
              </a:lnSpc>
              <a:buNone/>
            </a:pPr>
            <a:endParaRPr lang="en-US" sz="2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68903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</TotalTime>
  <Words>1988</Words>
  <Application>Microsoft Office PowerPoint</Application>
  <PresentationFormat>Apresentação na tela (4:3)</PresentationFormat>
  <Paragraphs>222</Paragraphs>
  <Slides>34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34</vt:i4>
      </vt:variant>
    </vt:vector>
  </HeadingPairs>
  <TitlesOfParts>
    <vt:vector size="40" baseType="lpstr">
      <vt:lpstr>Arial</vt:lpstr>
      <vt:lpstr>Calibri</vt:lpstr>
      <vt:lpstr>Consolas</vt:lpstr>
      <vt:lpstr>Roboto</vt:lpstr>
      <vt:lpstr>Roboto Light</vt:lpstr>
      <vt:lpstr>Office Theme</vt:lpstr>
      <vt:lpstr>Fundamentals in Data Engineering</vt:lpstr>
      <vt:lpstr>NoSQL</vt:lpstr>
      <vt:lpstr>Why not use semi-structured data?</vt:lpstr>
      <vt:lpstr>Why not use semi-structured data?</vt:lpstr>
      <vt:lpstr>Why not use semi-structured data?</vt:lpstr>
      <vt:lpstr>Why not use semi-structured data?</vt:lpstr>
      <vt:lpstr>NO-SQL: Motivation</vt:lpstr>
      <vt:lpstr>SQL x NoSQL?</vt:lpstr>
      <vt:lpstr>SQL x NoSQL?</vt:lpstr>
      <vt:lpstr>SQL x NoSQL?</vt:lpstr>
      <vt:lpstr>SQL x NoSQL?</vt:lpstr>
      <vt:lpstr>SQL x NoSQL?</vt:lpstr>
      <vt:lpstr>SQL x NoSQL?</vt:lpstr>
      <vt:lpstr>MongoDB: Document Storage</vt:lpstr>
      <vt:lpstr>MongoDB: Document Storage</vt:lpstr>
      <vt:lpstr>MongoDB: Collections and Documents</vt:lpstr>
      <vt:lpstr>MongoDB: Collections and Documents</vt:lpstr>
      <vt:lpstr>MongoDB: Collections and Documents</vt:lpstr>
      <vt:lpstr>MongoDB: Collections and Documents</vt:lpstr>
      <vt:lpstr>MongoDB Query Language (MQL)</vt:lpstr>
      <vt:lpstr>Basic Retrieval</vt:lpstr>
      <vt:lpstr>Practice  Docker Mongo</vt:lpstr>
      <vt:lpstr>Practice - Project Structure </vt:lpstr>
      <vt:lpstr>Practice - docker-compose.yml</vt:lpstr>
      <vt:lpstr>Practice - init.js</vt:lpstr>
      <vt:lpstr>Practice - init.js</vt:lpstr>
      <vt:lpstr>Practice - Run and Test</vt:lpstr>
      <vt:lpstr>What  to  Observe</vt:lpstr>
      <vt:lpstr>Practice - Very Simple Queries</vt:lpstr>
      <vt:lpstr>Practice - Very Simple Queries</vt:lpstr>
      <vt:lpstr>Practice - More Queries</vt:lpstr>
      <vt:lpstr>Questions</vt:lpstr>
      <vt:lpstr>Questions</vt:lpstr>
      <vt:lpstr>Github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TG</dc:creator>
  <cp:keywords/>
  <dc:description>generated using python-pptx</dc:description>
  <cp:lastModifiedBy>Thiago Paiva</cp:lastModifiedBy>
  <cp:revision>99</cp:revision>
  <dcterms:created xsi:type="dcterms:W3CDTF">2013-01-27T09:14:16Z</dcterms:created>
  <dcterms:modified xsi:type="dcterms:W3CDTF">2026-04-21T07:08:20Z</dcterms:modified>
  <cp:category/>
</cp:coreProperties>
</file>