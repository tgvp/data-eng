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56" r:id="rId3"/>
    <p:sldId id="280" r:id="rId4"/>
    <p:sldId id="281" r:id="rId5"/>
    <p:sldId id="282" r:id="rId6"/>
    <p:sldId id="28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1A694-0DE1-4903-855C-E603DA62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9CB2D1-5F2E-F00E-162C-B23D5259E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360120-D031-5793-E487-BE8F95AB0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4EA3EC-6935-7CB9-54AE-A815A91C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24BA51-8D9F-B8CE-61DD-04E2CE41F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483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gvp" TargetMode="External"/><Relationship Id="rId2" Type="http://schemas.openxmlformats.org/officeDocument/2006/relationships/hyperlink" Target="mailto:p7392@ulusofona.p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5314EC-3866-C16D-AABF-509E855EA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pt-PT" sz="4200">
                <a:solidFill>
                  <a:srgbClr val="FFFFFF"/>
                </a:solidFill>
              </a:rPr>
              <a:t>Fundamentals in Data Engineering</a:t>
            </a:r>
            <a:endParaRPr lang="pt-BR" sz="420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368529-A030-BD38-C8C9-50A22C8AE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pt-PT" sz="2700" b="1"/>
              <a:t>Thiago de Paiva</a:t>
            </a:r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2"/>
              </a:rPr>
              <a:t>p7392@ulusofona.pt</a:t>
            </a:r>
            <a:endParaRPr lang="pt-PT" sz="2700" b="1"/>
          </a:p>
          <a:p>
            <a:pPr algn="l">
              <a:lnSpc>
                <a:spcPct val="90000"/>
              </a:lnSpc>
            </a:pPr>
            <a:r>
              <a:rPr lang="pt-PT" sz="2700" b="1">
                <a:hlinkClick r:id="rId3"/>
              </a:rPr>
              <a:t>https://github.com/tgvp</a:t>
            </a:r>
            <a:endParaRPr lang="pt-BR" sz="2700" b="1"/>
          </a:p>
        </p:txBody>
      </p:sp>
    </p:spTree>
    <p:extLst>
      <p:ext uri="{BB962C8B-B14F-4D97-AF65-F5344CB8AC3E}">
        <p14:creationId xmlns:p14="http://schemas.microsoft.com/office/powerpoint/2010/main" val="278631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r>
              <a:rPr lang="pt-PT" sz="3500">
                <a:solidFill>
                  <a:srgbClr val="FFFFFF"/>
                </a:solidFill>
              </a:rPr>
              <a:t>Python + MongoDB</a:t>
            </a:r>
            <a:endParaRPr lang="pt-PT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5954" y="0"/>
            <a:ext cx="4967472" cy="684785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/>
              <a:t>Structured PyMongo notebook practice with CRUD and ingestion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2CD53E1C-D6A2-C7AE-9B2D-846265962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C59DAF0-95A2-1222-5B18-34047497F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07B33F2-A196-2D6F-4B19-DB0C6681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F36B44-6599-6F54-F0A8-D47FE8E21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From Previous Class to Today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0721E3-BF87-A21D-57AB-DC95538B3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• Last class focused on MongoDB with Docker Compose and mongosh inside the running container.</a:t>
            </a:r>
          </a:p>
          <a:p>
            <a:r>
              <a:rPr lang="en-US" sz="2100"/>
              <a:t>• Today we keep the same MongoDB service and the same database: university_mongo.</a:t>
            </a:r>
          </a:p>
          <a:p>
            <a:r>
              <a:rPr lang="en-US" sz="2100"/>
              <a:t>• Instead of shell-only commands, we move to a structured Python notebook with reusable classes.</a:t>
            </a:r>
          </a:p>
          <a:p>
            <a:r>
              <a:rPr lang="en-US" sz="2100"/>
              <a:t>• The output of this class is a working CRUD and ingestion pipeline for the next practical stages.</a:t>
            </a:r>
            <a:endParaRPr lang="pt-BR" sz="2100"/>
          </a:p>
        </p:txBody>
      </p:sp>
    </p:spTree>
    <p:extLst>
      <p:ext uri="{BB962C8B-B14F-4D97-AF65-F5344CB8AC3E}">
        <p14:creationId xmlns:p14="http://schemas.microsoft.com/office/powerpoint/2010/main" val="134287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F5E5AD57-7BE6-157B-1DDA-E8244CF42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D217385-A841-7D0B-5BD6-D98CE4E13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846F8E4-8DD9-E215-33F9-2D38277B3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8B4CAF-688D-A3A8-8CAA-79CF0D96A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What Are We Using?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CD6916-B898-363B-6D1F-4B345CB2F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• We are using </a:t>
            </a:r>
            <a:r>
              <a:rPr lang="en-US" sz="2100" dirty="0" err="1"/>
              <a:t>PyMongo</a:t>
            </a:r>
            <a:r>
              <a:rPr lang="en-US" sz="2100" dirty="0"/>
              <a:t>, the official MongoDB Python driver.</a:t>
            </a:r>
          </a:p>
          <a:p>
            <a:r>
              <a:rPr lang="en-US" sz="2100" dirty="0"/>
              <a:t>• </a:t>
            </a:r>
            <a:r>
              <a:rPr lang="en-US" sz="2100" dirty="0" err="1"/>
              <a:t>PyMongo</a:t>
            </a:r>
            <a:r>
              <a:rPr lang="en-US" sz="2100" dirty="0"/>
              <a:t> is not an ORM. It lets Python send MongoDB operations directly.</a:t>
            </a:r>
          </a:p>
          <a:p>
            <a:r>
              <a:rPr lang="en-US" sz="2100" dirty="0"/>
              <a:t>• Queries are written with Python dictionaries that mirror MongoDB syntax.</a:t>
            </a:r>
          </a:p>
        </p:txBody>
      </p:sp>
    </p:spTree>
    <p:extLst>
      <p:ext uri="{BB962C8B-B14F-4D97-AF65-F5344CB8AC3E}">
        <p14:creationId xmlns:p14="http://schemas.microsoft.com/office/powerpoint/2010/main" val="9882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546FE6BA-EF44-8088-442F-6BE1F5E17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950A918-FBA6-FE23-8F30-54771970C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56C42BA2-A32A-8647-D0D3-597FA231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4268E9-567D-2182-98B4-6ED0F724B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Learning Goals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A466E8-E62F-64BA-6AE1-A2B213BD7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• Connect to MongoDB from Python using MongoClient.</a:t>
            </a:r>
          </a:p>
          <a:p>
            <a:r>
              <a:rPr lang="en-US" sz="2100"/>
              <a:t>• Organize the notebook with a database class and an executor class.</a:t>
            </a:r>
          </a:p>
          <a:p>
            <a:r>
              <a:rPr lang="en-US" sz="2100"/>
              <a:t>• Implement basic selection, insertion, update, and deletion methods.</a:t>
            </a:r>
          </a:p>
          <a:p>
            <a:r>
              <a:rPr lang="en-US" sz="2100"/>
              <a:t>• Create a new collection for external raw data inside university_mongo.</a:t>
            </a:r>
          </a:p>
          <a:p>
            <a:r>
              <a:rPr lang="en-US" sz="2100"/>
              <a:t>• Build an ingestion function and finish with small validation checks only.</a:t>
            </a:r>
            <a:endParaRPr lang="pt-BR" sz="2100"/>
          </a:p>
        </p:txBody>
      </p:sp>
    </p:spTree>
    <p:extLst>
      <p:ext uri="{BB962C8B-B14F-4D97-AF65-F5344CB8AC3E}">
        <p14:creationId xmlns:p14="http://schemas.microsoft.com/office/powerpoint/2010/main" val="38680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3501AAAC-ABAB-4246-265B-C0C7C82C7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1E5C56F-F2B9-6F86-2C31-51F2778A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E088C4F8-373B-224B-D496-A68714D2E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080D38-61A4-FB71-2918-EDCCFE8A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rgbClr val="FFFFFF"/>
                </a:solidFill>
              </a:rPr>
              <a:t>Methodology</a:t>
            </a:r>
            <a:r>
              <a:rPr lang="pt-BR" dirty="0">
                <a:solidFill>
                  <a:srgbClr val="FFFFFF"/>
                </a:solidFill>
              </a:rPr>
              <a:t> for </a:t>
            </a:r>
            <a:r>
              <a:rPr lang="pt-BR" dirty="0" err="1">
                <a:solidFill>
                  <a:srgbClr val="FFFFFF"/>
                </a:solidFill>
              </a:rPr>
              <a:t>This</a:t>
            </a:r>
            <a:r>
              <a:rPr lang="pt-BR" dirty="0">
                <a:solidFill>
                  <a:srgbClr val="FFFFFF"/>
                </a:solidFill>
              </a:rPr>
              <a:t> Notebook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E086C05-C428-2916-BDF5-F2DAB51CA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• First define configuration and connection handling.</a:t>
            </a:r>
          </a:p>
          <a:p>
            <a:r>
              <a:rPr lang="en-US" sz="2100" dirty="0"/>
              <a:t>• Then isolate CRUD responsibilities in a second class.</a:t>
            </a:r>
          </a:p>
          <a:p>
            <a:r>
              <a:rPr lang="en-US" sz="2100" dirty="0"/>
              <a:t>• After that, read raw external files and map them into MongoDB documents.</a:t>
            </a:r>
          </a:p>
          <a:p>
            <a:r>
              <a:rPr lang="en-US" sz="2100" dirty="0"/>
              <a:t>• Finally, validate that the pipeline works without moving into EDA yet.</a:t>
            </a: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3306147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C82AB199-3498-584F-B75B-7FCA41402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5717BAA-BB06-4F9D-F80C-A6EAAFB25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608A2BBA-AA81-25A9-AD66-D89B378CD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81F4EC-C904-F828-7951-85C5A9B7A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Practice Files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958EEE7-0C91-BCB0-89C4-5585E6802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100" dirty="0"/>
              <a:t>• Notebook for </a:t>
            </a:r>
            <a:r>
              <a:rPr lang="pt-BR" sz="2100" dirty="0" err="1"/>
              <a:t>students</a:t>
            </a:r>
            <a:r>
              <a:rPr lang="pt-BR" sz="2100" dirty="0"/>
              <a:t>: </a:t>
            </a:r>
            <a:r>
              <a:rPr lang="pt-BR" sz="2100" dirty="0" err="1"/>
              <a:t>prj</a:t>
            </a:r>
            <a:r>
              <a:rPr lang="pt-BR" sz="2100" dirty="0"/>
              <a:t>/notebooks/5-pymongo-crud-ingestion-student.ipynb</a:t>
            </a:r>
          </a:p>
          <a:p>
            <a:r>
              <a:rPr lang="pt-BR" sz="2100" dirty="0"/>
              <a:t>• </a:t>
            </a:r>
            <a:r>
              <a:rPr lang="pt-BR" sz="2100" dirty="0" err="1"/>
              <a:t>Raw</a:t>
            </a:r>
            <a:r>
              <a:rPr lang="pt-BR" sz="2100" dirty="0"/>
              <a:t> </a:t>
            </a:r>
            <a:r>
              <a:rPr lang="pt-BR" sz="2100" dirty="0" err="1"/>
              <a:t>external</a:t>
            </a:r>
            <a:r>
              <a:rPr lang="pt-BR" sz="2100" dirty="0"/>
              <a:t> files: </a:t>
            </a:r>
            <a:r>
              <a:rPr lang="pt-BR" sz="2100" dirty="0" err="1"/>
              <a:t>raw</a:t>
            </a:r>
            <a:r>
              <a:rPr lang="pt-BR" sz="2100" dirty="0"/>
              <a:t>/</a:t>
            </a:r>
            <a:r>
              <a:rPr lang="pt-BR" sz="2100" dirty="0" err="1"/>
              <a:t>uci</a:t>
            </a:r>
            <a:r>
              <a:rPr lang="pt-BR" sz="2100" dirty="0"/>
              <a:t>-</a:t>
            </a:r>
            <a:r>
              <a:rPr lang="pt-BR" sz="2100" dirty="0" err="1"/>
              <a:t>student</a:t>
            </a:r>
            <a:r>
              <a:rPr lang="pt-BR" sz="2100" dirty="0"/>
              <a:t>-performance/</a:t>
            </a:r>
            <a:r>
              <a:rPr lang="pt-BR" sz="2100" dirty="0" err="1"/>
              <a:t>dataset</a:t>
            </a:r>
            <a:r>
              <a:rPr lang="pt-BR" sz="2100" dirty="0"/>
              <a:t>/student-mat.csv </a:t>
            </a:r>
            <a:r>
              <a:rPr lang="pt-BR" sz="2100" dirty="0" err="1"/>
              <a:t>and</a:t>
            </a:r>
            <a:r>
              <a:rPr lang="pt-BR" sz="2100" dirty="0"/>
              <a:t> student-por.csv</a:t>
            </a:r>
          </a:p>
          <a:p>
            <a:r>
              <a:rPr lang="pt-BR" sz="2100" dirty="0"/>
              <a:t>• </a:t>
            </a:r>
            <a:r>
              <a:rPr lang="pt-BR" sz="2100" dirty="0" err="1"/>
              <a:t>MongoDB</a:t>
            </a:r>
            <a:r>
              <a:rPr lang="pt-BR" sz="2100" dirty="0"/>
              <a:t> </a:t>
            </a:r>
            <a:r>
              <a:rPr lang="pt-BR" sz="2100" dirty="0" err="1"/>
              <a:t>service</a:t>
            </a:r>
            <a:r>
              <a:rPr lang="pt-BR" sz="2100" dirty="0"/>
              <a:t> </a:t>
            </a:r>
            <a:r>
              <a:rPr lang="pt-BR" sz="2100" dirty="0" err="1"/>
              <a:t>reused</a:t>
            </a:r>
            <a:r>
              <a:rPr lang="pt-BR" sz="2100" dirty="0"/>
              <a:t> </a:t>
            </a:r>
            <a:r>
              <a:rPr lang="pt-BR" sz="2100" dirty="0" err="1"/>
              <a:t>from</a:t>
            </a:r>
            <a:r>
              <a:rPr lang="pt-BR" sz="2100" dirty="0"/>
              <a:t> </a:t>
            </a:r>
            <a:r>
              <a:rPr lang="pt-BR" sz="2100" dirty="0" err="1"/>
              <a:t>the</a:t>
            </a:r>
            <a:r>
              <a:rPr lang="pt-BR" sz="2100" dirty="0"/>
              <a:t> </a:t>
            </a:r>
            <a:r>
              <a:rPr lang="pt-BR" sz="2100" dirty="0" err="1"/>
              <a:t>previous</a:t>
            </a:r>
            <a:r>
              <a:rPr lang="pt-BR" sz="2100" dirty="0"/>
              <a:t> </a:t>
            </a:r>
            <a:r>
              <a:rPr lang="pt-BR" sz="2100" dirty="0" err="1"/>
              <a:t>class</a:t>
            </a:r>
            <a:r>
              <a:rPr lang="pt-BR" sz="2100" dirty="0"/>
              <a:t>: </a:t>
            </a:r>
            <a:r>
              <a:rPr lang="pt-BR" sz="2100" dirty="0" err="1"/>
              <a:t>etc</a:t>
            </a:r>
            <a:r>
              <a:rPr lang="pt-BR" sz="2100" dirty="0"/>
              <a:t>/mongo-</a:t>
            </a:r>
            <a:r>
              <a:rPr lang="pt-BR" sz="2100" dirty="0" err="1"/>
              <a:t>docker</a:t>
            </a:r>
            <a:r>
              <a:rPr lang="pt-BR" sz="2100" dirty="0"/>
              <a:t>-</a:t>
            </a:r>
            <a:r>
              <a:rPr lang="pt-BR" sz="2100" dirty="0" err="1"/>
              <a:t>compose.yml</a:t>
            </a: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940464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B24C01DC-0F13-4350-C34F-0AEC21902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C45F6E9-19FD-5BC4-0948-9228F6BE1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FAFBFD31-2F7A-3D04-2161-1AC8DC28D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78FDBB-9A22-1774-6B46-5AF4EBEE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solidFill>
                  <a:srgbClr val="FFFFFF"/>
                </a:solidFill>
              </a:rPr>
              <a:t>Practice</a:t>
            </a:r>
            <a:r>
              <a:rPr lang="pt-BR" dirty="0">
                <a:solidFill>
                  <a:srgbClr val="FFFFFF"/>
                </a:solidFill>
              </a:rPr>
              <a:t> - Notebook Setup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E279D5-42A4-2A3D-7334-EAF5FFE99A74}"/>
              </a:ext>
            </a:extLst>
          </p:cNvPr>
          <p:cNvSpPr txBox="1"/>
          <p:nvPr/>
        </p:nvSpPr>
        <p:spPr>
          <a:xfrm>
            <a:off x="622300" y="16764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The first part of the notebook should define imports, configuration, and the target collection.</a:t>
            </a:r>
            <a:endParaRPr lang="pt-BR" sz="20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78D754B-6785-5FBB-B0B7-BE00141439D5}"/>
              </a:ext>
            </a:extLst>
          </p:cNvPr>
          <p:cNvSpPr txBox="1"/>
          <p:nvPr/>
        </p:nvSpPr>
        <p:spPr>
          <a:xfrm>
            <a:off x="508000" y="2349500"/>
            <a:ext cx="8128000" cy="3488134"/>
          </a:xfrm>
          <a:prstGeom prst="rect">
            <a:avLst/>
          </a:prstGeom>
          <a:solidFill>
            <a:srgbClr val="F2F2F2"/>
          </a:solidFill>
          <a:ln/>
        </p:spPr>
        <p:txBody>
          <a:bodyPr vert="horz" lIns="152400" tIns="127000" rIns="152400" bIns="127000" rtlCol="0">
            <a:spAutoFit/>
          </a:bodyPr>
          <a:lstStyle/>
          <a:p>
            <a:r>
              <a:rPr lang="pt-BR" sz="1500">
                <a:latin typeface="Consolas" panose="020B0609020204030204" pitchFamily="49" charset="0"/>
              </a:rPr>
              <a:t>from pathlib import Path
import pandas as pd
from pymongo import MongoClient
MONGO_CONFIG = {
    "user": "labuser",
    "password": "labpass",
    "host": "localhost",
    "port": 27017,
    "database": "university_mongo"
}
COLLECTION_NAME = "student_performance_raw"
RAW_DIR = Path("../../raw/uci-student-performance/dataset")</a:t>
            </a:r>
          </a:p>
        </p:txBody>
      </p:sp>
    </p:spTree>
    <p:extLst>
      <p:ext uri="{BB962C8B-B14F-4D97-AF65-F5344CB8AC3E}">
        <p14:creationId xmlns:p14="http://schemas.microsoft.com/office/powerpoint/2010/main" val="754237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05FC2198-8891-A20F-0583-3C5FB607E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0ECDAC4-5D43-FBF5-0213-36B16A2C0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DD31E9F4-D299-3472-F6FF-36E51E061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C4E714-AA98-2294-6E1D-D5234508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Practice - Connection Class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2C86DA-66DB-8722-7099-5DACDC5D1860}"/>
              </a:ext>
            </a:extLst>
          </p:cNvPr>
          <p:cNvSpPr txBox="1"/>
          <p:nvPr/>
        </p:nvSpPr>
        <p:spPr>
          <a:xfrm>
            <a:off x="622300" y="1676400"/>
            <a:ext cx="787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dirty="0"/>
              <a:t>Use a dedicated class for connection management</a:t>
            </a: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77A1A57-BED5-A5EA-6E78-843A014CCDFE}"/>
              </a:ext>
            </a:extLst>
          </p:cNvPr>
          <p:cNvSpPr txBox="1"/>
          <p:nvPr/>
        </p:nvSpPr>
        <p:spPr>
          <a:xfrm>
            <a:off x="508000" y="2349500"/>
            <a:ext cx="8128000" cy="3488134"/>
          </a:xfrm>
          <a:prstGeom prst="rect">
            <a:avLst/>
          </a:prstGeom>
          <a:solidFill>
            <a:srgbClr val="F2F2F2"/>
          </a:solidFill>
          <a:ln/>
        </p:spPr>
        <p:txBody>
          <a:bodyPr vert="horz" lIns="152400" tIns="127000" rIns="152400" bIns="127000" rtlCol="0">
            <a:spAutoFit/>
          </a:bodyPr>
          <a:lstStyle/>
          <a:p>
            <a:r>
              <a:rPr lang="pt-BR" sz="1500" dirty="0" err="1">
                <a:latin typeface="Consolas" panose="020B0609020204030204" pitchFamily="49" charset="0"/>
              </a:rPr>
              <a:t>class</a:t>
            </a:r>
            <a:r>
              <a:rPr lang="pt-BR" sz="1500" dirty="0">
                <a:latin typeface="Consolas" panose="020B0609020204030204" pitchFamily="49" charset="0"/>
              </a:rPr>
              <a:t> </a:t>
            </a:r>
            <a:r>
              <a:rPr lang="pt-BR" sz="1500" dirty="0" err="1">
                <a:latin typeface="Consolas" panose="020B0609020204030204" pitchFamily="49" charset="0"/>
              </a:rPr>
              <a:t>MongoDatabase</a:t>
            </a:r>
            <a:r>
              <a:rPr lang="pt-BR" sz="1500" dirty="0">
                <a:latin typeface="Consolas" panose="020B0609020204030204" pitchFamily="49" charset="0"/>
              </a:rPr>
              <a:t>:
    </a:t>
            </a:r>
            <a:r>
              <a:rPr lang="pt-BR" sz="1500" dirty="0" err="1">
                <a:latin typeface="Consolas" panose="020B0609020204030204" pitchFamily="49" charset="0"/>
              </a:rPr>
              <a:t>def</a:t>
            </a:r>
            <a:r>
              <a:rPr lang="pt-BR" sz="1500" dirty="0">
                <a:latin typeface="Consolas" panose="020B0609020204030204" pitchFamily="49" charset="0"/>
              </a:rPr>
              <a:t> __</a:t>
            </a:r>
            <a:r>
              <a:rPr lang="pt-BR" sz="1500" dirty="0" err="1">
                <a:latin typeface="Consolas" panose="020B0609020204030204" pitchFamily="49" charset="0"/>
              </a:rPr>
              <a:t>init</a:t>
            </a:r>
            <a:r>
              <a:rPr lang="pt-BR" sz="1500" dirty="0">
                <a:latin typeface="Consolas" panose="020B0609020204030204" pitchFamily="49" charset="0"/>
              </a:rPr>
              <a:t>__(self, </a:t>
            </a:r>
            <a:r>
              <a:rPr lang="pt-BR" sz="1500" dirty="0" err="1">
                <a:latin typeface="Consolas" panose="020B0609020204030204" pitchFamily="49" charset="0"/>
              </a:rPr>
              <a:t>config</a:t>
            </a:r>
            <a:r>
              <a:rPr lang="pt-BR" sz="1500" dirty="0">
                <a:latin typeface="Consolas" panose="020B0609020204030204" pitchFamily="49" charset="0"/>
              </a:rPr>
              <a:t>):
        </a:t>
            </a:r>
            <a:r>
              <a:rPr lang="pt-BR" sz="1500" dirty="0" err="1">
                <a:latin typeface="Consolas" panose="020B0609020204030204" pitchFamily="49" charset="0"/>
              </a:rPr>
              <a:t>self.config</a:t>
            </a:r>
            <a:r>
              <a:rPr lang="pt-BR" sz="1500" dirty="0">
                <a:latin typeface="Consolas" panose="020B0609020204030204" pitchFamily="49" charset="0"/>
              </a:rPr>
              <a:t> = </a:t>
            </a:r>
            <a:r>
              <a:rPr lang="pt-BR" sz="1500" dirty="0" err="1">
                <a:latin typeface="Consolas" panose="020B0609020204030204" pitchFamily="49" charset="0"/>
              </a:rPr>
              <a:t>config</a:t>
            </a:r>
            <a:r>
              <a:rPr lang="pt-BR" sz="1500" dirty="0">
                <a:latin typeface="Consolas" panose="020B0609020204030204" pitchFamily="49" charset="0"/>
              </a:rPr>
              <a:t>
        </a:t>
            </a:r>
            <a:r>
              <a:rPr lang="pt-BR" sz="1500" dirty="0" err="1">
                <a:latin typeface="Consolas" panose="020B0609020204030204" pitchFamily="49" charset="0"/>
              </a:rPr>
              <a:t>self.client</a:t>
            </a:r>
            <a:r>
              <a:rPr lang="pt-BR" sz="1500" dirty="0">
                <a:latin typeface="Consolas" panose="020B0609020204030204" pitchFamily="49" charset="0"/>
              </a:rPr>
              <a:t> = </a:t>
            </a:r>
            <a:r>
              <a:rPr lang="pt-BR" sz="1500" dirty="0" err="1">
                <a:latin typeface="Consolas" panose="020B0609020204030204" pitchFamily="49" charset="0"/>
              </a:rPr>
              <a:t>None</a:t>
            </a:r>
            <a:r>
              <a:rPr lang="pt-BR" sz="1500" dirty="0">
                <a:latin typeface="Consolas" panose="020B0609020204030204" pitchFamily="49" charset="0"/>
              </a:rPr>
              <a:t>
        </a:t>
            </a:r>
            <a:r>
              <a:rPr lang="pt-BR" sz="1500" dirty="0" err="1">
                <a:latin typeface="Consolas" panose="020B0609020204030204" pitchFamily="49" charset="0"/>
              </a:rPr>
              <a:t>self.database</a:t>
            </a:r>
            <a:r>
              <a:rPr lang="pt-BR" sz="1500" dirty="0">
                <a:latin typeface="Consolas" panose="020B0609020204030204" pitchFamily="49" charset="0"/>
              </a:rPr>
              <a:t> = </a:t>
            </a:r>
            <a:r>
              <a:rPr lang="pt-BR" sz="1500" dirty="0" err="1">
                <a:latin typeface="Consolas" panose="020B0609020204030204" pitchFamily="49" charset="0"/>
              </a:rPr>
              <a:t>None</a:t>
            </a:r>
            <a:r>
              <a:rPr lang="pt-BR" sz="1500" dirty="0">
                <a:latin typeface="Consolas" panose="020B0609020204030204" pitchFamily="49" charset="0"/>
              </a:rPr>
              <a:t>
    </a:t>
            </a:r>
            <a:r>
              <a:rPr lang="pt-BR" sz="1500" dirty="0" err="1">
                <a:latin typeface="Consolas" panose="020B0609020204030204" pitchFamily="49" charset="0"/>
              </a:rPr>
              <a:t>def</a:t>
            </a:r>
            <a:r>
              <a:rPr lang="pt-BR" sz="1500" dirty="0">
                <a:latin typeface="Consolas" panose="020B0609020204030204" pitchFamily="49" charset="0"/>
              </a:rPr>
              <a:t> </a:t>
            </a:r>
            <a:r>
              <a:rPr lang="pt-BR" sz="1500" dirty="0" err="1">
                <a:latin typeface="Consolas" panose="020B0609020204030204" pitchFamily="49" charset="0"/>
              </a:rPr>
              <a:t>connect</a:t>
            </a:r>
            <a:r>
              <a:rPr lang="pt-BR" sz="1500" dirty="0">
                <a:latin typeface="Consolas" panose="020B0609020204030204" pitchFamily="49" charset="0"/>
              </a:rPr>
              <a:t>(self):
        ...
    </a:t>
            </a:r>
            <a:r>
              <a:rPr lang="pt-BR" sz="1500" dirty="0" err="1">
                <a:latin typeface="Consolas" panose="020B0609020204030204" pitchFamily="49" charset="0"/>
              </a:rPr>
              <a:t>def</a:t>
            </a:r>
            <a:r>
              <a:rPr lang="pt-BR" sz="1500" dirty="0">
                <a:latin typeface="Consolas" panose="020B0609020204030204" pitchFamily="49" charset="0"/>
              </a:rPr>
              <a:t> </a:t>
            </a:r>
            <a:r>
              <a:rPr lang="pt-BR" sz="1500" dirty="0" err="1">
                <a:latin typeface="Consolas" panose="020B0609020204030204" pitchFamily="49" charset="0"/>
              </a:rPr>
              <a:t>get_collection</a:t>
            </a:r>
            <a:r>
              <a:rPr lang="pt-BR" sz="1500" dirty="0">
                <a:latin typeface="Consolas" panose="020B0609020204030204" pitchFamily="49" charset="0"/>
              </a:rPr>
              <a:t>(self, </a:t>
            </a:r>
            <a:r>
              <a:rPr lang="pt-BR" sz="1500" dirty="0" err="1">
                <a:latin typeface="Consolas" panose="020B0609020204030204" pitchFamily="49" charset="0"/>
              </a:rPr>
              <a:t>collection_name</a:t>
            </a:r>
            <a:r>
              <a:rPr lang="pt-BR" sz="1500" dirty="0">
                <a:latin typeface="Consolas" panose="020B0609020204030204" pitchFamily="49" charset="0"/>
              </a:rPr>
              <a:t>):
        ...
    </a:t>
            </a:r>
            <a:r>
              <a:rPr lang="pt-BR" sz="1500" dirty="0" err="1">
                <a:latin typeface="Consolas" panose="020B0609020204030204" pitchFamily="49" charset="0"/>
              </a:rPr>
              <a:t>def</a:t>
            </a:r>
            <a:r>
              <a:rPr lang="pt-BR" sz="1500" dirty="0">
                <a:latin typeface="Consolas" panose="020B0609020204030204" pitchFamily="49" charset="0"/>
              </a:rPr>
              <a:t> close(self):
        ...</a:t>
            </a:r>
          </a:p>
        </p:txBody>
      </p:sp>
    </p:spTree>
    <p:extLst>
      <p:ext uri="{BB962C8B-B14F-4D97-AF65-F5344CB8AC3E}">
        <p14:creationId xmlns:p14="http://schemas.microsoft.com/office/powerpoint/2010/main" val="47400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1FCDCD67-42CE-725A-6A75-9C47028FC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B785F31-4F9D-13DB-28EC-942D5F3C3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CAF29651-49BD-878E-80DC-2CB0E381E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5016C7-39A6-8082-EECA-E28223E7A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Practice - CRUD Executor Class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401ACC4-F06F-9A2D-4135-6C6B03897429}"/>
              </a:ext>
            </a:extLst>
          </p:cNvPr>
          <p:cNvSpPr txBox="1"/>
          <p:nvPr/>
        </p:nvSpPr>
        <p:spPr>
          <a:xfrm>
            <a:off x="622300" y="1676400"/>
            <a:ext cx="787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A second class should contain collection operations, not connection setup.</a:t>
            </a:r>
            <a:endParaRPr lang="pt-BR" sz="20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7974477-60A3-D78A-964A-BCCC5BF12D39}"/>
              </a:ext>
            </a:extLst>
          </p:cNvPr>
          <p:cNvSpPr txBox="1"/>
          <p:nvPr/>
        </p:nvSpPr>
        <p:spPr>
          <a:xfrm>
            <a:off x="508000" y="2349500"/>
            <a:ext cx="8128000" cy="3718967"/>
          </a:xfrm>
          <a:prstGeom prst="rect">
            <a:avLst/>
          </a:prstGeom>
          <a:solidFill>
            <a:srgbClr val="F2F2F2"/>
          </a:solidFill>
          <a:ln/>
        </p:spPr>
        <p:txBody>
          <a:bodyPr vert="horz" lIns="152400" tIns="127000" rIns="152400" bIns="127000" rtlCol="0">
            <a:spAutoFit/>
          </a:bodyPr>
          <a:lstStyle/>
          <a:p>
            <a:r>
              <a:rPr lang="pt-BR" sz="1500">
                <a:latin typeface="Consolas" panose="020B0609020204030204" pitchFamily="49" charset="0"/>
              </a:rPr>
              <a:t>class MongoExecutor:
    def __init__(self, collection):
        self.collection = collection
    def select(self, filter_query=None, projection=None, limit=10):
        ...
    def insert_one(self, document):
        ...
    def update_one(self, filter_query, update_query):
        ...
    def delete_one(self, filter_query):
        ...</a:t>
            </a:r>
          </a:p>
        </p:txBody>
      </p:sp>
    </p:spTree>
    <p:extLst>
      <p:ext uri="{BB962C8B-B14F-4D97-AF65-F5344CB8AC3E}">
        <p14:creationId xmlns:p14="http://schemas.microsoft.com/office/powerpoint/2010/main" val="1509138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EF42E10C-6A11-AE33-7CDF-2B45533DE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5EE8262-0BB0-D86B-0137-0163FE2E0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EBC5279D-C4C9-F372-EBB5-AC16DA3C1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CA32B4-7CDA-5E97-7F1B-98B3EEBD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Why This Structure Matters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13C16D-DDE6-0496-78ED-F63D55DD6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• It separates connection responsibilities from collection responsibilities.</a:t>
            </a:r>
          </a:p>
          <a:p>
            <a:r>
              <a:rPr lang="en-US" sz="2100"/>
              <a:t>• It keeps the notebook closer to the structured style used in earlier database classes.</a:t>
            </a:r>
          </a:p>
          <a:p>
            <a:r>
              <a:rPr lang="en-US" sz="2100"/>
              <a:t>• It makes later validation, reuse, and debugging easier.</a:t>
            </a:r>
          </a:p>
          <a:p>
            <a:r>
              <a:rPr lang="en-US" sz="2100"/>
              <a:t>• It gives students a pattern they can replicate in later notebooks and small projects.</a:t>
            </a:r>
            <a:endParaRPr lang="pt-BR" sz="2100"/>
          </a:p>
        </p:txBody>
      </p:sp>
    </p:spTree>
    <p:extLst>
      <p:ext uri="{BB962C8B-B14F-4D97-AF65-F5344CB8AC3E}">
        <p14:creationId xmlns:p14="http://schemas.microsoft.com/office/powerpoint/2010/main" val="2907044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D176978A-6ACC-80E4-C459-629981939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D0289CC-4AE7-1885-9F1F-703A780AE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2050DC08-0028-5053-19C8-467A968A4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6EB913-5C85-A7ED-D7B6-86FEEB8AD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Practice - Connect and Instantiate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19AFF9A-93EC-4B9E-DD8F-E5E3BFFF777C}"/>
              </a:ext>
            </a:extLst>
          </p:cNvPr>
          <p:cNvSpPr txBox="1"/>
          <p:nvPr/>
        </p:nvSpPr>
        <p:spPr>
          <a:xfrm>
            <a:off x="622300" y="16764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dirty="0"/>
              <a:t>After both classes exist, the notebook should connect and target the new collection.</a:t>
            </a: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9F9F493-334E-5A0E-3556-732C2767E0EC}"/>
              </a:ext>
            </a:extLst>
          </p:cNvPr>
          <p:cNvSpPr txBox="1"/>
          <p:nvPr/>
        </p:nvSpPr>
        <p:spPr>
          <a:xfrm>
            <a:off x="508000" y="2349500"/>
            <a:ext cx="8128000" cy="1872307"/>
          </a:xfrm>
          <a:prstGeom prst="rect">
            <a:avLst/>
          </a:prstGeom>
          <a:solidFill>
            <a:srgbClr val="F2F2F2"/>
          </a:solidFill>
          <a:ln/>
        </p:spPr>
        <p:txBody>
          <a:bodyPr vert="horz" lIns="152400" tIns="127000" rIns="152400" bIns="127000" rtlCol="0">
            <a:spAutoFit/>
          </a:bodyPr>
          <a:lstStyle/>
          <a:p>
            <a:r>
              <a:rPr lang="pt-BR" sz="1500">
                <a:latin typeface="Consolas" panose="020B0609020204030204" pitchFamily="49" charset="0"/>
              </a:rPr>
              <a:t>db = MongoDatabase(MONGO_CONFIG)
db.connect()
collection = db.get_collection(COLLECTION_NAME)
executor = MongoExecutor(collection)
db.client.admin.command("ping")</a:t>
            </a:r>
          </a:p>
        </p:txBody>
      </p:sp>
    </p:spTree>
    <p:extLst>
      <p:ext uri="{BB962C8B-B14F-4D97-AF65-F5344CB8AC3E}">
        <p14:creationId xmlns:p14="http://schemas.microsoft.com/office/powerpoint/2010/main" val="3604272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2988A5DE-3A08-8CA9-51B5-ED1383C17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3DFF023-7335-9AB5-315D-056DA374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2C0F90B-4F31-6E8B-CA3C-E840AF35B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5E6066-3499-C4AF-AC76-6A8F9B41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Practice - Basic CRUD Checks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A041D51-C1C1-45CB-E1A3-8E22F9028436}"/>
              </a:ext>
            </a:extLst>
          </p:cNvPr>
          <p:cNvSpPr txBox="1"/>
          <p:nvPr/>
        </p:nvSpPr>
        <p:spPr>
          <a:xfrm>
            <a:off x="622300" y="16764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Before ingestion, validate the helper methods with a small manual document.</a:t>
            </a:r>
            <a:endParaRPr lang="pt-BR" sz="20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28E76BC-5311-EF1A-54B6-C6A66DA38763}"/>
              </a:ext>
            </a:extLst>
          </p:cNvPr>
          <p:cNvSpPr txBox="1"/>
          <p:nvPr/>
        </p:nvSpPr>
        <p:spPr>
          <a:xfrm>
            <a:off x="508000" y="2349500"/>
            <a:ext cx="8128000" cy="3026470"/>
          </a:xfrm>
          <a:prstGeom prst="rect">
            <a:avLst/>
          </a:prstGeom>
          <a:solidFill>
            <a:srgbClr val="F2F2F2"/>
          </a:solidFill>
          <a:ln/>
        </p:spPr>
        <p:txBody>
          <a:bodyPr vert="horz" lIns="152400" tIns="127000" rIns="152400" bIns="127000" rtlCol="0">
            <a:spAutoFit/>
          </a:bodyPr>
          <a:lstStyle/>
          <a:p>
            <a:r>
              <a:rPr lang="pt-BR" sz="1500" dirty="0" err="1">
                <a:latin typeface="Consolas" panose="020B0609020204030204" pitchFamily="49" charset="0"/>
              </a:rPr>
              <a:t>demo_document</a:t>
            </a:r>
            <a:r>
              <a:rPr lang="pt-BR" sz="1500" dirty="0">
                <a:latin typeface="Consolas" panose="020B0609020204030204" pitchFamily="49" charset="0"/>
              </a:rPr>
              <a:t> = {
    "</a:t>
            </a:r>
            <a:r>
              <a:rPr lang="pt-BR" sz="1500" dirty="0" err="1">
                <a:latin typeface="Consolas" panose="020B0609020204030204" pitchFamily="49" charset="0"/>
              </a:rPr>
              <a:t>external_student_id</a:t>
            </a:r>
            <a:r>
              <a:rPr lang="pt-BR" sz="1500" dirty="0">
                <a:latin typeface="Consolas" panose="020B0609020204030204" pitchFamily="49" charset="0"/>
              </a:rPr>
              <a:t>": "DEMO-00001",
    "</a:t>
            </a:r>
            <a:r>
              <a:rPr lang="pt-BR" sz="1500" dirty="0" err="1">
                <a:latin typeface="Consolas" panose="020B0609020204030204" pitchFamily="49" charset="0"/>
              </a:rPr>
              <a:t>source_dataset</a:t>
            </a:r>
            <a:r>
              <a:rPr lang="pt-BR" sz="1500" dirty="0">
                <a:latin typeface="Consolas" panose="020B0609020204030204" pitchFamily="49" charset="0"/>
              </a:rPr>
              <a:t>": "manual-demo",
    "</a:t>
            </a:r>
            <a:r>
              <a:rPr lang="pt-BR" sz="1500" dirty="0" err="1">
                <a:latin typeface="Consolas" panose="020B0609020204030204" pitchFamily="49" charset="0"/>
              </a:rPr>
              <a:t>source_file</a:t>
            </a:r>
            <a:r>
              <a:rPr lang="pt-BR" sz="1500" dirty="0">
                <a:latin typeface="Consolas" panose="020B0609020204030204" pitchFamily="49" charset="0"/>
              </a:rPr>
              <a:t>": "manual",
    "</a:t>
            </a:r>
            <a:r>
              <a:rPr lang="pt-BR" sz="1500" dirty="0" err="1">
                <a:latin typeface="Consolas" panose="020B0609020204030204" pitchFamily="49" charset="0"/>
              </a:rPr>
              <a:t>school</a:t>
            </a:r>
            <a:r>
              <a:rPr lang="pt-BR" sz="1500" dirty="0">
                <a:latin typeface="Consolas" panose="020B0609020204030204" pitchFamily="49" charset="0"/>
              </a:rPr>
              <a:t>": "GP",
    "G1": 10,
    "G2": 11,
    "G3": 12
}
</a:t>
            </a:r>
            <a:r>
              <a:rPr lang="pt-BR" sz="1500" dirty="0" err="1">
                <a:latin typeface="Consolas" panose="020B0609020204030204" pitchFamily="49" charset="0"/>
              </a:rPr>
              <a:t>executor.insert_one</a:t>
            </a:r>
            <a:r>
              <a:rPr lang="pt-BR" sz="1500" dirty="0">
                <a:latin typeface="Consolas" panose="020B0609020204030204" pitchFamily="49" charset="0"/>
              </a:rPr>
              <a:t>(</a:t>
            </a:r>
            <a:r>
              <a:rPr lang="pt-BR" sz="1500" dirty="0" err="1">
                <a:latin typeface="Consolas" panose="020B0609020204030204" pitchFamily="49" charset="0"/>
              </a:rPr>
              <a:t>demo_document</a:t>
            </a:r>
            <a:r>
              <a:rPr lang="pt-BR" sz="1500" dirty="0">
                <a:latin typeface="Consolas" panose="020B0609020204030204" pitchFamily="49" charset="0"/>
              </a:rPr>
              <a:t>)
</a:t>
            </a:r>
            <a:r>
              <a:rPr lang="pt-BR" sz="1500" dirty="0" err="1">
                <a:latin typeface="Consolas" panose="020B0609020204030204" pitchFamily="49" charset="0"/>
              </a:rPr>
              <a:t>executor.select</a:t>
            </a:r>
            <a:r>
              <a:rPr lang="pt-BR" sz="1500" dirty="0">
                <a:latin typeface="Consolas" panose="020B0609020204030204" pitchFamily="49" charset="0"/>
              </a:rPr>
              <a:t>({"</a:t>
            </a:r>
            <a:r>
              <a:rPr lang="pt-BR" sz="1500" dirty="0" err="1">
                <a:latin typeface="Consolas" panose="020B0609020204030204" pitchFamily="49" charset="0"/>
              </a:rPr>
              <a:t>external_student_id</a:t>
            </a:r>
            <a:r>
              <a:rPr lang="pt-BR" sz="1500" dirty="0">
                <a:latin typeface="Consolas" panose="020B0609020204030204" pitchFamily="49" charset="0"/>
              </a:rPr>
              <a:t>": "DEMO-00001"})</a:t>
            </a:r>
          </a:p>
        </p:txBody>
      </p:sp>
    </p:spTree>
    <p:extLst>
      <p:ext uri="{BB962C8B-B14F-4D97-AF65-F5344CB8AC3E}">
        <p14:creationId xmlns:p14="http://schemas.microsoft.com/office/powerpoint/2010/main" val="3219394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487B10CE-1599-B5F1-0D80-0DC04A605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D54C191-444A-CC93-0381-D41E5197D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05B5665-296A-BE1D-67F5-DD6B98638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18A27B-516D-9E92-E970-9A1B7D8BD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Practice - Update and Delete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8D547AE-6B78-408D-D291-45ADC053CCAE}"/>
              </a:ext>
            </a:extLst>
          </p:cNvPr>
          <p:cNvSpPr txBox="1"/>
          <p:nvPr/>
        </p:nvSpPr>
        <p:spPr>
          <a:xfrm>
            <a:off x="622300" y="16764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The CRUD cycle should include one simple update and one simple deletion.</a:t>
            </a:r>
            <a:endParaRPr lang="pt-BR" sz="20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3F5E6CA-0B8B-0923-4E9E-0FDF7BA13556}"/>
              </a:ext>
            </a:extLst>
          </p:cNvPr>
          <p:cNvSpPr txBox="1"/>
          <p:nvPr/>
        </p:nvSpPr>
        <p:spPr>
          <a:xfrm>
            <a:off x="508000" y="2349500"/>
            <a:ext cx="8128000" cy="1641475"/>
          </a:xfrm>
          <a:prstGeom prst="rect">
            <a:avLst/>
          </a:prstGeom>
          <a:solidFill>
            <a:srgbClr val="F2F2F2"/>
          </a:solidFill>
          <a:ln/>
        </p:spPr>
        <p:txBody>
          <a:bodyPr vert="horz" lIns="152400" tIns="127000" rIns="152400" bIns="127000" rtlCol="0">
            <a:spAutoFit/>
          </a:bodyPr>
          <a:lstStyle/>
          <a:p>
            <a:r>
              <a:rPr lang="pt-BR" sz="1500">
                <a:latin typeface="Consolas" panose="020B0609020204030204" pitchFamily="49" charset="0"/>
              </a:rPr>
              <a:t>executor.update_one(
    {"external_student_id": "DEMO-00001"},
    {"$set": {"G3": 14}}
)
executor.delete_one({"external_student_id": "DEMO-00001"})</a:t>
            </a:r>
          </a:p>
        </p:txBody>
      </p:sp>
    </p:spTree>
    <p:extLst>
      <p:ext uri="{BB962C8B-B14F-4D97-AF65-F5344CB8AC3E}">
        <p14:creationId xmlns:p14="http://schemas.microsoft.com/office/powerpoint/2010/main" val="1229876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698FAEF3-8342-0FF5-ACDC-F4CCA82D0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C0504B0-21AE-7CCD-71D9-629571682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CF5844A-9C09-468C-2014-883670C5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AF87B7-0A48-3FC8-7A20-EDD9FF4D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External Raw Data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E2DB27-C239-BD1C-5E72-46BA736BCA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• The ingestion source is external raw data from the UCI Student Performance dataset.</a:t>
            </a:r>
          </a:p>
          <a:p>
            <a:r>
              <a:rPr lang="en-US" sz="2100" dirty="0"/>
              <a:t>• Files already stored in raw: student-mat.csv and student-por.csv.</a:t>
            </a:r>
          </a:p>
          <a:p>
            <a:r>
              <a:rPr lang="en-US" sz="2100" dirty="0"/>
              <a:t>• Important detail: both CSV files use semicolon separators.</a:t>
            </a:r>
          </a:p>
          <a:p>
            <a:r>
              <a:rPr lang="en-US" sz="2100" dirty="0"/>
              <a:t>• This dataset stays in the education domain and fits the next EDA class, but EDA is not part of today.</a:t>
            </a: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1495275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891D14E6-D0C7-2260-60AB-065C86F55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3DAA1DB-7A1F-0674-0FA8-6018AB8D6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5B86A1ED-4B25-ABF3-80BF-B933A298F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BD4B22-11B0-A3A4-36FC-605EA9ED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New Collection for This Class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FA0DA3-D483-AA15-8B55-5DE1FA41F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• Do not overwrite the existing students collection used in the previous MongoDB practice.</a:t>
            </a:r>
          </a:p>
          <a:p>
            <a:r>
              <a:rPr lang="en-US" sz="2100" dirty="0"/>
              <a:t>• Create and use a new collection named </a:t>
            </a:r>
            <a:r>
              <a:rPr lang="en-US" sz="2100" dirty="0" err="1"/>
              <a:t>student_performance</a:t>
            </a:r>
            <a:r>
              <a:rPr lang="en-US" sz="2100" dirty="0"/>
              <a:t>.</a:t>
            </a:r>
          </a:p>
          <a:p>
            <a:r>
              <a:rPr lang="en-US" sz="2100" dirty="0"/>
              <a:t>• This keeps the previous data intact and makes the new ingestion pipeline easy to inspect.</a:t>
            </a:r>
          </a:p>
          <a:p>
            <a:r>
              <a:rPr lang="en-US" sz="2100" dirty="0"/>
              <a:t>• A later EDA notebook will use this collection as its source.</a:t>
            </a: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732139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5DEC84AA-3EE5-A965-EF3A-119871D44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6326875-1228-C39B-776C-692CCF4C8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D8F5F582-40BB-A216-6D18-358B9269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76C483-4D20-DADF-41FC-A8FC7635F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Practice - Raw Files and Paths</a:t>
            </a:r>
            <a:endParaRPr lang="pt-BR">
              <a:solidFill>
                <a:srgbClr val="FFFFFF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3EE0BC-0320-80D4-FB0C-85CE6F929A2D}"/>
              </a:ext>
            </a:extLst>
          </p:cNvPr>
          <p:cNvSpPr txBox="1"/>
          <p:nvPr/>
        </p:nvSpPr>
        <p:spPr>
          <a:xfrm>
            <a:off x="622300" y="16764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dirty="0"/>
              <a:t>The notebook should read the external files directly from raw and inspect only a few rows.</a:t>
            </a: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657F816-FAB7-7380-4B0C-01FA891E74E0}"/>
              </a:ext>
            </a:extLst>
          </p:cNvPr>
          <p:cNvSpPr txBox="1"/>
          <p:nvPr/>
        </p:nvSpPr>
        <p:spPr>
          <a:xfrm>
            <a:off x="508000" y="2349500"/>
            <a:ext cx="8128000" cy="2333972"/>
          </a:xfrm>
          <a:prstGeom prst="rect">
            <a:avLst/>
          </a:prstGeom>
          <a:solidFill>
            <a:srgbClr val="F2F2F2"/>
          </a:solidFill>
          <a:ln/>
        </p:spPr>
        <p:txBody>
          <a:bodyPr vert="horz" lIns="152400" tIns="127000" rIns="152400" bIns="127000" rtlCol="0">
            <a:spAutoFit/>
          </a:bodyPr>
          <a:lstStyle/>
          <a:p>
            <a:r>
              <a:rPr lang="pt-BR" sz="1500">
                <a:latin typeface="Consolas" panose="020B0609020204030204" pitchFamily="49" charset="0"/>
              </a:rPr>
              <a:t>RAW_DIR = Path("../../raw/uci-student-performance/dataset")
mat_path = RAW_DIR / "student-mat.csv"
por_path = RAW_DIR / "student-por.csv"
df_mat = pd.read_csv(mat_path, sep=";")
df_por = pd.read_csv(por_path, sep=";")
df_mat.head(3)</a:t>
            </a:r>
          </a:p>
        </p:txBody>
      </p:sp>
    </p:spTree>
    <p:extLst>
      <p:ext uri="{BB962C8B-B14F-4D97-AF65-F5344CB8AC3E}">
        <p14:creationId xmlns:p14="http://schemas.microsoft.com/office/powerpoint/2010/main" val="304290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9E07EB57-9CFA-98C1-E70E-C82495DA6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FD59B24-1277-A96C-0E68-DFB2CB90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45FDD2E-9044-F9A0-4FF0-ADE954BFE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BD20AB-485B-023D-ED02-AACF0F4B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Practice - Mapping Function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0FB5D69-4E84-2AEE-6A6A-47F1B88D61E2}"/>
              </a:ext>
            </a:extLst>
          </p:cNvPr>
          <p:cNvSpPr txBox="1"/>
          <p:nvPr/>
        </p:nvSpPr>
        <p:spPr>
          <a:xfrm>
            <a:off x="622300" y="16764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dirty="0"/>
              <a:t>Each raw row must be converted into a stable MongoDB document before insertion.</a:t>
            </a: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979AB44-0645-7D57-BB7A-84256B7C0AF4}"/>
              </a:ext>
            </a:extLst>
          </p:cNvPr>
          <p:cNvSpPr txBox="1"/>
          <p:nvPr/>
        </p:nvSpPr>
        <p:spPr>
          <a:xfrm>
            <a:off x="508000" y="2349500"/>
            <a:ext cx="8128000" cy="3718967"/>
          </a:xfrm>
          <a:prstGeom prst="rect">
            <a:avLst/>
          </a:prstGeom>
          <a:solidFill>
            <a:srgbClr val="F2F2F2"/>
          </a:solidFill>
          <a:ln/>
        </p:spPr>
        <p:txBody>
          <a:bodyPr vert="horz" lIns="152400" tIns="127000" rIns="152400" bIns="127000" rtlCol="0">
            <a:spAutoFit/>
          </a:bodyPr>
          <a:lstStyle/>
          <a:p>
            <a:r>
              <a:rPr lang="pt-BR" sz="1500">
                <a:latin typeface="Consolas" panose="020B0609020204030204" pitchFamily="49" charset="0"/>
              </a:rPr>
              <a:t>def map_external_record(record, dataset_name, row_number):
    return {
        "external_student_id": f"{dataset_name}-{row_number:05d}",
        "source_dataset": "UCI Student Performance",
        "source_file": dataset_name,
        "school": record["school"],
        "sex": record["sex"],
        "age": int(record["age"]),
        "studytime": int(record["studytime"]),
        "failures": int(record["failures"]),
        "absences": int(record["absences"]),
        "G1": int(record["G1"]),
        "G2": int(record["G2"]),
        "G3": int(record["G3"])
    }</a:t>
            </a:r>
          </a:p>
        </p:txBody>
      </p:sp>
    </p:spTree>
    <p:extLst>
      <p:ext uri="{BB962C8B-B14F-4D97-AF65-F5344CB8AC3E}">
        <p14:creationId xmlns:p14="http://schemas.microsoft.com/office/powerpoint/2010/main" val="2191346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E21091CF-23D6-AB35-DDE9-CBDFB289A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F50FF54-658F-DA8D-B36B-1870913F1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C47CCFEC-8F6F-B44F-D915-48CF19B8D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7049F1-C640-13FD-C81F-DE50EF38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Practice - ingest_data()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48D3C0-51AA-B618-F61A-004882A98E9B}"/>
              </a:ext>
            </a:extLst>
          </p:cNvPr>
          <p:cNvSpPr txBox="1"/>
          <p:nvPr/>
        </p:nvSpPr>
        <p:spPr>
          <a:xfrm>
            <a:off x="622300" y="1676400"/>
            <a:ext cx="7874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dirty="0"/>
              <a:t>The ingestion function must read, map, insert, and return a small summary.</a:t>
            </a:r>
            <a:endParaRPr lang="pt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2C6499-1AC5-9207-EAB1-D190A1C150CD}"/>
              </a:ext>
            </a:extLst>
          </p:cNvPr>
          <p:cNvSpPr txBox="1"/>
          <p:nvPr/>
        </p:nvSpPr>
        <p:spPr>
          <a:xfrm>
            <a:off x="508000" y="2349500"/>
            <a:ext cx="8128000" cy="3488134"/>
          </a:xfrm>
          <a:prstGeom prst="rect">
            <a:avLst/>
          </a:prstGeom>
          <a:solidFill>
            <a:srgbClr val="F2F2F2"/>
          </a:solidFill>
          <a:ln/>
        </p:spPr>
        <p:txBody>
          <a:bodyPr vert="horz" lIns="152400" tIns="127000" rIns="152400" bIns="127000" rtlCol="0">
            <a:spAutoFit/>
          </a:bodyPr>
          <a:lstStyle/>
          <a:p>
            <a:r>
              <a:rPr lang="pt-BR" sz="1500">
                <a:latin typeface="Consolas" panose="020B0609020204030204" pitchFamily="49" charset="0"/>
              </a:rPr>
              <a:t>def ingest_data(executor, csv_path, limit=None):
    df = pd.read_csv(csv_path, sep=";")
    if limit is not None:
        df = df.head(limit)
    documents = []
    for row_number, record in enumerate(df.to_dict("records"), start=1):
        documents.append(
            map_external_record(record, csv_path.name, row_number)
        )
    result = executor.insert_many(documents)
    return {"inserted_count": len(result.inserted_ids)}</a:t>
            </a:r>
          </a:p>
        </p:txBody>
      </p:sp>
    </p:spTree>
    <p:extLst>
      <p:ext uri="{BB962C8B-B14F-4D97-AF65-F5344CB8AC3E}">
        <p14:creationId xmlns:p14="http://schemas.microsoft.com/office/powerpoint/2010/main" val="872770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A3C80EF9-B2DB-52C1-E164-9D58DF2CC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A37023B-C3E8-69E0-1378-A9A5D711C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426AB8DB-18C0-885B-D313-1CC64D6A2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4B3393-E21A-3B2E-AA83-B8252D558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Validation Only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21E36D-20AC-80EA-195A-8AD10BD57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• Today we do not analyze distributions, correlations, or trends.</a:t>
            </a:r>
          </a:p>
          <a:p>
            <a:r>
              <a:rPr lang="en-US" sz="2100" dirty="0"/>
              <a:t>• We only confirm that the connection works, CRUD methods work, and ingestion works.</a:t>
            </a:r>
          </a:p>
          <a:p>
            <a:r>
              <a:rPr lang="en-US" sz="2100" dirty="0"/>
              <a:t>• Typical checks are total documents, total by source file, and a sample document shape.</a:t>
            </a:r>
          </a:p>
          <a:p>
            <a:r>
              <a:rPr lang="en-US" sz="2100" dirty="0"/>
              <a:t>• This keeps the lesson focused on database programming rather than exploratory analysis.</a:t>
            </a: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999908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>
            <a:extLst>
              <a:ext uri="{FF2B5EF4-FFF2-40B4-BE49-F238E27FC236}">
                <a16:creationId xmlns:a16="http://schemas.microsoft.com/office/drawing/2014/main" id="{DAC66A77-BBAE-CFB3-9FAC-ACC171C4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6058DCC-09A7-B84F-B52B-B79808CD5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A6A5E387-969D-7D9B-1765-0FA505305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5201C2-612B-520E-934C-5087D701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Practice - Small Validation Checks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C8B56F1-B9AF-A6CA-ED33-E608F00346AF}"/>
              </a:ext>
            </a:extLst>
          </p:cNvPr>
          <p:cNvSpPr txBox="1"/>
          <p:nvPr/>
        </p:nvSpPr>
        <p:spPr>
          <a:xfrm>
            <a:off x="622300" y="1676400"/>
            <a:ext cx="787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/>
              <a:t>End the notebook with small checks that prove the pipeline is functioning.</a:t>
            </a:r>
            <a:endParaRPr lang="pt-BR" sz="20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ACA7B10-9CD7-4BD5-0E05-97AB678AE572}"/>
              </a:ext>
            </a:extLst>
          </p:cNvPr>
          <p:cNvSpPr txBox="1"/>
          <p:nvPr/>
        </p:nvSpPr>
        <p:spPr>
          <a:xfrm>
            <a:off x="508000" y="2349500"/>
            <a:ext cx="8128000" cy="2564805"/>
          </a:xfrm>
          <a:prstGeom prst="rect">
            <a:avLst/>
          </a:prstGeom>
          <a:solidFill>
            <a:srgbClr val="F2F2F2"/>
          </a:solidFill>
          <a:ln/>
        </p:spPr>
        <p:txBody>
          <a:bodyPr vert="horz" lIns="152400" tIns="127000" rIns="152400" bIns="127000" rtlCol="0">
            <a:spAutoFit/>
          </a:bodyPr>
          <a:lstStyle/>
          <a:p>
            <a:r>
              <a:rPr lang="pt-BR" sz="1500">
                <a:latin typeface="Consolas" panose="020B0609020204030204" pitchFamily="49" charset="0"/>
              </a:rPr>
              <a:t>executor.count_documents({})
executor.count_documents({"source_file": "student-mat.csv"})
executor.select(
    {"source_file": "student-mat.csv"},
    {"_id": 0, "external_student_id": 1, "school": 1, "G1": 1, "G2": 1, "G3": 1},
    limit=3
)</a:t>
            </a:r>
          </a:p>
        </p:txBody>
      </p:sp>
    </p:spTree>
    <p:extLst>
      <p:ext uri="{BB962C8B-B14F-4D97-AF65-F5344CB8AC3E}">
        <p14:creationId xmlns:p14="http://schemas.microsoft.com/office/powerpoint/2010/main" val="3336889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1BC40697-E2B2-D890-E1DC-053825DC9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62E1465-48B9-0FB8-93A9-27C648F38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E04B4755-BC23-A75A-87EA-85CB28682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2EE9D8-C91F-8B64-F712-71A98F836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FAB981-3A73-5F8D-7DBE-F5583BE0B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/>
              <a:t>1. Reuse the MongoDB container from the previous class and connect to university_mongo.</a:t>
            </a:r>
          </a:p>
          <a:p>
            <a:r>
              <a:rPr lang="en-US" sz="2200"/>
              <a:t>2. Implement MongoDatabase.</a:t>
            </a:r>
          </a:p>
          <a:p>
            <a:r>
              <a:rPr lang="en-US" sz="2200"/>
              <a:t>3. Implement MongoExecutor.</a:t>
            </a:r>
          </a:p>
          <a:p>
            <a:r>
              <a:rPr lang="en-US" sz="2200"/>
              <a:t>4. Create the collection student_performance_raw.</a:t>
            </a:r>
            <a:endParaRPr lang="pt-BR" sz="2200"/>
          </a:p>
        </p:txBody>
      </p:sp>
    </p:spTree>
    <p:extLst>
      <p:ext uri="{BB962C8B-B14F-4D97-AF65-F5344CB8AC3E}">
        <p14:creationId xmlns:p14="http://schemas.microsoft.com/office/powerpoint/2010/main" val="5834330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54B526EA-99A3-1AFA-5E82-7DB15A15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FE361F37-163B-F235-94EA-6251D3C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89CB2AA9-D709-FF8E-9DAA-BE8C01CD8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FDEA93-F673-F819-9F27-38FE6EF3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785669-A158-5BA7-425F-988BBE6E8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2200"/>
              <a:t>5. Insert, update, and delete one demo document.</a:t>
            </a:r>
          </a:p>
          <a:p>
            <a:r>
              <a:rPr lang="pt-BR" sz="2200"/>
              <a:t>6. Read student-mat.csv with pandas using sep=';'.</a:t>
            </a:r>
          </a:p>
          <a:p>
            <a:r>
              <a:rPr lang="pt-BR" sz="2200"/>
              <a:t>7. Implement map_external_record().</a:t>
            </a:r>
          </a:p>
          <a:p>
            <a:r>
              <a:rPr lang="pt-BR" sz="2200"/>
              <a:t>8. Implement ingest_data() and validate inserted counts.</a:t>
            </a:r>
          </a:p>
        </p:txBody>
      </p:sp>
    </p:spTree>
    <p:extLst>
      <p:ext uri="{BB962C8B-B14F-4D97-AF65-F5344CB8AC3E}">
        <p14:creationId xmlns:p14="http://schemas.microsoft.com/office/powerpoint/2010/main" val="764251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D13EC28A-974F-5068-E997-93DAA35BE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F59CCDE-5FF8-C4D2-72BE-13D093DA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C38A799A-CE40-CEAC-89BF-0989AD5DB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1D101D-D4FD-C98C-9D3D-D32BB2FA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What This Class Delivers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347355-69FF-8360-AD02-69D1A2A9A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/>
              <a:t>• A structured notebook aligned with the methodology of earlier database classes.</a:t>
            </a:r>
          </a:p>
          <a:p>
            <a:r>
              <a:rPr lang="en-US" sz="2100"/>
              <a:t>• A reusable PyMongo connection and CRUD pattern.</a:t>
            </a:r>
          </a:p>
          <a:p>
            <a:r>
              <a:rPr lang="en-US" sz="2100"/>
              <a:t>• A new MongoDB collection populated with external raw educational records.</a:t>
            </a:r>
          </a:p>
          <a:p>
            <a:r>
              <a:rPr lang="en-US" sz="2100"/>
              <a:t>• A prepared database foundation for the next EDA-focused lesson.</a:t>
            </a:r>
            <a:endParaRPr lang="pt-BR" sz="2100"/>
          </a:p>
        </p:txBody>
      </p:sp>
    </p:spTree>
    <p:extLst>
      <p:ext uri="{BB962C8B-B14F-4D97-AF65-F5344CB8AC3E}">
        <p14:creationId xmlns:p14="http://schemas.microsoft.com/office/powerpoint/2010/main" val="2695715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4">
            <a:extLst>
              <a:ext uri="{FF2B5EF4-FFF2-40B4-BE49-F238E27FC236}">
                <a16:creationId xmlns:a16="http://schemas.microsoft.com/office/drawing/2014/main" id="{4220DA3C-9B93-C3B2-EFCB-DEBE9420B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C5806C7-0FF1-DE6A-0934-6ADC16347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5892DD2-2805-41DC-ADA2-C226B9D81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7BFE29-DAEA-F0C1-C232-A181D020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649412-2C91-8025-E240-0748FAEA9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100" dirty="0"/>
              <a:t>• Commit only the notebook to your </a:t>
            </a:r>
            <a:r>
              <a:rPr lang="en-US" sz="2100" dirty="0" err="1"/>
              <a:t>Github</a:t>
            </a:r>
            <a:r>
              <a:rPr lang="en-US" sz="2100" dirty="0"/>
              <a:t> repository.</a:t>
            </a:r>
          </a:p>
          <a:p>
            <a:r>
              <a:rPr lang="en-US" sz="2100" dirty="0"/>
              <a:t>• Keep the raw files in raw and the presentation in </a:t>
            </a:r>
            <a:r>
              <a:rPr lang="en-US" sz="2100" dirty="0" err="1"/>
              <a:t>rsc</a:t>
            </a:r>
            <a:r>
              <a:rPr lang="en-US" sz="2100" dirty="0"/>
              <a:t>.</a:t>
            </a:r>
          </a:p>
          <a:p>
            <a:r>
              <a:rPr lang="en-US" sz="2100" dirty="0"/>
              <a:t>• The practical work should be reproducible with the MongoDB container already introduced before.</a:t>
            </a: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983239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1834</Words>
  <Application>Microsoft Office PowerPoint</Application>
  <PresentationFormat>Apresentação na tela (4:3)</PresentationFormat>
  <Paragraphs>99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Fundamentals in Data Engineering</vt:lpstr>
      <vt:lpstr>Python + MongoDB</vt:lpstr>
      <vt:lpstr>From Previous Class to Today</vt:lpstr>
      <vt:lpstr>What Are We Using?</vt:lpstr>
      <vt:lpstr>Learning Goals</vt:lpstr>
      <vt:lpstr>Methodology for This Notebook</vt:lpstr>
      <vt:lpstr>Practice Files</vt:lpstr>
      <vt:lpstr>Practice - Notebook Setup</vt:lpstr>
      <vt:lpstr>Practice - Connection Class</vt:lpstr>
      <vt:lpstr>Practice - CRUD Executor Class</vt:lpstr>
      <vt:lpstr>Why This Structure Matters</vt:lpstr>
      <vt:lpstr>Practice - Connect and Instantiate</vt:lpstr>
      <vt:lpstr>Practice - Basic CRUD Checks</vt:lpstr>
      <vt:lpstr>Practice - Update and Delete</vt:lpstr>
      <vt:lpstr>External Raw Data</vt:lpstr>
      <vt:lpstr>New Collection for This Class</vt:lpstr>
      <vt:lpstr>Practice - Raw Files and Paths</vt:lpstr>
      <vt:lpstr>Practice - Mapping Function</vt:lpstr>
      <vt:lpstr>Practice - ingest_data()</vt:lpstr>
      <vt:lpstr>Validation Only</vt:lpstr>
      <vt:lpstr>Practice - Small Validation Checks</vt:lpstr>
      <vt:lpstr>Questions</vt:lpstr>
      <vt:lpstr>Questions</vt:lpstr>
      <vt:lpstr>What This Class Delivers</vt:lpstr>
      <vt:lpstr>Github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TG</dc:creator>
  <cp:keywords/>
  <dc:description>generated using python-pptx</dc:description>
  <cp:lastModifiedBy>Thiago Paiva</cp:lastModifiedBy>
  <cp:revision>104</cp:revision>
  <dcterms:created xsi:type="dcterms:W3CDTF">2013-01-27T09:14:16Z</dcterms:created>
  <dcterms:modified xsi:type="dcterms:W3CDTF">2026-04-28T02:09:20Z</dcterms:modified>
  <cp:category/>
</cp:coreProperties>
</file>