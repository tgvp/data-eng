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56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1A694-0DE1-4903-855C-E603DA625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9CB2D1-5F2E-F00E-162C-B23D5259E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360120-D031-5793-E487-BE8F95AB0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4EA3EC-6935-7CB9-54AE-A815A91C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24BA51-8D9F-B8CE-61DD-04E2CE41F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83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gvp" TargetMode="External"/><Relationship Id="rId2" Type="http://schemas.openxmlformats.org/officeDocument/2006/relationships/hyperlink" Target="mailto:p7392@ulusofona.p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5314EC-3866-C16D-AABF-509E855EA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pt-PT" sz="4200">
                <a:solidFill>
                  <a:srgbClr val="FFFFFF"/>
                </a:solidFill>
              </a:rPr>
              <a:t>Fundamentals in Data Engineering</a:t>
            </a:r>
            <a:endParaRPr lang="pt-BR" sz="42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368529-A030-BD38-C8C9-50A22C8AE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PT" sz="2700" b="1"/>
              <a:t>Thiago de Paiva</a:t>
            </a:r>
          </a:p>
          <a:p>
            <a:pPr algn="l">
              <a:lnSpc>
                <a:spcPct val="90000"/>
              </a:lnSpc>
            </a:pPr>
            <a:r>
              <a:rPr lang="pt-PT" sz="2700" b="1">
                <a:hlinkClick r:id="rId2"/>
              </a:rPr>
              <a:t>p7392@ulusofona.pt</a:t>
            </a:r>
            <a:endParaRPr lang="pt-PT" sz="2700" b="1"/>
          </a:p>
          <a:p>
            <a:pPr algn="l">
              <a:lnSpc>
                <a:spcPct val="90000"/>
              </a:lnSpc>
            </a:pPr>
            <a:r>
              <a:rPr lang="pt-PT" sz="2700" b="1">
                <a:hlinkClick r:id="rId3"/>
              </a:rPr>
              <a:t>https://github.com/tgvp</a:t>
            </a:r>
            <a:endParaRPr lang="pt-BR" sz="2700" b="1"/>
          </a:p>
        </p:txBody>
      </p:sp>
    </p:spTree>
    <p:extLst>
      <p:ext uri="{BB962C8B-B14F-4D97-AF65-F5344CB8AC3E}">
        <p14:creationId xmlns:p14="http://schemas.microsoft.com/office/powerpoint/2010/main" val="278631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r>
              <a:rPr lang="pt-PT" sz="3500">
                <a:solidFill>
                  <a:srgbClr val="FFFFFF"/>
                </a:solidFill>
              </a:rPr>
              <a:t>Data Wrangling</a:t>
            </a:r>
            <a:endParaRPr lang="pt-PT" sz="3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5954" y="0"/>
            <a:ext cx="4967472" cy="684785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Cleaning dirty student data before ingestion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0D8440D4-AC4D-5224-1498-ECD08A6FA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CE6A70D-AF85-4B7C-C2B9-C01C7C77C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75F78321-D2EF-67CC-6B78-00EB61505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F1FAFE-9CCB-C72F-2730-9247EECBE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From Last Class to Today</a:t>
            </a:r>
            <a:endParaRPr lang="pt-BR">
              <a:solidFill>
                <a:srgbClr val="FFFFFF"/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A2A82F-F2D7-1291-64B7-53C8EF6B2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• Last class focused on loading external student records into MongoDB with </a:t>
            </a:r>
            <a:r>
              <a:rPr lang="en-US" sz="2100" dirty="0" err="1"/>
              <a:t>PyMongo</a:t>
            </a:r>
            <a:r>
              <a:rPr lang="en-US" sz="2100" dirty="0"/>
              <a:t>.</a:t>
            </a:r>
          </a:p>
          <a:p>
            <a:r>
              <a:rPr lang="en-US" sz="2100" dirty="0"/>
              <a:t>• Today we move one step earlier in the pipeline: cleaning dirty data before loading it.</a:t>
            </a:r>
          </a:p>
          <a:p>
            <a:r>
              <a:rPr lang="en-US" sz="2100" dirty="0"/>
              <a:t>• The goal is to understand why wrangling should happen before database insertion.</a:t>
            </a:r>
          </a:p>
          <a:p>
            <a:r>
              <a:rPr lang="en-US" sz="2100" dirty="0"/>
              <a:t>• We will work with intentionally messy versions of the UCI Student Performance dataset.</a:t>
            </a:r>
            <a:endParaRPr lang="pt-BR" sz="2100" dirty="0"/>
          </a:p>
        </p:txBody>
      </p:sp>
    </p:spTree>
    <p:extLst>
      <p:ext uri="{BB962C8B-B14F-4D97-AF65-F5344CB8AC3E}">
        <p14:creationId xmlns:p14="http://schemas.microsoft.com/office/powerpoint/2010/main" val="3542216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AB5AF526-B2D0-21F3-2934-68A564612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0F2C5A4-85EE-1556-6555-52C3F33D0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17AAE6B4-B46F-BCBC-4D6F-A6A5DF31C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4BCE9A-DDBC-FB7F-997A-69114B219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Files for This Class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2F0F8D-04CC-B3C4-A117-FFFA664E9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1600200"/>
            <a:ext cx="9143999" cy="4525963"/>
          </a:xfrm>
        </p:spPr>
        <p:txBody>
          <a:bodyPr>
            <a:normAutofit/>
          </a:bodyPr>
          <a:lstStyle/>
          <a:p>
            <a:r>
              <a:rPr lang="pt-BR" sz="2100" dirty="0"/>
              <a:t>• Dirty files in </a:t>
            </a:r>
            <a:r>
              <a:rPr lang="pt-BR" sz="2100" dirty="0" err="1"/>
              <a:t>the</a:t>
            </a:r>
            <a:r>
              <a:rPr lang="pt-BR" sz="2100" dirty="0"/>
              <a:t> </a:t>
            </a:r>
            <a:r>
              <a:rPr lang="pt-BR" sz="2100" dirty="0" err="1"/>
              <a:t>repository</a:t>
            </a:r>
            <a:r>
              <a:rPr lang="pt-BR" sz="2100" dirty="0"/>
              <a:t>: </a:t>
            </a:r>
            <a:r>
              <a:rPr lang="pt-BR" sz="2100" dirty="0" err="1"/>
              <a:t>raw</a:t>
            </a:r>
            <a:r>
              <a:rPr lang="pt-BR" sz="2100" dirty="0"/>
              <a:t>/</a:t>
            </a:r>
            <a:r>
              <a:rPr lang="pt-BR" sz="2100" dirty="0" err="1"/>
              <a:t>uci</a:t>
            </a:r>
            <a:r>
              <a:rPr lang="pt-BR" sz="2100" dirty="0"/>
              <a:t>-</a:t>
            </a:r>
            <a:r>
              <a:rPr lang="pt-BR" sz="2100" dirty="0" err="1"/>
              <a:t>student</a:t>
            </a:r>
            <a:r>
              <a:rPr lang="pt-BR" sz="2100" dirty="0"/>
              <a:t>-performance/</a:t>
            </a:r>
            <a:r>
              <a:rPr lang="pt-BR" sz="2100" dirty="0" err="1"/>
              <a:t>dirty</a:t>
            </a:r>
            <a:r>
              <a:rPr lang="pt-BR" sz="2100" dirty="0"/>
              <a:t>/student-mat-dirty.csv </a:t>
            </a:r>
            <a:r>
              <a:rPr lang="pt-BR" sz="2100" dirty="0" err="1"/>
              <a:t>and</a:t>
            </a:r>
            <a:r>
              <a:rPr lang="pt-BR" sz="2100" dirty="0"/>
              <a:t> student-por-dirty.csv.</a:t>
            </a:r>
          </a:p>
          <a:p>
            <a:r>
              <a:rPr lang="pt-BR" sz="2100" dirty="0"/>
              <a:t>• </a:t>
            </a:r>
            <a:r>
              <a:rPr lang="pt-BR" sz="2100" dirty="0" err="1"/>
              <a:t>Student</a:t>
            </a:r>
            <a:r>
              <a:rPr lang="pt-BR" sz="2100" dirty="0"/>
              <a:t> notebook: </a:t>
            </a:r>
            <a:r>
              <a:rPr lang="pt-BR" sz="2100" dirty="0" err="1"/>
              <a:t>prj</a:t>
            </a:r>
            <a:r>
              <a:rPr lang="pt-BR" sz="2100" dirty="0"/>
              <a:t>/notebooks/6-data-wrangling-student.ipynb.</a:t>
            </a:r>
          </a:p>
          <a:p>
            <a:r>
              <a:rPr lang="pt-BR" sz="2100" dirty="0"/>
              <a:t>• The notebook </a:t>
            </a:r>
            <a:r>
              <a:rPr lang="pt-BR" sz="2100" dirty="0" err="1"/>
              <a:t>is</a:t>
            </a:r>
            <a:r>
              <a:rPr lang="pt-BR" sz="2100" dirty="0"/>
              <a:t> </a:t>
            </a:r>
            <a:r>
              <a:rPr lang="pt-BR" sz="2100" dirty="0" err="1"/>
              <a:t>the</a:t>
            </a:r>
            <a:r>
              <a:rPr lang="pt-BR" sz="2100" dirty="0"/>
              <a:t> </a:t>
            </a:r>
            <a:r>
              <a:rPr lang="pt-BR" sz="2100" dirty="0" err="1"/>
              <a:t>practical</a:t>
            </a:r>
            <a:r>
              <a:rPr lang="pt-BR" sz="2100" dirty="0"/>
              <a:t> </a:t>
            </a:r>
            <a:r>
              <a:rPr lang="pt-BR" sz="2100" dirty="0" err="1"/>
              <a:t>guide</a:t>
            </a:r>
            <a:r>
              <a:rPr lang="pt-BR" sz="2100" dirty="0"/>
              <a:t> for </a:t>
            </a:r>
            <a:r>
              <a:rPr lang="pt-BR" sz="2100" dirty="0" err="1"/>
              <a:t>loading</a:t>
            </a:r>
            <a:r>
              <a:rPr lang="pt-BR" sz="2100" dirty="0"/>
              <a:t>, </a:t>
            </a:r>
            <a:r>
              <a:rPr lang="pt-BR" sz="2100" dirty="0" err="1"/>
              <a:t>inspecting</a:t>
            </a:r>
            <a:r>
              <a:rPr lang="pt-BR" sz="2100" dirty="0"/>
              <a:t>, </a:t>
            </a:r>
            <a:r>
              <a:rPr lang="pt-BR" sz="2100" dirty="0" err="1"/>
              <a:t>cleaning</a:t>
            </a:r>
            <a:r>
              <a:rPr lang="pt-BR" sz="2100" dirty="0"/>
              <a:t>, </a:t>
            </a:r>
            <a:r>
              <a:rPr lang="pt-BR" sz="2100" dirty="0" err="1"/>
              <a:t>and</a:t>
            </a:r>
            <a:r>
              <a:rPr lang="pt-BR" sz="2100" dirty="0"/>
              <a:t> </a:t>
            </a:r>
            <a:r>
              <a:rPr lang="pt-BR" sz="2100" dirty="0" err="1"/>
              <a:t>exporting</a:t>
            </a:r>
            <a:r>
              <a:rPr lang="pt-BR" sz="2100" dirty="0"/>
              <a:t> </a:t>
            </a:r>
            <a:r>
              <a:rPr lang="pt-BR" sz="2100" dirty="0" err="1"/>
              <a:t>the</a:t>
            </a:r>
            <a:r>
              <a:rPr lang="pt-BR" sz="2100" dirty="0"/>
              <a:t> </a:t>
            </a:r>
            <a:r>
              <a:rPr lang="pt-BR" sz="2100" dirty="0" err="1"/>
              <a:t>dataset</a:t>
            </a:r>
            <a:r>
              <a:rPr lang="pt-BR" sz="2100" dirty="0"/>
              <a:t>.</a:t>
            </a:r>
          </a:p>
          <a:p>
            <a:r>
              <a:rPr lang="pt-BR" sz="2100" dirty="0"/>
              <a:t>• At </a:t>
            </a:r>
            <a:r>
              <a:rPr lang="pt-BR" sz="2100" dirty="0" err="1"/>
              <a:t>the</a:t>
            </a:r>
            <a:r>
              <a:rPr lang="pt-BR" sz="2100" dirty="0"/>
              <a:t> </a:t>
            </a:r>
            <a:r>
              <a:rPr lang="pt-BR" sz="2100" dirty="0" err="1"/>
              <a:t>end</a:t>
            </a:r>
            <a:r>
              <a:rPr lang="pt-BR" sz="2100" dirty="0"/>
              <a:t>, </a:t>
            </a:r>
            <a:r>
              <a:rPr lang="pt-BR" sz="2100" dirty="0" err="1"/>
              <a:t>the</a:t>
            </a:r>
            <a:r>
              <a:rPr lang="pt-BR" sz="2100" dirty="0"/>
              <a:t> </a:t>
            </a:r>
            <a:r>
              <a:rPr lang="pt-BR" sz="2100" dirty="0" err="1"/>
              <a:t>cleaned</a:t>
            </a:r>
            <a:r>
              <a:rPr lang="pt-BR" sz="2100" dirty="0"/>
              <a:t> </a:t>
            </a:r>
            <a:r>
              <a:rPr lang="pt-BR" sz="2100" dirty="0" err="1"/>
              <a:t>dataset</a:t>
            </a:r>
            <a:r>
              <a:rPr lang="pt-BR" sz="2100" dirty="0"/>
              <a:t> </a:t>
            </a:r>
            <a:r>
              <a:rPr lang="pt-BR" sz="2100" dirty="0" err="1"/>
              <a:t>will</a:t>
            </a:r>
            <a:r>
              <a:rPr lang="pt-BR" sz="2100" dirty="0"/>
              <a:t> </a:t>
            </a:r>
            <a:r>
              <a:rPr lang="pt-BR" sz="2100" dirty="0" err="1"/>
              <a:t>be</a:t>
            </a:r>
            <a:r>
              <a:rPr lang="pt-BR" sz="2100" dirty="0"/>
              <a:t> </a:t>
            </a:r>
            <a:r>
              <a:rPr lang="pt-BR" sz="2100" dirty="0" err="1"/>
              <a:t>ready</a:t>
            </a:r>
            <a:r>
              <a:rPr lang="pt-BR" sz="2100" dirty="0"/>
              <a:t> for later data </a:t>
            </a:r>
            <a:r>
              <a:rPr lang="pt-BR" sz="2100" dirty="0" err="1"/>
              <a:t>ingestion</a:t>
            </a:r>
            <a:r>
              <a:rPr lang="pt-BR" sz="2100" dirty="0"/>
              <a:t> pipelines.</a:t>
            </a:r>
          </a:p>
        </p:txBody>
      </p:sp>
    </p:spTree>
    <p:extLst>
      <p:ext uri="{BB962C8B-B14F-4D97-AF65-F5344CB8AC3E}">
        <p14:creationId xmlns:p14="http://schemas.microsoft.com/office/powerpoint/2010/main" val="1944542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F1B36C55-C62A-36EB-5568-57376DE31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3A52E65-7387-3B91-ED61-521EFBF44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3D35B0D6-F732-B069-5041-CB581AFBD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C8593B-4EA6-031F-F213-EBBECEA72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What Students Should 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C05BCF-A166-4307-F81B-3DAA26ED4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• Load the dirty files</a:t>
            </a:r>
          </a:p>
          <a:p>
            <a:r>
              <a:rPr lang="en-US" sz="2100" dirty="0"/>
              <a:t>• Remove accidental index columns and standardize column names.</a:t>
            </a:r>
          </a:p>
          <a:p>
            <a:r>
              <a:rPr lang="en-US" sz="2100" dirty="0"/>
              <a:t>• Detect missing markers, inconsistent categories, and polluted numeric values.</a:t>
            </a:r>
          </a:p>
          <a:p>
            <a:r>
              <a:rPr lang="en-US" sz="2100" dirty="0"/>
              <a:t>• Fix types, impute missing values, remove duplicates, and check outliers.</a:t>
            </a:r>
          </a:p>
          <a:p>
            <a:r>
              <a:rPr lang="en-US" sz="2100" dirty="0"/>
              <a:t>• Export one cleaned dataset ready for the next data engineering step.</a:t>
            </a:r>
            <a:endParaRPr lang="pt-BR" sz="2100" dirty="0"/>
          </a:p>
        </p:txBody>
      </p:sp>
    </p:spTree>
    <p:extLst>
      <p:ext uri="{BB962C8B-B14F-4D97-AF65-F5344CB8AC3E}">
        <p14:creationId xmlns:p14="http://schemas.microsoft.com/office/powerpoint/2010/main" val="584623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5BC0BE55-6C77-2BB4-3109-560EDDA0E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12C05F7-4277-E21C-B1DA-D5D5B2D35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0C7F4004-313D-E81A-C1B8-3DA314DC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FB2389-893A-7A51-8E8A-D23D0063C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Why Wrangling Comes First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C69079-52F8-227E-E73C-622640289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/>
              <a:t>• Loading dirty data directly into a database only moves problems downstream.</a:t>
            </a:r>
          </a:p>
          <a:p>
            <a:r>
              <a:rPr lang="en-US" sz="2100"/>
              <a:t>• Wrong types, duplicate rows, and inconsistent categories make querying and analysis harder.</a:t>
            </a:r>
          </a:p>
          <a:p>
            <a:r>
              <a:rPr lang="en-US" sz="2100"/>
              <a:t>• Preprocessing improves quality, consistency, and trust in later MongoDB collections.</a:t>
            </a:r>
          </a:p>
          <a:p>
            <a:r>
              <a:rPr lang="en-US" sz="2100"/>
              <a:t>• It also makes future EDA and pipeline validation more reliable.</a:t>
            </a:r>
            <a:endParaRPr lang="pt-BR" sz="2100"/>
          </a:p>
        </p:txBody>
      </p:sp>
    </p:spTree>
    <p:extLst>
      <p:ext uri="{BB962C8B-B14F-4D97-AF65-F5344CB8AC3E}">
        <p14:creationId xmlns:p14="http://schemas.microsoft.com/office/powerpoint/2010/main" val="2800197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16D11F71-44A5-8F7C-FBD4-871F2A24F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3C06297-C889-FE28-D401-FDDBB3D15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7B77D532-E6DE-826E-FF47-E9BD7E45C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7AF1CA-104D-6F95-0F8E-1E0CAA7B0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Where Dirty Data Comes From</a:t>
            </a:r>
            <a:endParaRPr lang="pt-BR">
              <a:solidFill>
                <a:srgbClr val="FFFFFF"/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F1A43F-4903-B59C-FC26-7D8F56297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/>
              <a:t>• In this class, dirty data is provided directly in the repository for practical work.</a:t>
            </a:r>
          </a:p>
          <a:p>
            <a:r>
              <a:rPr lang="en-US" sz="2100"/>
              <a:t>• In real projects, dirty data often comes from file drops, exports, spreadsheets, legacy systems, and manual entry.</a:t>
            </a:r>
          </a:p>
          <a:p>
            <a:r>
              <a:rPr lang="en-US" sz="2100"/>
              <a:t>• It can also come from APIs, web crawling, sensors, logs, and third-party datasets.</a:t>
            </a:r>
          </a:p>
          <a:p>
            <a:r>
              <a:rPr lang="en-US" sz="2100"/>
              <a:t>• This is why wrangling is a normal part of real data engineering workflows.</a:t>
            </a:r>
            <a:endParaRPr lang="pt-BR" sz="2100"/>
          </a:p>
        </p:txBody>
      </p:sp>
    </p:spTree>
    <p:extLst>
      <p:ext uri="{BB962C8B-B14F-4D97-AF65-F5344CB8AC3E}">
        <p14:creationId xmlns:p14="http://schemas.microsoft.com/office/powerpoint/2010/main" val="1460658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9B2B83A1-D7F9-094B-E5D0-1E0E3D6A4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D77178C-2D13-E111-D158-865F1B353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A4027629-A8F3-54B3-CF4A-A1F0010B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374085-9875-30C3-4D74-AAD5950C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What Is Crawling?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DE8C2B-D3BC-0330-3B38-71F86BDAB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/>
              <a:t>• Web crawling is the automated collection of information from websites.</a:t>
            </a:r>
          </a:p>
          <a:p>
            <a:r>
              <a:rPr lang="en-US" sz="2100"/>
              <a:t>• A crawler visits pages, extracts relevant content, and stores the result for later processing.</a:t>
            </a:r>
          </a:p>
          <a:p>
            <a:r>
              <a:rPr lang="en-US" sz="2100"/>
              <a:t>• Examples: scraping product catalogs, news portals, job listings, or public statistics pages.</a:t>
            </a:r>
          </a:p>
          <a:p>
            <a:r>
              <a:rPr lang="en-US" sz="2100"/>
              <a:t>• Crawled data is often incomplete, inconsistent, duplicated, or badly formatted.</a:t>
            </a:r>
            <a:endParaRPr lang="pt-BR" sz="2100"/>
          </a:p>
        </p:txBody>
      </p:sp>
    </p:spTree>
    <p:extLst>
      <p:ext uri="{BB962C8B-B14F-4D97-AF65-F5344CB8AC3E}">
        <p14:creationId xmlns:p14="http://schemas.microsoft.com/office/powerpoint/2010/main" val="580995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0CC390AF-CA12-7AE9-A7A3-AD8CCF876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C0049C3-200A-FDBE-991C-E81991C62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6554EE2F-853F-6EAC-3891-EA207C538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C5158D-A1A3-9805-1A66-22816BF9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Other External Sources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9FAC5E-41C5-DB78-689C-D806505A3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/>
              <a:t>• APIs may return JSON with missing fields, nested structures, rate limits, or schema changes.</a:t>
            </a:r>
          </a:p>
          <a:p>
            <a:r>
              <a:rPr lang="en-US" sz="2100"/>
              <a:t>• CSV and Excel exports may contain mixed types, hidden formatting, and accidental index columns.</a:t>
            </a:r>
          </a:p>
          <a:p>
            <a:r>
              <a:rPr lang="en-US" sz="2100"/>
              <a:t>• Open datasets may use coded values, weak documentation, and inconsistent missing-value markers.</a:t>
            </a:r>
          </a:p>
          <a:p>
            <a:r>
              <a:rPr lang="en-US" sz="2100"/>
              <a:t>• Different sources require different wrangling strategies before loading into storage systems.</a:t>
            </a:r>
            <a:endParaRPr lang="pt-BR" sz="2100"/>
          </a:p>
        </p:txBody>
      </p:sp>
    </p:spTree>
    <p:extLst>
      <p:ext uri="{BB962C8B-B14F-4D97-AF65-F5344CB8AC3E}">
        <p14:creationId xmlns:p14="http://schemas.microsoft.com/office/powerpoint/2010/main" val="767773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35D0B55C-7C14-B6D8-C5E9-FB9028454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42D047C-C345-84C1-D247-B4E03867A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0F108451-D2F2-AFFB-7C94-47E744852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EBB7FB-0804-7382-C736-D29540030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solidFill>
                  <a:srgbClr val="FFFFFF"/>
                </a:solidFill>
              </a:rPr>
              <a:t>What’s</a:t>
            </a:r>
            <a:r>
              <a:rPr lang="pt-BR" dirty="0">
                <a:solidFill>
                  <a:srgbClr val="FFFFFF"/>
                </a:solidFill>
              </a:rPr>
              <a:t> </a:t>
            </a:r>
            <a:r>
              <a:rPr lang="pt-BR" dirty="0" err="1">
                <a:solidFill>
                  <a:srgbClr val="FFFFFF"/>
                </a:solidFill>
              </a:rPr>
              <a:t>next</a:t>
            </a:r>
            <a:r>
              <a:rPr lang="pt-BR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BE005E-BCAA-911C-65A5-36131DE40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1. Locate the dirty files in raw.</a:t>
            </a:r>
          </a:p>
          <a:p>
            <a:r>
              <a:rPr lang="en-US" sz="2200" dirty="0"/>
              <a:t>2. Open the student notebook in </a:t>
            </a:r>
            <a:r>
              <a:rPr lang="en-US" sz="2200" dirty="0" err="1"/>
              <a:t>prj</a:t>
            </a:r>
            <a:r>
              <a:rPr lang="en-US" sz="2200" dirty="0"/>
              <a:t>/notebooks.</a:t>
            </a:r>
          </a:p>
          <a:p>
            <a:r>
              <a:rPr lang="en-US" sz="2200" dirty="0"/>
              <a:t>3. Clean the data step by step.</a:t>
            </a:r>
          </a:p>
          <a:p>
            <a:r>
              <a:rPr lang="en-US" sz="2200" dirty="0"/>
              <a:t>4. Export the cleaned dataset for later data ingestion pipelines.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599312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546</Words>
  <Application>Microsoft Office PowerPoint</Application>
  <PresentationFormat>Apresentação na tela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Fundamentals in Data Engineering</vt:lpstr>
      <vt:lpstr>Data Wrangling</vt:lpstr>
      <vt:lpstr>From Last Class to Today</vt:lpstr>
      <vt:lpstr>Files for This Class</vt:lpstr>
      <vt:lpstr>What Students Should Do</vt:lpstr>
      <vt:lpstr>Why Wrangling Comes First</vt:lpstr>
      <vt:lpstr>Where Dirty Data Comes From</vt:lpstr>
      <vt:lpstr>What Is Crawling?</vt:lpstr>
      <vt:lpstr>Other External Sources</vt:lpstr>
      <vt:lpstr>What’s next?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TG</dc:creator>
  <cp:keywords/>
  <dc:description>generated using python-pptx</dc:description>
  <cp:lastModifiedBy>Thiago Paiva</cp:lastModifiedBy>
  <cp:revision>102</cp:revision>
  <dcterms:created xsi:type="dcterms:W3CDTF">2013-01-27T09:14:16Z</dcterms:created>
  <dcterms:modified xsi:type="dcterms:W3CDTF">2026-05-05T04:20:02Z</dcterms:modified>
  <cp:category/>
</cp:coreProperties>
</file>